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Lst>
  <p:sldSz cx="14630400" cy="82296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 present the final local ontology, version 3.0.0. It contains 30 films, 37 named classes and 1,727 identity links. We distinguish the verified ontology from the web application, which now uses the same canonical vocabulary. Our examples use real Inception and Christopher Nolan records.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five core requirements share ontology version 3.0.0. The source graph, inferred graph and named before/after dataset are available in the browser and local endpoint. The report, slides and query results describe the same model. MP4 files were removed at the user’s request; no video was regenerated.</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source collector feeds a native version-3 build. HermiT classifies the canonical OWL, and OWL RL materializes inverse, subproperty and chain relations. Validation executes all 27 competency questions. Source facts, inferred knowledge and named-graph comparisons are shared by the browser, endpoint and terminal.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selected sample has 30 films, 851 people, 1,010 credit records, 45 companies and 672 award entities. The final OWL contains 19,025 triples including schema and asserted data, not a complete reasoning closure. There are 75 genres, 11 countries, 15 languages and 76 source responses. Counts refer to local resource identifiers; the four role individuals use the ontology namespace.</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module has 37 named classes: 17 DBpedia classes, one VoID Dataset and 19 local classes. The local classes comprise source records, the contribution model, two label-based genre buckets and ten domain inferred classes. Four additional inferred credit subclasses support the reasoning chains. No local clone of Actor, Genre, Award or Company remains.</a:t>
            </a:r>
          </a:p>
          <a:p/>
          <a:p>
            <a:r>
              <a:t>ẢNH PROTÉGÉ CẦN BỔ SUNG</a:t>
            </a:r>
          </a:p>
          <a:p>
            <a:r>
              <a:t>Mở ontology/Movie_Knowledge_Graph.owl.</a:t>
            </a:r>
          </a:p>
          <a:p>
            <a:r>
              <a:t>Chọn Active Ontology / Ontology Header.</a:t>
            </a:r>
          </a:p>
          <a:p>
            <a:r>
              <a:t>Giữ IRI và versionInfo 3.0.0 trong ảnh.</a:t>
            </a:r>
          </a:p>
          <a:p>
            <a:r>
              <a:t>37 lớp có tên; không đếm biểu thức anonymous như lớp có tên.</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Each Contribution relates one person, one film and one role, with functional endpoints and qualified exactly-one restrictions. Nolan has directing, writing and producing credits for Inception. Role-specific credit subclasses are inferred using hasRole value restrictions. Missing fields still require structural validation under open-world semantics.</a:t>
            </a:r>
          </a:p>
          <a:p/>
          <a:p>
            <a:r>
              <a:t>ẢNH PROTÉGÉ CẦN BỔ SUNG</a:t>
            </a:r>
          </a:p>
          <a:p>
            <a:r>
              <a:t>Chọn ex:Contribution.</a:t>
            </a:r>
          </a:p>
          <a:p>
            <a:r>
              <a:t>Hiện exactly 1 cho contributionBy, contributionTo, hasRole.</a:t>
            </a:r>
          </a:p>
          <a:p>
            <a:r>
              <a:t>Chọn hasRole để thấy Functional và role individual.</a:t>
            </a:r>
          </a:p>
          <a:p>
            <a:r>
              <a:t>Ba endpoint đúng 1; dữ liệu thiếu cần structural validation riêng.</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Direct film relations reuse DBpedia. The inverse of contributionBy supports hasContribution. contributedTo is entailed through the hasContribution/contributionTo property chain. Directed and actedIn are narrower subproperties. The chain property is non-simple, so the cardinality model uses the simple hasContribution relation.</a:t>
            </a:r>
          </a:p>
          <a:p/>
          <a:p>
            <a:r>
              <a:t>ẢNH PROTÉGÉ CẦN BỔ SUNG</a:t>
            </a:r>
          </a:p>
          <a:p>
            <a:r>
              <a:t>Chọn contributionBy: Contribution → dbo:Person.</a:t>
            </a:r>
          </a:p>
          <a:p>
            <a:r>
              <a:t>Hiện Functional và inverse hasContribution.</a:t>
            </a:r>
          </a:p>
          <a:p>
            <a:r>
              <a:t>Có thể chụp contributedTo với property chain.</a:t>
            </a:r>
          </a:p>
          <a:p>
            <a:r>
              <a:t>Chain hasContribution rồi contributionTo; không đặt cardinality trên contributedTo.</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Ten domain subsets have genuine HermiT members, including seven additional subsets beyond Filmmaker, ActionFilm and AwardWinningFilm. The four credit subclasses are supporting definitions. Actor uses DBpedia range reasoning. Counts are local identifiers only. No COUNT DISTINCT aggregate is used to produce these domain class memberships.</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directing record with DirectorRole becomes DirectingContribution. The inverse property supplies hasContribution for Nolan. The existential and union definition yields Filmmaker. Writing credits additionally support ScreenWriter; directing credits support MovieDirector, and their intersection yields WriterDirector. These types are not manually asserted.</a:t>
            </a:r>
          </a:p>
          <a:p/>
          <a:p>
            <a:r>
              <a:t>ẢNH PROTÉGÉ CẦN BỔ SUNG</a:t>
            </a:r>
          </a:p>
          <a:p>
            <a:r>
              <a:t>Chọn ex:Filmmaker.</a:t>
            </a:r>
          </a:p>
          <a:p>
            <a:r>
              <a:t>Hiện Equivalent To với Person AND các nhánh SOME.</a:t>
            </a:r>
          </a:p>
          <a:p>
            <a:r>
              <a:t>Đọc các nhánh Directing / Writing / ProducingContribution.</a:t>
            </a:r>
          </a:p>
          <a:p>
            <a:r>
              <a:t>Công thức không tự chứng minh reasoner đã chạy.</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Nolan has directing, writing and producing credits with different controlled role values. Because hasRole is functional and the roles are AllDifferent, these records cannot be the same individual. HermiT entails at least three distinct Contributions. Seven people satisfy min three and seventeen min two. Genre cardinality still lacks inequality witnesses; MultiGenreFilm is not retained as a populated inferred class.</a:t>
            </a:r>
          </a:p>
          <a:p/>
          <a:p>
            <a:r>
              <a:t>ẢNH PROTÉGÉ CẦN BỔ SUNG</a:t>
            </a:r>
          </a:p>
          <a:p>
            <a:r>
              <a:t>Chọn ex:ThreeCreditContributor; hiện min 3 hasContribution Contribution.</a:t>
            </a:r>
          </a:p>
          <a:p>
            <a:r>
              <a:t>Chạy HermiT; chọn Nolan ở inferred view.</a:t>
            </a:r>
          </a:p>
          <a:p>
            <a:r>
              <a:t>Chụp thêm Functional hasRole và AllDifferent của bốn role.</a:t>
            </a:r>
          </a:p>
          <a:p>
            <a:r>
              <a:t>7 người đạt min 3; 17 người đạt min 2; không phải COUNT DISTINCT.</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website distributes the version-3 RDF, schema, full OWL and inference exports. HTTP identifiers and CC BY-SA support reuse. Identity alignment retains 1699 Wikidata and 28 DBpedia links. Reusing dbo:Film, identity sameAs and source provenance are three distinct semantic operations.</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HermiT checked the canonical RDF/XML OWL: consistent, no unsatisfiable named classes. All 27 competency questions execute against explicit graph scopes; 965 chain pairs are materialized separately. Sixteen tests verify the model and endpoint. Browser checks exercise SELECT, ASK, CONSTRUCT, DESCRIBE and recovery from malformed queries.</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remaining slots request genuine Protégé screenshots of the final ontology. The Vietnamese speaker script matches the English deck. The report keeps its fifteen-page academic format. Current web captures and reasoner logs support the presentation; MP4 files have been removed without editing or generating video content.</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52B3A"/>
        </a:solidFill>
        <a:effectLst/>
      </p:bgPr>
    </p:bg>
    <p:spTree>
      <p:nvGrpSpPr>
        <p:cNvPr id="1" name=""/>
        <p:cNvGrpSpPr/>
        <p:nvPr/>
      </p:nvGrpSpPr>
      <p:grpSpPr/>
      <p:sp>
        <p:nvSpPr>
          <p:cNvPr id="2" name="Rectangle 1"/>
          <p:cNvSpPr/>
          <p:nvPr/>
        </p:nvSpPr>
        <p:spPr>
          <a:xfrm>
            <a:off x="0" y="0"/>
            <a:ext cx="118872" cy="8229600"/>
          </a:xfrm>
          <a:prstGeom prst="rect">
            <a:avLst/>
          </a:prstGeom>
          <a:solidFill>
            <a:srgbClr val="007F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1887200" cy="320040"/>
          </a:xfrm>
          <a:prstGeom prst="rect">
            <a:avLst/>
          </a:prstGeom>
          <a:noFill/>
        </p:spPr>
        <p:txBody>
          <a:bodyPr wrap="none" lIns="0" rIns="0" tIns="0" bIns="0">
            <a:spAutoFit/>
          </a:bodyPr>
          <a:lstStyle/>
          <a:p>
            <a:pPr>
              <a:lnSpc>
                <a:spcPts val="1536"/>
              </a:lnSpc>
              <a:spcBef>
                <a:spcPts val="0"/>
              </a:spcBef>
              <a:spcAft>
                <a:spcPts val="0"/>
              </a:spcAft>
              <a:defRPr sz="1200" b="1">
                <a:solidFill>
                  <a:srgbClr val="E8B65D"/>
                </a:solidFill>
                <a:latin typeface="Be Vietnam Pro"/>
              </a:defRPr>
            </a:pPr>
            <a:r>
              <a:t>MOVIELOD / SEMANTIC WEB / ONTOLOGY 3.0.0</a:t>
            </a:r>
          </a:p>
        </p:txBody>
      </p:sp>
      <p:sp>
        <p:nvSpPr>
          <p:cNvPr id="4" name="TextBox 3"/>
          <p:cNvSpPr txBox="1"/>
          <p:nvPr/>
        </p:nvSpPr>
        <p:spPr>
          <a:xfrm>
            <a:off x="594360" y="868680"/>
            <a:ext cx="13441680" cy="822960"/>
          </a:xfrm>
          <a:prstGeom prst="rect">
            <a:avLst/>
          </a:prstGeom>
          <a:noFill/>
        </p:spPr>
        <p:txBody>
          <a:bodyPr wrap="none" lIns="0" rIns="0" tIns="0" bIns="0">
            <a:spAutoFit/>
          </a:bodyPr>
          <a:lstStyle/>
          <a:p>
            <a:pPr>
              <a:lnSpc>
                <a:spcPts val="4352"/>
              </a:lnSpc>
              <a:spcBef>
                <a:spcPts val="0"/>
              </a:spcBef>
              <a:spcAft>
                <a:spcPts val="0"/>
              </a:spcAft>
              <a:defRPr sz="3400" b="1">
                <a:solidFill>
                  <a:srgbClr val="FFFFFF"/>
                </a:solidFill>
                <a:latin typeface="Be Vietnam Pro"/>
              </a:defRPr>
            </a:pPr>
            <a:r>
              <a:t>MovieLOD</a:t>
            </a:r>
          </a:p>
        </p:txBody>
      </p:sp>
      <p:sp>
        <p:nvSpPr>
          <p:cNvPr id="5" name="TextBox 4"/>
          <p:cNvSpPr txBox="1"/>
          <p:nvPr/>
        </p:nvSpPr>
        <p:spPr>
          <a:xfrm>
            <a:off x="612648" y="1719072"/>
            <a:ext cx="13350240" cy="548640"/>
          </a:xfrm>
          <a:prstGeom prst="rect">
            <a:avLst/>
          </a:prstGeom>
          <a:noFill/>
        </p:spPr>
        <p:txBody>
          <a:bodyPr wrap="none" lIns="0" rIns="0" tIns="0" bIns="0">
            <a:spAutoFit/>
          </a:bodyPr>
          <a:lstStyle/>
          <a:p>
            <a:pPr>
              <a:lnSpc>
                <a:spcPts val="2176"/>
              </a:lnSpc>
              <a:spcBef>
                <a:spcPts val="0"/>
              </a:spcBef>
              <a:spcAft>
                <a:spcPts val="0"/>
              </a:spcAft>
              <a:defRPr sz="1700" b="0">
                <a:solidFill>
                  <a:srgbClr val="B8CDD6"/>
                </a:solidFill>
                <a:latin typeface="Be Vietnam Pro"/>
              </a:defRPr>
            </a:pPr>
            <a:r>
              <a:t>DBpedia reuse · OWL reasoning · linked movie knowledge</a:t>
            </a:r>
          </a:p>
        </p:txBody>
      </p:sp>
      <p:sp>
        <p:nvSpPr>
          <p:cNvPr id="6" name="Rectangle 5"/>
          <p:cNvSpPr/>
          <p:nvPr/>
        </p:nvSpPr>
        <p:spPr>
          <a:xfrm>
            <a:off x="594360" y="7708392"/>
            <a:ext cx="13441680" cy="9144"/>
          </a:xfrm>
          <a:prstGeom prst="rect">
            <a:avLst/>
          </a:prstGeom>
          <a:solidFill>
            <a:srgbClr val="3953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94360" y="7845552"/>
            <a:ext cx="11887200" cy="201168"/>
          </a:xfrm>
          <a:prstGeom prst="rect">
            <a:avLst/>
          </a:prstGeom>
          <a:noFill/>
        </p:spPr>
        <p:txBody>
          <a:bodyPr wrap="none" lIns="0" rIns="0" tIns="0" bIns="0">
            <a:spAutoFit/>
          </a:bodyPr>
          <a:lstStyle/>
          <a:p>
            <a:pPr>
              <a:lnSpc>
                <a:spcPts val="1280"/>
              </a:lnSpc>
              <a:spcBef>
                <a:spcPts val="0"/>
              </a:spcBef>
              <a:spcAft>
                <a:spcPts val="0"/>
              </a:spcAft>
              <a:defRPr sz="1000" b="0">
                <a:solidFill>
                  <a:srgbClr val="B8CDD6"/>
                </a:solidFill>
                <a:latin typeface="Be Vietnam Pro"/>
              </a:defRPr>
            </a:pPr>
            <a:r>
              <a:t>Data checked: 09 Oct 2026 • Sources: project code and evidence/</a:t>
            </a:r>
          </a:p>
        </p:txBody>
      </p:sp>
      <p:sp>
        <p:nvSpPr>
          <p:cNvPr id="8" name="TextBox 7"/>
          <p:cNvSpPr txBox="1"/>
          <p:nvPr/>
        </p:nvSpPr>
        <p:spPr>
          <a:xfrm>
            <a:off x="13258800" y="7818120"/>
            <a:ext cx="914400" cy="274320"/>
          </a:xfrm>
          <a:prstGeom prst="rect">
            <a:avLst/>
          </a:prstGeom>
          <a:noFill/>
        </p:spPr>
        <p:txBody>
          <a:bodyPr wrap="none" lIns="0" rIns="0" tIns="0" bIns="0">
            <a:spAutoFit/>
          </a:bodyPr>
          <a:lstStyle/>
          <a:p>
            <a:pPr>
              <a:lnSpc>
                <a:spcPts val="1536"/>
              </a:lnSpc>
              <a:spcBef>
                <a:spcPts val="0"/>
              </a:spcBef>
              <a:spcAft>
                <a:spcPts val="0"/>
              </a:spcAft>
              <a:defRPr sz="1200" b="1">
                <a:solidFill>
                  <a:srgbClr val="E8B65D"/>
                </a:solidFill>
                <a:latin typeface="Be Vietnam Pro"/>
              </a:defRPr>
            </a:pPr>
            <a:r>
              <a:t>01 / 13</a:t>
            </a:r>
          </a:p>
        </p:txBody>
      </p:sp>
      <p:sp>
        <p:nvSpPr>
          <p:cNvPr id="9" name="TextBox 8"/>
          <p:cNvSpPr txBox="1"/>
          <p:nvPr/>
        </p:nvSpPr>
        <p:spPr>
          <a:xfrm>
            <a:off x="777240" y="2743200"/>
            <a:ext cx="7772400" cy="1463040"/>
          </a:xfrm>
          <a:prstGeom prst="rect">
            <a:avLst/>
          </a:prstGeom>
          <a:noFill/>
        </p:spPr>
        <p:txBody>
          <a:bodyPr wrap="none" lIns="0" rIns="0" tIns="0" bIns="0">
            <a:spAutoFit/>
          </a:bodyPr>
          <a:lstStyle/>
          <a:p>
            <a:pPr>
              <a:lnSpc>
                <a:spcPts val="4480"/>
              </a:lnSpc>
              <a:spcBef>
                <a:spcPts val="0"/>
              </a:spcBef>
              <a:spcAft>
                <a:spcPts val="0"/>
              </a:spcAft>
              <a:defRPr sz="3500" b="1">
                <a:solidFill>
                  <a:srgbClr val="FFFFFF"/>
                </a:solidFill>
                <a:latin typeface="Be Vietnam Pro"/>
              </a:defRPr>
            </a:pPr>
            <a:r>
              <a:t>From movie data</a:t>
            </a:r>
          </a:p>
          <a:p>
            <a:pPr>
              <a:lnSpc>
                <a:spcPts val="4480"/>
              </a:lnSpc>
              <a:spcBef>
                <a:spcPts val="0"/>
              </a:spcBef>
              <a:spcAft>
                <a:spcPts val="0"/>
              </a:spcAft>
              <a:defRPr sz="3500" b="1">
                <a:solidFill>
                  <a:srgbClr val="FFFFFF"/>
                </a:solidFill>
                <a:latin typeface="Be Vietnam Pro"/>
              </a:defRPr>
            </a:pPr>
            <a:r>
              <a:t>to a knowledge graph</a:t>
            </a:r>
          </a:p>
        </p:txBody>
      </p:sp>
      <p:sp>
        <p:nvSpPr>
          <p:cNvPr id="10" name="TextBox 9"/>
          <p:cNvSpPr txBox="1"/>
          <p:nvPr/>
        </p:nvSpPr>
        <p:spPr>
          <a:xfrm>
            <a:off x="777240" y="4645152"/>
            <a:ext cx="7315200" cy="640080"/>
          </a:xfrm>
          <a:prstGeom prst="rect">
            <a:avLst/>
          </a:prstGeom>
          <a:noFill/>
        </p:spPr>
        <p:txBody>
          <a:bodyPr wrap="none" lIns="0" rIns="0" tIns="0" bIns="0">
            <a:spAutoFit/>
          </a:bodyPr>
          <a:lstStyle/>
          <a:p>
            <a:pPr>
              <a:lnSpc>
                <a:spcPts val="2688"/>
              </a:lnSpc>
              <a:spcBef>
                <a:spcPts val="0"/>
              </a:spcBef>
              <a:spcAft>
                <a:spcPts val="0"/>
              </a:spcAft>
              <a:defRPr sz="2100" b="0">
                <a:solidFill>
                  <a:srgbClr val="B8CDD6"/>
                </a:solidFill>
                <a:latin typeface="Be Vietnam Pro"/>
              </a:defRPr>
            </a:pPr>
            <a:r>
              <a:t>Ontology · RDF · Linked Open Data · SPARQL</a:t>
            </a:r>
          </a:p>
        </p:txBody>
      </p:sp>
      <p:sp>
        <p:nvSpPr>
          <p:cNvPr id="11" name="TextBox 10"/>
          <p:cNvSpPr txBox="1"/>
          <p:nvPr/>
        </p:nvSpPr>
        <p:spPr>
          <a:xfrm>
            <a:off x="777240" y="5577840"/>
            <a:ext cx="7315200" cy="1188720"/>
          </a:xfrm>
          <a:prstGeom prst="rect">
            <a:avLst/>
          </a:prstGeom>
          <a:noFill/>
        </p:spPr>
        <p:txBody>
          <a:bodyPr wrap="none" lIns="0" rIns="0" tIns="0" bIns="0">
            <a:spAutoFit/>
          </a:bodyPr>
          <a:lstStyle/>
          <a:p>
            <a:pPr>
              <a:lnSpc>
                <a:spcPts val="1792"/>
              </a:lnSpc>
              <a:spcBef>
                <a:spcPts val="0"/>
              </a:spcBef>
              <a:spcAft>
                <a:spcPts val="0"/>
              </a:spcAft>
              <a:defRPr sz="1400" b="0">
                <a:solidFill>
                  <a:srgbClr val="B8CDD6"/>
                </a:solidFill>
                <a:latin typeface="Be Vietnam Pro"/>
              </a:defRPr>
            </a:pPr>
            <a:r>
              <a:t>La Minh Trung (20251319M)</a:t>
            </a:r>
          </a:p>
          <a:p>
            <a:pPr>
              <a:lnSpc>
                <a:spcPts val="1792"/>
              </a:lnSpc>
              <a:spcBef>
                <a:spcPts val="0"/>
              </a:spcBef>
              <a:spcAft>
                <a:spcPts val="0"/>
              </a:spcAft>
              <a:defRPr sz="1400" b="0">
                <a:solidFill>
                  <a:srgbClr val="B8CDD6"/>
                </a:solidFill>
                <a:latin typeface="Be Vietnam Pro"/>
              </a:defRPr>
            </a:pPr>
            <a:r>
              <a:t>Nguyen Thu Uyen (20252279M)</a:t>
            </a:r>
          </a:p>
          <a:p>
            <a:pPr>
              <a:lnSpc>
                <a:spcPts val="1792"/>
              </a:lnSpc>
              <a:spcBef>
                <a:spcPts val="0"/>
              </a:spcBef>
              <a:spcAft>
                <a:spcPts val="0"/>
              </a:spcAft>
              <a:defRPr sz="1400" b="0">
                <a:solidFill>
                  <a:srgbClr val="B8CDD6"/>
                </a:solidFill>
                <a:latin typeface="Be Vietnam Pro"/>
              </a:defRPr>
            </a:pPr>
            <a:r>
              <a:t>Nguyen Thi Nha Linh (20261262M)</a:t>
            </a:r>
          </a:p>
          <a:p>
            <a:pPr>
              <a:lnSpc>
                <a:spcPts val="1792"/>
              </a:lnSpc>
              <a:spcBef>
                <a:spcPts val="0"/>
              </a:spcBef>
              <a:spcAft>
                <a:spcPts val="0"/>
              </a:spcAft>
              <a:defRPr sz="1400" b="0">
                <a:solidFill>
                  <a:srgbClr val="B8CDD6"/>
                </a:solidFill>
                <a:latin typeface="Be Vietnam Pro"/>
              </a:defRPr>
            </a:pPr>
            <a:r>
              <a:t>Nguyen Khac Thai Binh (20251324M)</a:t>
            </a:r>
          </a:p>
        </p:txBody>
      </p:sp>
      <p:sp>
        <p:nvSpPr>
          <p:cNvPr id="12" name="Rounded Rectangle 11"/>
          <p:cNvSpPr/>
          <p:nvPr/>
        </p:nvSpPr>
        <p:spPr>
          <a:xfrm>
            <a:off x="9189720" y="2697480"/>
            <a:ext cx="4709160" cy="1170432"/>
          </a:xfrm>
          <a:prstGeom prst="roundRect">
            <a:avLst/>
          </a:prstGeom>
          <a:solidFill>
            <a:srgbClr val="2442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436608" y="2843784"/>
            <a:ext cx="2011680" cy="594360"/>
          </a:xfrm>
          <a:prstGeom prst="rect">
            <a:avLst/>
          </a:prstGeom>
          <a:noFill/>
        </p:spPr>
        <p:txBody>
          <a:bodyPr wrap="none" lIns="0" rIns="0" tIns="0" bIns="0">
            <a:spAutoFit/>
          </a:bodyPr>
          <a:lstStyle/>
          <a:p>
            <a:pPr>
              <a:lnSpc>
                <a:spcPts val="3840"/>
              </a:lnSpc>
              <a:spcBef>
                <a:spcPts val="0"/>
              </a:spcBef>
              <a:spcAft>
                <a:spcPts val="0"/>
              </a:spcAft>
              <a:defRPr sz="3000" b="1">
                <a:solidFill>
                  <a:srgbClr val="E8B65D"/>
                </a:solidFill>
                <a:latin typeface="Be Vietnam Pro"/>
              </a:defRPr>
            </a:pPr>
            <a:r>
              <a:t>30</a:t>
            </a:r>
          </a:p>
        </p:txBody>
      </p:sp>
      <p:sp>
        <p:nvSpPr>
          <p:cNvPr id="14" name="TextBox 13"/>
          <p:cNvSpPr txBox="1"/>
          <p:nvPr/>
        </p:nvSpPr>
        <p:spPr>
          <a:xfrm>
            <a:off x="11548872" y="3035808"/>
            <a:ext cx="2103120" cy="365760"/>
          </a:xfrm>
          <a:prstGeom prst="rect">
            <a:avLst/>
          </a:prstGeom>
          <a:noFill/>
        </p:spPr>
        <p:txBody>
          <a:bodyPr wrap="none" lIns="0" rIns="0" tIns="0" bIns="0">
            <a:spAutoFit/>
          </a:bodyPr>
          <a:lstStyle/>
          <a:p>
            <a:pPr>
              <a:lnSpc>
                <a:spcPts val="2176"/>
              </a:lnSpc>
              <a:spcBef>
                <a:spcPts val="0"/>
              </a:spcBef>
              <a:spcAft>
                <a:spcPts val="0"/>
              </a:spcAft>
              <a:defRPr sz="1700" b="0">
                <a:solidFill>
                  <a:srgbClr val="FFFFFF"/>
                </a:solidFill>
                <a:latin typeface="Be Vietnam Pro"/>
              </a:defRPr>
            </a:pPr>
            <a:r>
              <a:t>real films</a:t>
            </a:r>
          </a:p>
        </p:txBody>
      </p:sp>
      <p:sp>
        <p:nvSpPr>
          <p:cNvPr id="15" name="Rounded Rectangle 14"/>
          <p:cNvSpPr/>
          <p:nvPr/>
        </p:nvSpPr>
        <p:spPr>
          <a:xfrm>
            <a:off x="9189720" y="4069080"/>
            <a:ext cx="4709160" cy="1170432"/>
          </a:xfrm>
          <a:prstGeom prst="roundRect">
            <a:avLst/>
          </a:prstGeom>
          <a:solidFill>
            <a:srgbClr val="2442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436608" y="4215383"/>
            <a:ext cx="2011680" cy="594360"/>
          </a:xfrm>
          <a:prstGeom prst="rect">
            <a:avLst/>
          </a:prstGeom>
          <a:noFill/>
        </p:spPr>
        <p:txBody>
          <a:bodyPr wrap="none" lIns="0" rIns="0" tIns="0" bIns="0">
            <a:spAutoFit/>
          </a:bodyPr>
          <a:lstStyle/>
          <a:p>
            <a:pPr>
              <a:lnSpc>
                <a:spcPts val="3840"/>
              </a:lnSpc>
              <a:spcBef>
                <a:spcPts val="0"/>
              </a:spcBef>
              <a:spcAft>
                <a:spcPts val="0"/>
              </a:spcAft>
              <a:defRPr sz="3000" b="1">
                <a:solidFill>
                  <a:srgbClr val="E8B65D"/>
                </a:solidFill>
                <a:latin typeface="Be Vietnam Pro"/>
              </a:defRPr>
            </a:pPr>
            <a:r>
              <a:t>37</a:t>
            </a:r>
          </a:p>
        </p:txBody>
      </p:sp>
      <p:sp>
        <p:nvSpPr>
          <p:cNvPr id="17" name="TextBox 16"/>
          <p:cNvSpPr txBox="1"/>
          <p:nvPr/>
        </p:nvSpPr>
        <p:spPr>
          <a:xfrm>
            <a:off x="11548872" y="4407408"/>
            <a:ext cx="2103120" cy="365760"/>
          </a:xfrm>
          <a:prstGeom prst="rect">
            <a:avLst/>
          </a:prstGeom>
          <a:noFill/>
        </p:spPr>
        <p:txBody>
          <a:bodyPr wrap="none" lIns="0" rIns="0" tIns="0" bIns="0">
            <a:spAutoFit/>
          </a:bodyPr>
          <a:lstStyle/>
          <a:p>
            <a:pPr>
              <a:lnSpc>
                <a:spcPts val="2176"/>
              </a:lnSpc>
              <a:spcBef>
                <a:spcPts val="0"/>
              </a:spcBef>
              <a:spcAft>
                <a:spcPts val="0"/>
              </a:spcAft>
              <a:defRPr sz="1700" b="0">
                <a:solidFill>
                  <a:srgbClr val="FFFFFF"/>
                </a:solidFill>
                <a:latin typeface="Be Vietnam Pro"/>
              </a:defRPr>
            </a:pPr>
            <a:r>
              <a:t>named classes</a:t>
            </a:r>
          </a:p>
        </p:txBody>
      </p:sp>
      <p:sp>
        <p:nvSpPr>
          <p:cNvPr id="18" name="Rounded Rectangle 17"/>
          <p:cNvSpPr/>
          <p:nvPr/>
        </p:nvSpPr>
        <p:spPr>
          <a:xfrm>
            <a:off x="9189720" y="5440680"/>
            <a:ext cx="4709160" cy="1170432"/>
          </a:xfrm>
          <a:prstGeom prst="roundRect">
            <a:avLst/>
          </a:prstGeom>
          <a:solidFill>
            <a:srgbClr val="2442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436608" y="5586983"/>
            <a:ext cx="2011680" cy="594360"/>
          </a:xfrm>
          <a:prstGeom prst="rect">
            <a:avLst/>
          </a:prstGeom>
          <a:noFill/>
        </p:spPr>
        <p:txBody>
          <a:bodyPr wrap="none" lIns="0" rIns="0" tIns="0" bIns="0">
            <a:spAutoFit/>
          </a:bodyPr>
          <a:lstStyle/>
          <a:p>
            <a:pPr>
              <a:lnSpc>
                <a:spcPts val="3840"/>
              </a:lnSpc>
              <a:spcBef>
                <a:spcPts val="0"/>
              </a:spcBef>
              <a:spcAft>
                <a:spcPts val="0"/>
              </a:spcAft>
              <a:defRPr sz="3000" b="1">
                <a:solidFill>
                  <a:srgbClr val="E8B65D"/>
                </a:solidFill>
                <a:latin typeface="Be Vietnam Pro"/>
              </a:defRPr>
            </a:pPr>
            <a:r>
              <a:t>1,727</a:t>
            </a:r>
          </a:p>
        </p:txBody>
      </p:sp>
      <p:sp>
        <p:nvSpPr>
          <p:cNvPr id="20" name="TextBox 19"/>
          <p:cNvSpPr txBox="1"/>
          <p:nvPr/>
        </p:nvSpPr>
        <p:spPr>
          <a:xfrm>
            <a:off x="11548872" y="5779008"/>
            <a:ext cx="2103120" cy="365760"/>
          </a:xfrm>
          <a:prstGeom prst="rect">
            <a:avLst/>
          </a:prstGeom>
          <a:noFill/>
        </p:spPr>
        <p:txBody>
          <a:bodyPr wrap="none" lIns="0" rIns="0" tIns="0" bIns="0">
            <a:spAutoFit/>
          </a:bodyPr>
          <a:lstStyle/>
          <a:p>
            <a:pPr>
              <a:lnSpc>
                <a:spcPts val="2176"/>
              </a:lnSpc>
              <a:spcBef>
                <a:spcPts val="0"/>
              </a:spcBef>
              <a:spcAft>
                <a:spcPts val="0"/>
              </a:spcAft>
              <a:defRPr sz="1700" b="0">
                <a:solidFill>
                  <a:srgbClr val="FFFFFF"/>
                </a:solidFill>
                <a:latin typeface="Be Vietnam Pro"/>
              </a:defRPr>
            </a:pPr>
            <a:r>
              <a:t>external links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3F6F7"/>
        </a:solidFill>
        <a:effectLst/>
      </p:bgPr>
    </p:bg>
    <p:spTree>
      <p:nvGrpSpPr>
        <p:cNvPr id="1" name=""/>
        <p:cNvGrpSpPr/>
        <p:nvPr/>
      </p:nvGrpSpPr>
      <p:grpSpPr/>
      <p:sp>
        <p:nvSpPr>
          <p:cNvPr id="2" name="Rectangle 1"/>
          <p:cNvSpPr/>
          <p:nvPr/>
        </p:nvSpPr>
        <p:spPr>
          <a:xfrm>
            <a:off x="0" y="0"/>
            <a:ext cx="118872" cy="8229600"/>
          </a:xfrm>
          <a:prstGeom prst="rect">
            <a:avLst/>
          </a:prstGeom>
          <a:solidFill>
            <a:srgbClr val="007F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1887200" cy="320040"/>
          </a:xfrm>
          <a:prstGeom prst="rect">
            <a:avLst/>
          </a:prstGeom>
          <a:noFill/>
        </p:spPr>
        <p:txBody>
          <a:bodyPr wrap="none" lIns="0" rIns="0" tIns="0" bIns="0">
            <a:spAutoFit/>
          </a:bodyPr>
          <a:lstStyle/>
          <a:p>
            <a:pPr>
              <a:lnSpc>
                <a:spcPts val="1536"/>
              </a:lnSpc>
              <a:spcBef>
                <a:spcPts val="0"/>
              </a:spcBef>
              <a:spcAft>
                <a:spcPts val="0"/>
              </a:spcAft>
              <a:defRPr sz="1200" b="1">
                <a:solidFill>
                  <a:srgbClr val="007F82"/>
                </a:solidFill>
                <a:latin typeface="Be Vietnam Pro"/>
              </a:defRPr>
            </a:pPr>
            <a:r>
              <a:t>MOVIELOD / SEMANTIC WEB / ONTOLOGY 3.0.0</a:t>
            </a:r>
          </a:p>
        </p:txBody>
      </p:sp>
      <p:sp>
        <p:nvSpPr>
          <p:cNvPr id="4" name="TextBox 3"/>
          <p:cNvSpPr txBox="1"/>
          <p:nvPr/>
        </p:nvSpPr>
        <p:spPr>
          <a:xfrm>
            <a:off x="594360" y="868680"/>
            <a:ext cx="13441680" cy="822960"/>
          </a:xfrm>
          <a:prstGeom prst="rect">
            <a:avLst/>
          </a:prstGeom>
          <a:noFill/>
        </p:spPr>
        <p:txBody>
          <a:bodyPr wrap="none" lIns="0" rIns="0" tIns="0" bIns="0">
            <a:spAutoFit/>
          </a:bodyPr>
          <a:lstStyle/>
          <a:p>
            <a:pPr>
              <a:lnSpc>
                <a:spcPts val="4352"/>
              </a:lnSpc>
              <a:spcBef>
                <a:spcPts val="0"/>
              </a:spcBef>
              <a:spcAft>
                <a:spcPts val="0"/>
              </a:spcAft>
              <a:defRPr sz="3400" b="1">
                <a:solidFill>
                  <a:srgbClr val="152B3A"/>
                </a:solidFill>
                <a:latin typeface="Be Vietnam Pro"/>
              </a:defRPr>
            </a:pPr>
            <a:r>
              <a:t>Objectives and synchronized evidence</a:t>
            </a:r>
          </a:p>
        </p:txBody>
      </p:sp>
      <p:sp>
        <p:nvSpPr>
          <p:cNvPr id="5" name="TextBox 4"/>
          <p:cNvSpPr txBox="1"/>
          <p:nvPr/>
        </p:nvSpPr>
        <p:spPr>
          <a:xfrm>
            <a:off x="612648" y="1719072"/>
            <a:ext cx="13350240" cy="548640"/>
          </a:xfrm>
          <a:prstGeom prst="rect">
            <a:avLst/>
          </a:prstGeom>
          <a:noFill/>
        </p:spPr>
        <p:txBody>
          <a:bodyPr wrap="none" lIns="0" rIns="0" tIns="0" bIns="0">
            <a:spAutoFit/>
          </a:bodyPr>
          <a:lstStyle/>
          <a:p>
            <a:pPr>
              <a:lnSpc>
                <a:spcPts val="2176"/>
              </a:lnSpc>
              <a:spcBef>
                <a:spcPts val="0"/>
              </a:spcBef>
              <a:spcAft>
                <a:spcPts val="0"/>
              </a:spcAft>
              <a:defRPr sz="1700" b="0">
                <a:solidFill>
                  <a:srgbClr val="506776"/>
                </a:solidFill>
                <a:latin typeface="Be Vietnam Pro"/>
              </a:defRPr>
            </a:pPr>
            <a:r>
              <a:t>Ontology, data, publication, linking and SPARQL access</a:t>
            </a:r>
          </a:p>
        </p:txBody>
      </p:sp>
      <p:sp>
        <p:nvSpPr>
          <p:cNvPr id="6" name="Rectangle 5"/>
          <p:cNvSpPr/>
          <p:nvPr/>
        </p:nvSpPr>
        <p:spPr>
          <a:xfrm>
            <a:off x="594360" y="7708392"/>
            <a:ext cx="13441680" cy="9144"/>
          </a:xfrm>
          <a:prstGeom prst="rect">
            <a:avLst/>
          </a:prstGeom>
          <a:solidFill>
            <a:srgbClr val="DDE6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94360" y="7845552"/>
            <a:ext cx="11887200" cy="201168"/>
          </a:xfrm>
          <a:prstGeom prst="rect">
            <a:avLst/>
          </a:prstGeom>
          <a:noFill/>
        </p:spPr>
        <p:txBody>
          <a:bodyPr wrap="none" lIns="0" rIns="0" tIns="0" bIns="0">
            <a:spAutoFit/>
          </a:bodyPr>
          <a:lstStyle/>
          <a:p>
            <a:pPr>
              <a:lnSpc>
                <a:spcPts val="1280"/>
              </a:lnSpc>
              <a:spcBef>
                <a:spcPts val="0"/>
              </a:spcBef>
              <a:spcAft>
                <a:spcPts val="0"/>
              </a:spcAft>
              <a:defRPr sz="1000" b="0">
                <a:solidFill>
                  <a:srgbClr val="506776"/>
                </a:solidFill>
                <a:latin typeface="Be Vietnam Pro"/>
              </a:defRPr>
            </a:pPr>
            <a:r>
              <a:t>Data checked: 09 Oct 2026 • Sources: project code and evidence/</a:t>
            </a:r>
          </a:p>
        </p:txBody>
      </p:sp>
      <p:sp>
        <p:nvSpPr>
          <p:cNvPr id="8" name="TextBox 7"/>
          <p:cNvSpPr txBox="1"/>
          <p:nvPr/>
        </p:nvSpPr>
        <p:spPr>
          <a:xfrm>
            <a:off x="13258800" y="7818120"/>
            <a:ext cx="914400" cy="274320"/>
          </a:xfrm>
          <a:prstGeom prst="rect">
            <a:avLst/>
          </a:prstGeom>
          <a:noFill/>
        </p:spPr>
        <p:txBody>
          <a:bodyPr wrap="none" lIns="0" rIns="0" tIns="0" bIns="0">
            <a:spAutoFit/>
          </a:bodyPr>
          <a:lstStyle/>
          <a:p>
            <a:pPr>
              <a:lnSpc>
                <a:spcPts val="1536"/>
              </a:lnSpc>
              <a:spcBef>
                <a:spcPts val="0"/>
              </a:spcBef>
              <a:spcAft>
                <a:spcPts val="0"/>
              </a:spcAft>
              <a:defRPr sz="1200" b="1">
                <a:solidFill>
                  <a:srgbClr val="007F82"/>
                </a:solidFill>
                <a:latin typeface="Be Vietnam Pro"/>
              </a:defRPr>
            </a:pPr>
            <a:r>
              <a:t>02 / 13</a:t>
            </a:r>
          </a:p>
        </p:txBody>
      </p:sp>
      <p:sp>
        <p:nvSpPr>
          <p:cNvPr id="9" name="Rectangle 8"/>
          <p:cNvSpPr/>
          <p:nvPr/>
        </p:nvSpPr>
        <p:spPr>
          <a:xfrm>
            <a:off x="731520" y="2697480"/>
            <a:ext cx="13304520" cy="393192"/>
          </a:xfrm>
          <a:prstGeom prst="rect">
            <a:avLst/>
          </a:prstGeom>
          <a:solidFill>
            <a:srgbClr val="007F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41248" y="2770632"/>
            <a:ext cx="740664" cy="301752"/>
          </a:xfrm>
          <a:prstGeom prst="rect">
            <a:avLst/>
          </a:prstGeom>
          <a:noFill/>
        </p:spPr>
        <p:txBody>
          <a:bodyPr wrap="none" lIns="0" rIns="0" tIns="0" bIns="0">
            <a:spAutoFit/>
          </a:bodyPr>
          <a:lstStyle/>
          <a:p>
            <a:pPr>
              <a:lnSpc>
                <a:spcPts val="2560"/>
              </a:lnSpc>
              <a:spcBef>
                <a:spcPts val="0"/>
              </a:spcBef>
              <a:spcAft>
                <a:spcPts val="0"/>
              </a:spcAft>
              <a:defRPr sz="2000" b="1">
                <a:solidFill>
                  <a:srgbClr val="FFFFFF"/>
                </a:solidFill>
                <a:latin typeface="Be Vietnam Pro"/>
              </a:defRPr>
            </a:pPr>
            <a:r>
              <a:t>ID</a:t>
            </a:r>
          </a:p>
        </p:txBody>
      </p:sp>
      <p:sp>
        <p:nvSpPr>
          <p:cNvPr id="11" name="TextBox 10"/>
          <p:cNvSpPr txBox="1"/>
          <p:nvPr/>
        </p:nvSpPr>
        <p:spPr>
          <a:xfrm>
            <a:off x="1801368" y="2770632"/>
            <a:ext cx="3666744" cy="301752"/>
          </a:xfrm>
          <a:prstGeom prst="rect">
            <a:avLst/>
          </a:prstGeom>
          <a:noFill/>
        </p:spPr>
        <p:txBody>
          <a:bodyPr wrap="none" lIns="0" rIns="0" tIns="0" bIns="0">
            <a:spAutoFit/>
          </a:bodyPr>
          <a:lstStyle/>
          <a:p>
            <a:pPr>
              <a:lnSpc>
                <a:spcPts val="2560"/>
              </a:lnSpc>
              <a:spcBef>
                <a:spcPts val="0"/>
              </a:spcBef>
              <a:spcAft>
                <a:spcPts val="0"/>
              </a:spcAft>
              <a:defRPr sz="2000" b="1">
                <a:solidFill>
                  <a:srgbClr val="FFFFFF"/>
                </a:solidFill>
                <a:latin typeface="Be Vietnam Pro"/>
              </a:defRPr>
            </a:pPr>
            <a:r>
              <a:t>Requirement</a:t>
            </a:r>
          </a:p>
        </p:txBody>
      </p:sp>
      <p:sp>
        <p:nvSpPr>
          <p:cNvPr id="12" name="TextBox 11"/>
          <p:cNvSpPr txBox="1"/>
          <p:nvPr/>
        </p:nvSpPr>
        <p:spPr>
          <a:xfrm>
            <a:off x="5687568" y="2770632"/>
            <a:ext cx="8238744" cy="301752"/>
          </a:xfrm>
          <a:prstGeom prst="rect">
            <a:avLst/>
          </a:prstGeom>
          <a:noFill/>
        </p:spPr>
        <p:txBody>
          <a:bodyPr wrap="none" lIns="0" rIns="0" tIns="0" bIns="0">
            <a:spAutoFit/>
          </a:bodyPr>
          <a:lstStyle/>
          <a:p>
            <a:pPr>
              <a:lnSpc>
                <a:spcPts val="2560"/>
              </a:lnSpc>
              <a:spcBef>
                <a:spcPts val="0"/>
              </a:spcBef>
              <a:spcAft>
                <a:spcPts val="0"/>
              </a:spcAft>
              <a:defRPr sz="2000" b="1">
                <a:solidFill>
                  <a:srgbClr val="FFFFFF"/>
                </a:solidFill>
                <a:latin typeface="Be Vietnam Pro"/>
              </a:defRPr>
            </a:pPr>
            <a:r>
              <a:t>Deliverable / evidence</a:t>
            </a:r>
          </a:p>
        </p:txBody>
      </p:sp>
      <p:sp>
        <p:nvSpPr>
          <p:cNvPr id="13" name="Rectangle 12"/>
          <p:cNvSpPr/>
          <p:nvPr/>
        </p:nvSpPr>
        <p:spPr>
          <a:xfrm>
            <a:off x="731520" y="3090672"/>
            <a:ext cx="13304520" cy="77724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41248" y="3150108"/>
            <a:ext cx="740664" cy="658368"/>
          </a:xfrm>
          <a:prstGeom prst="rect">
            <a:avLst/>
          </a:prstGeom>
          <a:noFill/>
        </p:spPr>
        <p:txBody>
          <a:bodyPr wrap="none" lIns="0" rIns="0" tIns="0" bIns="0">
            <a:spAutoFit/>
          </a:bodyPr>
          <a:lstStyle/>
          <a:p>
            <a:pPr>
              <a:lnSpc>
                <a:spcPts val="2560"/>
              </a:lnSpc>
              <a:spcBef>
                <a:spcPts val="0"/>
              </a:spcBef>
              <a:spcAft>
                <a:spcPts val="0"/>
              </a:spcAft>
              <a:defRPr sz="2000" b="0">
                <a:solidFill>
                  <a:srgbClr val="152B3A"/>
                </a:solidFill>
                <a:latin typeface="Be Vietnam Pro"/>
              </a:defRPr>
            </a:pPr>
            <a:r>
              <a:t>R1</a:t>
            </a:r>
          </a:p>
        </p:txBody>
      </p:sp>
      <p:sp>
        <p:nvSpPr>
          <p:cNvPr id="15" name="TextBox 14"/>
          <p:cNvSpPr txBox="1"/>
          <p:nvPr/>
        </p:nvSpPr>
        <p:spPr>
          <a:xfrm>
            <a:off x="1801368" y="3150108"/>
            <a:ext cx="3666744" cy="658368"/>
          </a:xfrm>
          <a:prstGeom prst="rect">
            <a:avLst/>
          </a:prstGeom>
          <a:noFill/>
        </p:spPr>
        <p:txBody>
          <a:bodyPr wrap="none" lIns="0" rIns="0" tIns="0" bIns="0">
            <a:spAutoFit/>
          </a:bodyPr>
          <a:lstStyle/>
          <a:p>
            <a:pPr>
              <a:lnSpc>
                <a:spcPts val="2560"/>
              </a:lnSpc>
              <a:spcBef>
                <a:spcPts val="0"/>
              </a:spcBef>
              <a:spcAft>
                <a:spcPts val="0"/>
              </a:spcAft>
              <a:defRPr sz="2000" b="0">
                <a:solidFill>
                  <a:srgbClr val="152B3A"/>
                </a:solidFill>
                <a:latin typeface="Be Vietnam Pro"/>
              </a:defRPr>
            </a:pPr>
            <a:r>
              <a:t>DBpedia-based ontology</a:t>
            </a:r>
          </a:p>
        </p:txBody>
      </p:sp>
      <p:sp>
        <p:nvSpPr>
          <p:cNvPr id="16" name="TextBox 15"/>
          <p:cNvSpPr txBox="1"/>
          <p:nvPr/>
        </p:nvSpPr>
        <p:spPr>
          <a:xfrm>
            <a:off x="5687568" y="3150108"/>
            <a:ext cx="8238744" cy="658368"/>
          </a:xfrm>
          <a:prstGeom prst="rect">
            <a:avLst/>
          </a:prstGeom>
          <a:noFill/>
        </p:spPr>
        <p:txBody>
          <a:bodyPr wrap="none" lIns="0" rIns="0" tIns="0" bIns="0">
            <a:spAutoFit/>
          </a:bodyPr>
          <a:lstStyle/>
          <a:p>
            <a:pPr>
              <a:lnSpc>
                <a:spcPts val="2560"/>
              </a:lnSpc>
              <a:spcBef>
                <a:spcPts val="0"/>
              </a:spcBef>
              <a:spcAft>
                <a:spcPts val="0"/>
              </a:spcAft>
              <a:defRPr sz="2000" b="0">
                <a:solidFill>
                  <a:srgbClr val="152B3A"/>
                </a:solidFill>
                <a:latin typeface="Be Vietnam Pro"/>
              </a:defRPr>
            </a:pPr>
            <a:r>
              <a:t>37 named classes; HermiT consistency</a:t>
            </a:r>
          </a:p>
        </p:txBody>
      </p:sp>
      <p:sp>
        <p:nvSpPr>
          <p:cNvPr id="17" name="Rectangle 16"/>
          <p:cNvSpPr/>
          <p:nvPr/>
        </p:nvSpPr>
        <p:spPr>
          <a:xfrm>
            <a:off x="731520" y="3867912"/>
            <a:ext cx="13304520" cy="777240"/>
          </a:xfrm>
          <a:prstGeom prst="rect">
            <a:avLst/>
          </a:prstGeom>
          <a:solidFill>
            <a:srgbClr val="E7EF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41248" y="3927348"/>
            <a:ext cx="740664" cy="658368"/>
          </a:xfrm>
          <a:prstGeom prst="rect">
            <a:avLst/>
          </a:prstGeom>
          <a:noFill/>
        </p:spPr>
        <p:txBody>
          <a:bodyPr wrap="none" lIns="0" rIns="0" tIns="0" bIns="0">
            <a:spAutoFit/>
          </a:bodyPr>
          <a:lstStyle/>
          <a:p>
            <a:pPr>
              <a:lnSpc>
                <a:spcPts val="2560"/>
              </a:lnSpc>
              <a:spcBef>
                <a:spcPts val="0"/>
              </a:spcBef>
              <a:spcAft>
                <a:spcPts val="0"/>
              </a:spcAft>
              <a:defRPr sz="2000" b="0">
                <a:solidFill>
                  <a:srgbClr val="152B3A"/>
                </a:solidFill>
                <a:latin typeface="Be Vietnam Pro"/>
              </a:defRPr>
            </a:pPr>
            <a:r>
              <a:t>R2</a:t>
            </a:r>
          </a:p>
        </p:txBody>
      </p:sp>
      <p:sp>
        <p:nvSpPr>
          <p:cNvPr id="19" name="TextBox 18"/>
          <p:cNvSpPr txBox="1"/>
          <p:nvPr/>
        </p:nvSpPr>
        <p:spPr>
          <a:xfrm>
            <a:off x="1801368" y="3927348"/>
            <a:ext cx="3666744" cy="658368"/>
          </a:xfrm>
          <a:prstGeom prst="rect">
            <a:avLst/>
          </a:prstGeom>
          <a:noFill/>
        </p:spPr>
        <p:txBody>
          <a:bodyPr wrap="none" lIns="0" rIns="0" tIns="0" bIns="0">
            <a:spAutoFit/>
          </a:bodyPr>
          <a:lstStyle/>
          <a:p>
            <a:pPr>
              <a:lnSpc>
                <a:spcPts val="2560"/>
              </a:lnSpc>
              <a:spcBef>
                <a:spcPts val="0"/>
              </a:spcBef>
              <a:spcAft>
                <a:spcPts val="0"/>
              </a:spcAft>
              <a:defRPr sz="2000" b="0">
                <a:solidFill>
                  <a:srgbClr val="152B3A"/>
                </a:solidFill>
                <a:latin typeface="Be Vietnam Pro"/>
              </a:defRPr>
            </a:pPr>
            <a:r>
              <a:t>Source-supported data</a:t>
            </a:r>
          </a:p>
        </p:txBody>
      </p:sp>
      <p:sp>
        <p:nvSpPr>
          <p:cNvPr id="20" name="TextBox 19"/>
          <p:cNvSpPr txBox="1"/>
          <p:nvPr/>
        </p:nvSpPr>
        <p:spPr>
          <a:xfrm>
            <a:off x="5687568" y="3927348"/>
            <a:ext cx="8238744" cy="658368"/>
          </a:xfrm>
          <a:prstGeom prst="rect">
            <a:avLst/>
          </a:prstGeom>
          <a:noFill/>
        </p:spPr>
        <p:txBody>
          <a:bodyPr wrap="none" lIns="0" rIns="0" tIns="0" bIns="0">
            <a:spAutoFit/>
          </a:bodyPr>
          <a:lstStyle/>
          <a:p>
            <a:pPr>
              <a:lnSpc>
                <a:spcPts val="2560"/>
              </a:lnSpc>
              <a:spcBef>
                <a:spcPts val="0"/>
              </a:spcBef>
              <a:spcAft>
                <a:spcPts val="0"/>
              </a:spcAft>
              <a:defRPr sz="2000" b="0">
                <a:solidFill>
                  <a:srgbClr val="152B3A"/>
                </a:solidFill>
                <a:latin typeface="Be Vietnam Pro"/>
              </a:defRPr>
            </a:pPr>
            <a:r>
              <a:t>76 retained responses and provenance</a:t>
            </a:r>
          </a:p>
        </p:txBody>
      </p:sp>
      <p:sp>
        <p:nvSpPr>
          <p:cNvPr id="21" name="Rectangle 20"/>
          <p:cNvSpPr/>
          <p:nvPr/>
        </p:nvSpPr>
        <p:spPr>
          <a:xfrm>
            <a:off x="731520" y="4645152"/>
            <a:ext cx="13304520" cy="77724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41248" y="4704588"/>
            <a:ext cx="740664" cy="658368"/>
          </a:xfrm>
          <a:prstGeom prst="rect">
            <a:avLst/>
          </a:prstGeom>
          <a:noFill/>
        </p:spPr>
        <p:txBody>
          <a:bodyPr wrap="none" lIns="0" rIns="0" tIns="0" bIns="0">
            <a:spAutoFit/>
          </a:bodyPr>
          <a:lstStyle/>
          <a:p>
            <a:pPr>
              <a:lnSpc>
                <a:spcPts val="2560"/>
              </a:lnSpc>
              <a:spcBef>
                <a:spcPts val="0"/>
              </a:spcBef>
              <a:spcAft>
                <a:spcPts val="0"/>
              </a:spcAft>
              <a:defRPr sz="2000" b="0">
                <a:solidFill>
                  <a:srgbClr val="152B3A"/>
                </a:solidFill>
                <a:latin typeface="Be Vietnam Pro"/>
              </a:defRPr>
            </a:pPr>
            <a:r>
              <a:t>R3</a:t>
            </a:r>
          </a:p>
        </p:txBody>
      </p:sp>
      <p:sp>
        <p:nvSpPr>
          <p:cNvPr id="23" name="TextBox 22"/>
          <p:cNvSpPr txBox="1"/>
          <p:nvPr/>
        </p:nvSpPr>
        <p:spPr>
          <a:xfrm>
            <a:off x="1801368" y="4704588"/>
            <a:ext cx="3666744" cy="658368"/>
          </a:xfrm>
          <a:prstGeom prst="rect">
            <a:avLst/>
          </a:prstGeom>
          <a:noFill/>
        </p:spPr>
        <p:txBody>
          <a:bodyPr wrap="none" lIns="0" rIns="0" tIns="0" bIns="0">
            <a:spAutoFit/>
          </a:bodyPr>
          <a:lstStyle/>
          <a:p>
            <a:pPr>
              <a:lnSpc>
                <a:spcPts val="2560"/>
              </a:lnSpc>
              <a:spcBef>
                <a:spcPts val="0"/>
              </a:spcBef>
              <a:spcAft>
                <a:spcPts val="0"/>
              </a:spcAft>
              <a:defRPr sz="2000" b="0">
                <a:solidFill>
                  <a:srgbClr val="152B3A"/>
                </a:solidFill>
                <a:latin typeface="Be Vietnam Pro"/>
              </a:defRPr>
            </a:pPr>
            <a:r>
              <a:t>RDF publication</a:t>
            </a:r>
          </a:p>
        </p:txBody>
      </p:sp>
      <p:sp>
        <p:nvSpPr>
          <p:cNvPr id="24" name="TextBox 23"/>
          <p:cNvSpPr txBox="1"/>
          <p:nvPr/>
        </p:nvSpPr>
        <p:spPr>
          <a:xfrm>
            <a:off x="5687568" y="4704588"/>
            <a:ext cx="8238744" cy="658368"/>
          </a:xfrm>
          <a:prstGeom prst="rect">
            <a:avLst/>
          </a:prstGeom>
          <a:noFill/>
        </p:spPr>
        <p:txBody>
          <a:bodyPr wrap="none" lIns="0" rIns="0" tIns="0" bIns="0">
            <a:spAutoFit/>
          </a:bodyPr>
          <a:lstStyle/>
          <a:p>
            <a:pPr>
              <a:lnSpc>
                <a:spcPts val="2560"/>
              </a:lnSpc>
              <a:spcBef>
                <a:spcPts val="0"/>
              </a:spcBef>
              <a:spcAft>
                <a:spcPts val="0"/>
              </a:spcAft>
              <a:defRPr sz="2000" b="0">
                <a:solidFill>
                  <a:srgbClr val="152B3A"/>
                </a:solidFill>
                <a:latin typeface="Be Vietnam Pro"/>
              </a:defRPr>
            </a:pPr>
            <a:r>
              <a:t>Canonical RDF / OWL 3.0.0</a:t>
            </a:r>
          </a:p>
        </p:txBody>
      </p:sp>
      <p:sp>
        <p:nvSpPr>
          <p:cNvPr id="25" name="Rectangle 24"/>
          <p:cNvSpPr/>
          <p:nvPr/>
        </p:nvSpPr>
        <p:spPr>
          <a:xfrm>
            <a:off x="731520" y="5422392"/>
            <a:ext cx="13304520" cy="777240"/>
          </a:xfrm>
          <a:prstGeom prst="rect">
            <a:avLst/>
          </a:prstGeom>
          <a:solidFill>
            <a:srgbClr val="E7EF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41248" y="5481828"/>
            <a:ext cx="740664" cy="658368"/>
          </a:xfrm>
          <a:prstGeom prst="rect">
            <a:avLst/>
          </a:prstGeom>
          <a:noFill/>
        </p:spPr>
        <p:txBody>
          <a:bodyPr wrap="none" lIns="0" rIns="0" tIns="0" bIns="0">
            <a:spAutoFit/>
          </a:bodyPr>
          <a:lstStyle/>
          <a:p>
            <a:pPr>
              <a:lnSpc>
                <a:spcPts val="2560"/>
              </a:lnSpc>
              <a:spcBef>
                <a:spcPts val="0"/>
              </a:spcBef>
              <a:spcAft>
                <a:spcPts val="0"/>
              </a:spcAft>
              <a:defRPr sz="2000" b="0">
                <a:solidFill>
                  <a:srgbClr val="152B3A"/>
                </a:solidFill>
                <a:latin typeface="Be Vietnam Pro"/>
              </a:defRPr>
            </a:pPr>
            <a:r>
              <a:t>R4</a:t>
            </a:r>
          </a:p>
        </p:txBody>
      </p:sp>
      <p:sp>
        <p:nvSpPr>
          <p:cNvPr id="27" name="TextBox 26"/>
          <p:cNvSpPr txBox="1"/>
          <p:nvPr/>
        </p:nvSpPr>
        <p:spPr>
          <a:xfrm>
            <a:off x="1801368" y="5481828"/>
            <a:ext cx="3666744" cy="658368"/>
          </a:xfrm>
          <a:prstGeom prst="rect">
            <a:avLst/>
          </a:prstGeom>
          <a:noFill/>
        </p:spPr>
        <p:txBody>
          <a:bodyPr wrap="none" lIns="0" rIns="0" tIns="0" bIns="0">
            <a:spAutoFit/>
          </a:bodyPr>
          <a:lstStyle/>
          <a:p>
            <a:pPr>
              <a:lnSpc>
                <a:spcPts val="2560"/>
              </a:lnSpc>
              <a:spcBef>
                <a:spcPts val="0"/>
              </a:spcBef>
              <a:spcAft>
                <a:spcPts val="0"/>
              </a:spcAft>
              <a:defRPr sz="2000" b="0">
                <a:solidFill>
                  <a:srgbClr val="152B3A"/>
                </a:solidFill>
                <a:latin typeface="Be Vietnam Pro"/>
              </a:defRPr>
            </a:pPr>
            <a:r>
              <a:t>Identity alignment</a:t>
            </a:r>
          </a:p>
        </p:txBody>
      </p:sp>
      <p:sp>
        <p:nvSpPr>
          <p:cNvPr id="28" name="TextBox 27"/>
          <p:cNvSpPr txBox="1"/>
          <p:nvPr/>
        </p:nvSpPr>
        <p:spPr>
          <a:xfrm>
            <a:off x="5687568" y="5481828"/>
            <a:ext cx="8238744" cy="658368"/>
          </a:xfrm>
          <a:prstGeom prst="rect">
            <a:avLst/>
          </a:prstGeom>
          <a:noFill/>
        </p:spPr>
        <p:txBody>
          <a:bodyPr wrap="none" lIns="0" rIns="0" tIns="0" bIns="0">
            <a:spAutoFit/>
          </a:bodyPr>
          <a:lstStyle/>
          <a:p>
            <a:pPr>
              <a:lnSpc>
                <a:spcPts val="2560"/>
              </a:lnSpc>
              <a:spcBef>
                <a:spcPts val="0"/>
              </a:spcBef>
              <a:spcAft>
                <a:spcPts val="0"/>
              </a:spcAft>
              <a:defRPr sz="2000" b="0">
                <a:solidFill>
                  <a:srgbClr val="152B3A"/>
                </a:solidFill>
                <a:latin typeface="Be Vietnam Pro"/>
              </a:defRPr>
            </a:pPr>
            <a:r>
              <a:t>1,699 Wikidata + 28 DBpedia links</a:t>
            </a:r>
          </a:p>
        </p:txBody>
      </p:sp>
      <p:sp>
        <p:nvSpPr>
          <p:cNvPr id="29" name="Rectangle 28"/>
          <p:cNvSpPr/>
          <p:nvPr/>
        </p:nvSpPr>
        <p:spPr>
          <a:xfrm>
            <a:off x="731520" y="6199631"/>
            <a:ext cx="13304520" cy="77724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841248" y="6259068"/>
            <a:ext cx="740664" cy="658368"/>
          </a:xfrm>
          <a:prstGeom prst="rect">
            <a:avLst/>
          </a:prstGeom>
          <a:noFill/>
        </p:spPr>
        <p:txBody>
          <a:bodyPr wrap="none" lIns="0" rIns="0" tIns="0" bIns="0">
            <a:spAutoFit/>
          </a:bodyPr>
          <a:lstStyle/>
          <a:p>
            <a:pPr>
              <a:lnSpc>
                <a:spcPts val="2560"/>
              </a:lnSpc>
              <a:spcBef>
                <a:spcPts val="0"/>
              </a:spcBef>
              <a:spcAft>
                <a:spcPts val="0"/>
              </a:spcAft>
              <a:defRPr sz="2000" b="0">
                <a:solidFill>
                  <a:srgbClr val="152B3A"/>
                </a:solidFill>
                <a:latin typeface="Be Vietnam Pro"/>
              </a:defRPr>
            </a:pPr>
            <a:r>
              <a:t>R5</a:t>
            </a:r>
          </a:p>
        </p:txBody>
      </p:sp>
      <p:sp>
        <p:nvSpPr>
          <p:cNvPr id="31" name="TextBox 30"/>
          <p:cNvSpPr txBox="1"/>
          <p:nvPr/>
        </p:nvSpPr>
        <p:spPr>
          <a:xfrm>
            <a:off x="1801368" y="6259068"/>
            <a:ext cx="3666744" cy="658368"/>
          </a:xfrm>
          <a:prstGeom prst="rect">
            <a:avLst/>
          </a:prstGeom>
          <a:noFill/>
        </p:spPr>
        <p:txBody>
          <a:bodyPr wrap="none" lIns="0" rIns="0" tIns="0" bIns="0">
            <a:spAutoFit/>
          </a:bodyPr>
          <a:lstStyle/>
          <a:p>
            <a:pPr>
              <a:lnSpc>
                <a:spcPts val="2560"/>
              </a:lnSpc>
              <a:spcBef>
                <a:spcPts val="0"/>
              </a:spcBef>
              <a:spcAft>
                <a:spcPts val="0"/>
              </a:spcAft>
              <a:defRPr sz="2000" b="0">
                <a:solidFill>
                  <a:srgbClr val="152B3A"/>
                </a:solidFill>
                <a:latin typeface="Be Vietnam Pro"/>
              </a:defRPr>
            </a:pPr>
            <a:r>
              <a:t>SPARQL access</a:t>
            </a:r>
          </a:p>
        </p:txBody>
      </p:sp>
      <p:sp>
        <p:nvSpPr>
          <p:cNvPr id="32" name="TextBox 31"/>
          <p:cNvSpPr txBox="1"/>
          <p:nvPr/>
        </p:nvSpPr>
        <p:spPr>
          <a:xfrm>
            <a:off x="5687568" y="6259068"/>
            <a:ext cx="8238744" cy="658368"/>
          </a:xfrm>
          <a:prstGeom prst="rect">
            <a:avLst/>
          </a:prstGeom>
          <a:noFill/>
        </p:spPr>
        <p:txBody>
          <a:bodyPr wrap="none" lIns="0" rIns="0" tIns="0" bIns="0">
            <a:spAutoFit/>
          </a:bodyPr>
          <a:lstStyle/>
          <a:p>
            <a:pPr>
              <a:lnSpc>
                <a:spcPts val="2560"/>
              </a:lnSpc>
              <a:spcBef>
                <a:spcPts val="0"/>
              </a:spcBef>
              <a:spcAft>
                <a:spcPts val="0"/>
              </a:spcAft>
              <a:defRPr sz="2000" b="0">
                <a:solidFill>
                  <a:srgbClr val="152B3A"/>
                </a:solidFill>
                <a:latin typeface="Be Vietnam Pro"/>
              </a:defRPr>
            </a:pPr>
            <a:r>
              <a:t>27 questions; source / inferred / named graph modes</a:t>
            </a:r>
          </a:p>
        </p:txBody>
      </p:sp>
      <p:sp>
        <p:nvSpPr>
          <p:cNvPr id="33" name="TextBox 32"/>
          <p:cNvSpPr txBox="1"/>
          <p:nvPr/>
        </p:nvSpPr>
        <p:spPr>
          <a:xfrm>
            <a:off x="777240" y="7242048"/>
            <a:ext cx="13075920" cy="411480"/>
          </a:xfrm>
          <a:prstGeom prst="rect">
            <a:avLst/>
          </a:prstGeom>
          <a:noFill/>
        </p:spPr>
        <p:txBody>
          <a:bodyPr wrap="none" lIns="0" rIns="0" tIns="0" bIns="0">
            <a:spAutoFit/>
          </a:bodyPr>
          <a:lstStyle/>
          <a:p>
            <a:pPr>
              <a:lnSpc>
                <a:spcPts val="1664"/>
              </a:lnSpc>
              <a:spcBef>
                <a:spcPts val="0"/>
              </a:spcBef>
              <a:spcAft>
                <a:spcPts val="0"/>
              </a:spcAft>
              <a:defRPr sz="1300" b="0">
                <a:solidFill>
                  <a:srgbClr val="506776"/>
                </a:solidFill>
                <a:latin typeface="Be Vietnam Pro"/>
              </a:defRPr>
            </a:pPr>
            <a:r>
              <a:t>Report: 15 pages · main slides: 24 · MP4 excluded by request. Examples: Inception and Nolan.</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3F6F7"/>
        </a:solidFill>
        <a:effectLst/>
      </p:bgPr>
    </p:bg>
    <p:spTree>
      <p:nvGrpSpPr>
        <p:cNvPr id="1" name=""/>
        <p:cNvGrpSpPr/>
        <p:nvPr/>
      </p:nvGrpSpPr>
      <p:grpSpPr/>
      <p:sp>
        <p:nvSpPr>
          <p:cNvPr id="2" name="Rectangle 1"/>
          <p:cNvSpPr/>
          <p:nvPr/>
        </p:nvSpPr>
        <p:spPr>
          <a:xfrm>
            <a:off x="0" y="0"/>
            <a:ext cx="118872" cy="8229600"/>
          </a:xfrm>
          <a:prstGeom prst="rect">
            <a:avLst/>
          </a:prstGeom>
          <a:solidFill>
            <a:srgbClr val="007F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1887200" cy="320040"/>
          </a:xfrm>
          <a:prstGeom prst="rect">
            <a:avLst/>
          </a:prstGeom>
          <a:noFill/>
        </p:spPr>
        <p:txBody>
          <a:bodyPr wrap="none" lIns="0" rIns="0" tIns="0" bIns="0">
            <a:spAutoFit/>
          </a:bodyPr>
          <a:lstStyle/>
          <a:p>
            <a:pPr>
              <a:lnSpc>
                <a:spcPts val="1536"/>
              </a:lnSpc>
              <a:spcBef>
                <a:spcPts val="0"/>
              </a:spcBef>
              <a:spcAft>
                <a:spcPts val="0"/>
              </a:spcAft>
              <a:defRPr sz="1200" b="1">
                <a:solidFill>
                  <a:srgbClr val="007F82"/>
                </a:solidFill>
                <a:latin typeface="Be Vietnam Pro"/>
              </a:defRPr>
            </a:pPr>
            <a:r>
              <a:t>MOVIELOD / SEMANTIC WEB / ONTOLOGY 3.0.0</a:t>
            </a:r>
          </a:p>
        </p:txBody>
      </p:sp>
      <p:sp>
        <p:nvSpPr>
          <p:cNvPr id="4" name="TextBox 3"/>
          <p:cNvSpPr txBox="1"/>
          <p:nvPr/>
        </p:nvSpPr>
        <p:spPr>
          <a:xfrm>
            <a:off x="594360" y="868680"/>
            <a:ext cx="13441680" cy="822960"/>
          </a:xfrm>
          <a:prstGeom prst="rect">
            <a:avLst/>
          </a:prstGeom>
          <a:noFill/>
        </p:spPr>
        <p:txBody>
          <a:bodyPr wrap="none" lIns="0" rIns="0" tIns="0" bIns="0">
            <a:spAutoFit/>
          </a:bodyPr>
          <a:lstStyle/>
          <a:p>
            <a:pPr>
              <a:lnSpc>
                <a:spcPts val="4352"/>
              </a:lnSpc>
              <a:spcBef>
                <a:spcPts val="0"/>
              </a:spcBef>
              <a:spcAft>
                <a:spcPts val="0"/>
              </a:spcAft>
              <a:defRPr sz="3400" b="1">
                <a:solidFill>
                  <a:srgbClr val="152B3A"/>
                </a:solidFill>
                <a:latin typeface="Be Vietnam Pro"/>
              </a:defRPr>
            </a:pPr>
            <a:r>
              <a:t>Architecture and knowledge layers</a:t>
            </a:r>
          </a:p>
        </p:txBody>
      </p:sp>
      <p:sp>
        <p:nvSpPr>
          <p:cNvPr id="5" name="TextBox 4"/>
          <p:cNvSpPr txBox="1"/>
          <p:nvPr/>
        </p:nvSpPr>
        <p:spPr>
          <a:xfrm>
            <a:off x="612648" y="1719072"/>
            <a:ext cx="13350240" cy="548640"/>
          </a:xfrm>
          <a:prstGeom prst="rect">
            <a:avLst/>
          </a:prstGeom>
          <a:noFill/>
        </p:spPr>
        <p:txBody>
          <a:bodyPr wrap="none" lIns="0" rIns="0" tIns="0" bIns="0">
            <a:spAutoFit/>
          </a:bodyPr>
          <a:lstStyle/>
          <a:p>
            <a:pPr>
              <a:lnSpc>
                <a:spcPts val="2176"/>
              </a:lnSpc>
              <a:spcBef>
                <a:spcPts val="0"/>
              </a:spcBef>
              <a:spcAft>
                <a:spcPts val="0"/>
              </a:spcAft>
              <a:defRPr sz="1700" b="0">
                <a:solidFill>
                  <a:srgbClr val="506776"/>
                </a:solidFill>
                <a:latin typeface="Be Vietnam Pro"/>
              </a:defRPr>
            </a:pPr>
            <a:r>
              <a:t>One reproducible pipeline across every interface</a:t>
            </a:r>
          </a:p>
        </p:txBody>
      </p:sp>
      <p:sp>
        <p:nvSpPr>
          <p:cNvPr id="6" name="Rectangle 5"/>
          <p:cNvSpPr/>
          <p:nvPr/>
        </p:nvSpPr>
        <p:spPr>
          <a:xfrm>
            <a:off x="594360" y="7708392"/>
            <a:ext cx="13441680" cy="9144"/>
          </a:xfrm>
          <a:prstGeom prst="rect">
            <a:avLst/>
          </a:prstGeom>
          <a:solidFill>
            <a:srgbClr val="DDE6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94360" y="7845552"/>
            <a:ext cx="11887200" cy="201168"/>
          </a:xfrm>
          <a:prstGeom prst="rect">
            <a:avLst/>
          </a:prstGeom>
          <a:noFill/>
        </p:spPr>
        <p:txBody>
          <a:bodyPr wrap="none" lIns="0" rIns="0" tIns="0" bIns="0">
            <a:spAutoFit/>
          </a:bodyPr>
          <a:lstStyle/>
          <a:p>
            <a:pPr>
              <a:lnSpc>
                <a:spcPts val="1280"/>
              </a:lnSpc>
              <a:spcBef>
                <a:spcPts val="0"/>
              </a:spcBef>
              <a:spcAft>
                <a:spcPts val="0"/>
              </a:spcAft>
              <a:defRPr sz="1000" b="0">
                <a:solidFill>
                  <a:srgbClr val="506776"/>
                </a:solidFill>
                <a:latin typeface="Be Vietnam Pro"/>
              </a:defRPr>
            </a:pPr>
            <a:r>
              <a:t>Data checked: 09 Oct 2026 • Sources: project code and evidence/</a:t>
            </a:r>
          </a:p>
        </p:txBody>
      </p:sp>
      <p:sp>
        <p:nvSpPr>
          <p:cNvPr id="8" name="TextBox 7"/>
          <p:cNvSpPr txBox="1"/>
          <p:nvPr/>
        </p:nvSpPr>
        <p:spPr>
          <a:xfrm>
            <a:off x="13258800" y="7818120"/>
            <a:ext cx="914400" cy="274320"/>
          </a:xfrm>
          <a:prstGeom prst="rect">
            <a:avLst/>
          </a:prstGeom>
          <a:noFill/>
        </p:spPr>
        <p:txBody>
          <a:bodyPr wrap="none" lIns="0" rIns="0" tIns="0" bIns="0">
            <a:spAutoFit/>
          </a:bodyPr>
          <a:lstStyle/>
          <a:p>
            <a:pPr>
              <a:lnSpc>
                <a:spcPts val="1536"/>
              </a:lnSpc>
              <a:spcBef>
                <a:spcPts val="0"/>
              </a:spcBef>
              <a:spcAft>
                <a:spcPts val="0"/>
              </a:spcAft>
              <a:defRPr sz="1200" b="1">
                <a:solidFill>
                  <a:srgbClr val="007F82"/>
                </a:solidFill>
                <a:latin typeface="Be Vietnam Pro"/>
              </a:defRPr>
            </a:pPr>
            <a:r>
              <a:t>03 / 13</a:t>
            </a:r>
          </a:p>
        </p:txBody>
      </p:sp>
      <p:sp>
        <p:nvSpPr>
          <p:cNvPr id="9" name="Rounded Rectangle 8"/>
          <p:cNvSpPr/>
          <p:nvPr/>
        </p:nvSpPr>
        <p:spPr>
          <a:xfrm>
            <a:off x="731520" y="2697480"/>
            <a:ext cx="3136392" cy="278892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31520" y="2697480"/>
            <a:ext cx="45720" cy="2788920"/>
          </a:xfrm>
          <a:prstGeom prst="rect">
            <a:avLst/>
          </a:prstGeom>
          <a:solidFill>
            <a:srgbClr val="007F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60120" y="2880360"/>
            <a:ext cx="2679192" cy="640080"/>
          </a:xfrm>
          <a:prstGeom prst="rect">
            <a:avLst/>
          </a:prstGeom>
          <a:noFill/>
        </p:spPr>
        <p:txBody>
          <a:bodyPr wrap="none" lIns="0" rIns="0" tIns="0" bIns="0">
            <a:spAutoFit/>
          </a:bodyPr>
          <a:lstStyle/>
          <a:p>
            <a:pPr>
              <a:lnSpc>
                <a:spcPts val="3840"/>
              </a:lnSpc>
              <a:spcBef>
                <a:spcPts val="0"/>
              </a:spcBef>
              <a:spcAft>
                <a:spcPts val="0"/>
              </a:spcAft>
              <a:defRPr sz="3000" b="1">
                <a:solidFill>
                  <a:srgbClr val="007F82"/>
                </a:solidFill>
                <a:latin typeface="Be Vietnam Pro"/>
              </a:defRPr>
            </a:pPr>
            <a:r>
              <a:t>01</a:t>
            </a:r>
          </a:p>
        </p:txBody>
      </p:sp>
      <p:sp>
        <p:nvSpPr>
          <p:cNvPr id="12" name="TextBox 11"/>
          <p:cNvSpPr txBox="1"/>
          <p:nvPr/>
        </p:nvSpPr>
        <p:spPr>
          <a:xfrm>
            <a:off x="960120" y="3611880"/>
            <a:ext cx="2679192" cy="640080"/>
          </a:xfrm>
          <a:prstGeom prst="rect">
            <a:avLst/>
          </a:prstGeom>
          <a:noFill/>
        </p:spPr>
        <p:txBody>
          <a:bodyPr wrap="none" lIns="0" rIns="0" tIns="0" bIns="0">
            <a:spAutoFit/>
          </a:bodyPr>
          <a:lstStyle/>
          <a:p>
            <a:pPr>
              <a:lnSpc>
                <a:spcPts val="2688"/>
              </a:lnSpc>
              <a:spcBef>
                <a:spcPts val="0"/>
              </a:spcBef>
              <a:spcAft>
                <a:spcPts val="0"/>
              </a:spcAft>
              <a:defRPr sz="2100" b="1">
                <a:solidFill>
                  <a:srgbClr val="152B3A"/>
                </a:solidFill>
                <a:latin typeface="Be Vietnam Pro"/>
              </a:defRPr>
            </a:pPr>
            <a:r>
              <a:t>SOURCE FACTS</a:t>
            </a:r>
          </a:p>
        </p:txBody>
      </p:sp>
      <p:sp>
        <p:nvSpPr>
          <p:cNvPr id="13" name="TextBox 12"/>
          <p:cNvSpPr txBox="1"/>
          <p:nvPr/>
        </p:nvSpPr>
        <p:spPr>
          <a:xfrm>
            <a:off x="960120" y="4325112"/>
            <a:ext cx="2679192" cy="1051560"/>
          </a:xfrm>
          <a:prstGeom prst="rect">
            <a:avLst/>
          </a:prstGeom>
          <a:noFill/>
        </p:spPr>
        <p:txBody>
          <a:bodyPr wrap="none" lIns="0" rIns="0" tIns="0" bIns="0">
            <a:spAutoFit/>
          </a:bodyPr>
          <a:lstStyle/>
          <a:p>
            <a:pPr>
              <a:lnSpc>
                <a:spcPts val="2176"/>
              </a:lnSpc>
              <a:spcBef>
                <a:spcPts val="0"/>
              </a:spcBef>
              <a:spcAft>
                <a:spcPts val="0"/>
              </a:spcAft>
              <a:defRPr sz="1700" b="0">
                <a:solidFill>
                  <a:srgbClr val="506776"/>
                </a:solidFill>
                <a:latin typeface="Be Vietnam Pro"/>
              </a:defRPr>
            </a:pPr>
            <a:r>
              <a:t>76 retained responses</a:t>
            </a:r>
          </a:p>
          <a:p>
            <a:pPr>
              <a:lnSpc>
                <a:spcPts val="2176"/>
              </a:lnSpc>
              <a:spcBef>
                <a:spcPts val="0"/>
              </a:spcBef>
              <a:spcAft>
                <a:spcPts val="0"/>
              </a:spcAft>
              <a:defRPr sz="1700" b="0">
                <a:solidFill>
                  <a:srgbClr val="506776"/>
                </a:solidFill>
                <a:latin typeface="Be Vietnam Pro"/>
              </a:defRPr>
            </a:pPr>
            <a:r>
              <a:t>+ provenance</a:t>
            </a:r>
          </a:p>
        </p:txBody>
      </p:sp>
      <p:sp>
        <p:nvSpPr>
          <p:cNvPr id="14" name="Rounded Rectangle 13"/>
          <p:cNvSpPr/>
          <p:nvPr/>
        </p:nvSpPr>
        <p:spPr>
          <a:xfrm>
            <a:off x="4133088" y="2697480"/>
            <a:ext cx="3136392" cy="278892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4133088" y="2697480"/>
            <a:ext cx="45720" cy="2788920"/>
          </a:xfrm>
          <a:prstGeom prst="rect">
            <a:avLst/>
          </a:prstGeom>
          <a:solidFill>
            <a:srgbClr val="007F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361688" y="2880360"/>
            <a:ext cx="2679192" cy="640080"/>
          </a:xfrm>
          <a:prstGeom prst="rect">
            <a:avLst/>
          </a:prstGeom>
          <a:noFill/>
        </p:spPr>
        <p:txBody>
          <a:bodyPr wrap="none" lIns="0" rIns="0" tIns="0" bIns="0">
            <a:spAutoFit/>
          </a:bodyPr>
          <a:lstStyle/>
          <a:p>
            <a:pPr>
              <a:lnSpc>
                <a:spcPts val="3840"/>
              </a:lnSpc>
              <a:spcBef>
                <a:spcPts val="0"/>
              </a:spcBef>
              <a:spcAft>
                <a:spcPts val="0"/>
              </a:spcAft>
              <a:defRPr sz="3000" b="1">
                <a:solidFill>
                  <a:srgbClr val="007F82"/>
                </a:solidFill>
                <a:latin typeface="Be Vietnam Pro"/>
              </a:defRPr>
            </a:pPr>
            <a:r>
              <a:t>02</a:t>
            </a:r>
          </a:p>
        </p:txBody>
      </p:sp>
      <p:sp>
        <p:nvSpPr>
          <p:cNvPr id="17" name="TextBox 16"/>
          <p:cNvSpPr txBox="1"/>
          <p:nvPr/>
        </p:nvSpPr>
        <p:spPr>
          <a:xfrm>
            <a:off x="4361688" y="3611880"/>
            <a:ext cx="2679192" cy="640080"/>
          </a:xfrm>
          <a:prstGeom prst="rect">
            <a:avLst/>
          </a:prstGeom>
          <a:noFill/>
        </p:spPr>
        <p:txBody>
          <a:bodyPr wrap="none" lIns="0" rIns="0" tIns="0" bIns="0">
            <a:spAutoFit/>
          </a:bodyPr>
          <a:lstStyle/>
          <a:p>
            <a:pPr>
              <a:lnSpc>
                <a:spcPts val="2688"/>
              </a:lnSpc>
              <a:spcBef>
                <a:spcPts val="0"/>
              </a:spcBef>
              <a:spcAft>
                <a:spcPts val="0"/>
              </a:spcAft>
              <a:defRPr sz="2100" b="1">
                <a:solidFill>
                  <a:srgbClr val="152B3A"/>
                </a:solidFill>
                <a:latin typeface="Be Vietnam Pro"/>
              </a:defRPr>
            </a:pPr>
            <a:r>
              <a:t>BUILD 3.0.0</a:t>
            </a:r>
          </a:p>
        </p:txBody>
      </p:sp>
      <p:sp>
        <p:nvSpPr>
          <p:cNvPr id="18" name="TextBox 17"/>
          <p:cNvSpPr txBox="1"/>
          <p:nvPr/>
        </p:nvSpPr>
        <p:spPr>
          <a:xfrm>
            <a:off x="4361688" y="4325112"/>
            <a:ext cx="2679192" cy="1051560"/>
          </a:xfrm>
          <a:prstGeom prst="rect">
            <a:avLst/>
          </a:prstGeom>
          <a:noFill/>
        </p:spPr>
        <p:txBody>
          <a:bodyPr wrap="none" lIns="0" rIns="0" tIns="0" bIns="0">
            <a:spAutoFit/>
          </a:bodyPr>
          <a:lstStyle/>
          <a:p>
            <a:pPr>
              <a:lnSpc>
                <a:spcPts val="2176"/>
              </a:lnSpc>
              <a:spcBef>
                <a:spcPts val="0"/>
              </a:spcBef>
              <a:spcAft>
                <a:spcPts val="0"/>
              </a:spcAft>
              <a:defRPr sz="1700" b="0">
                <a:solidFill>
                  <a:srgbClr val="506776"/>
                </a:solidFill>
                <a:latin typeface="Be Vietnam Pro"/>
              </a:defRPr>
            </a:pPr>
            <a:r>
              <a:t>Canonical RDF / OWL</a:t>
            </a:r>
          </a:p>
          <a:p>
            <a:pPr>
              <a:lnSpc>
                <a:spcPts val="2176"/>
              </a:lnSpc>
              <a:spcBef>
                <a:spcPts val="0"/>
              </a:spcBef>
              <a:spcAft>
                <a:spcPts val="0"/>
              </a:spcAft>
              <a:defRPr sz="1700" b="0">
                <a:solidFill>
                  <a:srgbClr val="506776"/>
                </a:solidFill>
                <a:latin typeface="Be Vietnam Pro"/>
              </a:defRPr>
            </a:pPr>
            <a:r>
              <a:t>+ resource pages</a:t>
            </a:r>
          </a:p>
        </p:txBody>
      </p:sp>
      <p:sp>
        <p:nvSpPr>
          <p:cNvPr id="19" name="Rounded Rectangle 18"/>
          <p:cNvSpPr/>
          <p:nvPr/>
        </p:nvSpPr>
        <p:spPr>
          <a:xfrm>
            <a:off x="7534656" y="2697480"/>
            <a:ext cx="3136392" cy="278892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7534656" y="2697480"/>
            <a:ext cx="45720" cy="2788920"/>
          </a:xfrm>
          <a:prstGeom prst="rect">
            <a:avLst/>
          </a:prstGeom>
          <a:solidFill>
            <a:srgbClr val="007F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763256" y="2880360"/>
            <a:ext cx="2679192" cy="640080"/>
          </a:xfrm>
          <a:prstGeom prst="rect">
            <a:avLst/>
          </a:prstGeom>
          <a:noFill/>
        </p:spPr>
        <p:txBody>
          <a:bodyPr wrap="none" lIns="0" rIns="0" tIns="0" bIns="0">
            <a:spAutoFit/>
          </a:bodyPr>
          <a:lstStyle/>
          <a:p>
            <a:pPr>
              <a:lnSpc>
                <a:spcPts val="3840"/>
              </a:lnSpc>
              <a:spcBef>
                <a:spcPts val="0"/>
              </a:spcBef>
              <a:spcAft>
                <a:spcPts val="0"/>
              </a:spcAft>
              <a:defRPr sz="3000" b="1">
                <a:solidFill>
                  <a:srgbClr val="007F82"/>
                </a:solidFill>
                <a:latin typeface="Be Vietnam Pro"/>
              </a:defRPr>
            </a:pPr>
            <a:r>
              <a:t>03</a:t>
            </a:r>
          </a:p>
        </p:txBody>
      </p:sp>
      <p:sp>
        <p:nvSpPr>
          <p:cNvPr id="22" name="TextBox 21"/>
          <p:cNvSpPr txBox="1"/>
          <p:nvPr/>
        </p:nvSpPr>
        <p:spPr>
          <a:xfrm>
            <a:off x="7763256" y="3611880"/>
            <a:ext cx="2679192" cy="640080"/>
          </a:xfrm>
          <a:prstGeom prst="rect">
            <a:avLst/>
          </a:prstGeom>
          <a:noFill/>
        </p:spPr>
        <p:txBody>
          <a:bodyPr wrap="none" lIns="0" rIns="0" tIns="0" bIns="0">
            <a:spAutoFit/>
          </a:bodyPr>
          <a:lstStyle/>
          <a:p>
            <a:pPr>
              <a:lnSpc>
                <a:spcPts val="2688"/>
              </a:lnSpc>
              <a:spcBef>
                <a:spcPts val="0"/>
              </a:spcBef>
              <a:spcAft>
                <a:spcPts val="0"/>
              </a:spcAft>
              <a:defRPr sz="2100" b="1">
                <a:solidFill>
                  <a:srgbClr val="152B3A"/>
                </a:solidFill>
                <a:latin typeface="Be Vietnam Pro"/>
              </a:defRPr>
            </a:pPr>
            <a:r>
              <a:t>REASON / CHECK</a:t>
            </a:r>
          </a:p>
        </p:txBody>
      </p:sp>
      <p:sp>
        <p:nvSpPr>
          <p:cNvPr id="23" name="TextBox 22"/>
          <p:cNvSpPr txBox="1"/>
          <p:nvPr/>
        </p:nvSpPr>
        <p:spPr>
          <a:xfrm>
            <a:off x="7763256" y="4325112"/>
            <a:ext cx="2679192" cy="1051560"/>
          </a:xfrm>
          <a:prstGeom prst="rect">
            <a:avLst/>
          </a:prstGeom>
          <a:noFill/>
        </p:spPr>
        <p:txBody>
          <a:bodyPr wrap="none" lIns="0" rIns="0" tIns="0" bIns="0">
            <a:spAutoFit/>
          </a:bodyPr>
          <a:lstStyle/>
          <a:p>
            <a:pPr>
              <a:lnSpc>
                <a:spcPts val="2176"/>
              </a:lnSpc>
              <a:spcBef>
                <a:spcPts val="0"/>
              </a:spcBef>
              <a:spcAft>
                <a:spcPts val="0"/>
              </a:spcAft>
              <a:defRPr sz="1700" b="0">
                <a:solidFill>
                  <a:srgbClr val="506776"/>
                </a:solidFill>
                <a:latin typeface="Be Vietnam Pro"/>
              </a:defRPr>
            </a:pPr>
            <a:r>
              <a:t>HermiT + OWL RL</a:t>
            </a:r>
          </a:p>
          <a:p>
            <a:pPr>
              <a:lnSpc>
                <a:spcPts val="2176"/>
              </a:lnSpc>
              <a:spcBef>
                <a:spcPts val="0"/>
              </a:spcBef>
              <a:spcAft>
                <a:spcPts val="0"/>
              </a:spcAft>
              <a:defRPr sz="1700" b="0">
                <a:solidFill>
                  <a:srgbClr val="506776"/>
                </a:solidFill>
                <a:latin typeface="Be Vietnam Pro"/>
              </a:defRPr>
            </a:pPr>
            <a:r>
              <a:t>27 query checks</a:t>
            </a:r>
          </a:p>
        </p:txBody>
      </p:sp>
      <p:sp>
        <p:nvSpPr>
          <p:cNvPr id="24" name="Rounded Rectangle 23"/>
          <p:cNvSpPr/>
          <p:nvPr/>
        </p:nvSpPr>
        <p:spPr>
          <a:xfrm>
            <a:off x="10936224" y="2697480"/>
            <a:ext cx="3136392" cy="278892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10936224" y="2697480"/>
            <a:ext cx="45720" cy="2788920"/>
          </a:xfrm>
          <a:prstGeom prst="rect">
            <a:avLst/>
          </a:prstGeom>
          <a:solidFill>
            <a:srgbClr val="007F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11164824" y="2880360"/>
            <a:ext cx="2679192" cy="640080"/>
          </a:xfrm>
          <a:prstGeom prst="rect">
            <a:avLst/>
          </a:prstGeom>
          <a:noFill/>
        </p:spPr>
        <p:txBody>
          <a:bodyPr wrap="none" lIns="0" rIns="0" tIns="0" bIns="0">
            <a:spAutoFit/>
          </a:bodyPr>
          <a:lstStyle/>
          <a:p>
            <a:pPr>
              <a:lnSpc>
                <a:spcPts val="3840"/>
              </a:lnSpc>
              <a:spcBef>
                <a:spcPts val="0"/>
              </a:spcBef>
              <a:spcAft>
                <a:spcPts val="0"/>
              </a:spcAft>
              <a:defRPr sz="3000" b="1">
                <a:solidFill>
                  <a:srgbClr val="007F82"/>
                </a:solidFill>
                <a:latin typeface="Be Vietnam Pro"/>
              </a:defRPr>
            </a:pPr>
            <a:r>
              <a:t>04</a:t>
            </a:r>
          </a:p>
        </p:txBody>
      </p:sp>
      <p:sp>
        <p:nvSpPr>
          <p:cNvPr id="27" name="TextBox 26"/>
          <p:cNvSpPr txBox="1"/>
          <p:nvPr/>
        </p:nvSpPr>
        <p:spPr>
          <a:xfrm>
            <a:off x="11164824" y="3611880"/>
            <a:ext cx="2679192" cy="640080"/>
          </a:xfrm>
          <a:prstGeom prst="rect">
            <a:avLst/>
          </a:prstGeom>
          <a:noFill/>
        </p:spPr>
        <p:txBody>
          <a:bodyPr wrap="none" lIns="0" rIns="0" tIns="0" bIns="0">
            <a:spAutoFit/>
          </a:bodyPr>
          <a:lstStyle/>
          <a:p>
            <a:pPr>
              <a:lnSpc>
                <a:spcPts val="2688"/>
              </a:lnSpc>
              <a:spcBef>
                <a:spcPts val="0"/>
              </a:spcBef>
              <a:spcAft>
                <a:spcPts val="0"/>
              </a:spcAft>
              <a:defRPr sz="2100" b="1">
                <a:solidFill>
                  <a:srgbClr val="152B3A"/>
                </a:solidFill>
                <a:latin typeface="Be Vietnam Pro"/>
              </a:defRPr>
            </a:pPr>
            <a:r>
              <a:t>QUERY MODES</a:t>
            </a:r>
          </a:p>
        </p:txBody>
      </p:sp>
      <p:sp>
        <p:nvSpPr>
          <p:cNvPr id="28" name="TextBox 27"/>
          <p:cNvSpPr txBox="1"/>
          <p:nvPr/>
        </p:nvSpPr>
        <p:spPr>
          <a:xfrm>
            <a:off x="11164824" y="4325112"/>
            <a:ext cx="2679192" cy="1051560"/>
          </a:xfrm>
          <a:prstGeom prst="rect">
            <a:avLst/>
          </a:prstGeom>
          <a:noFill/>
        </p:spPr>
        <p:txBody>
          <a:bodyPr wrap="none" lIns="0" rIns="0" tIns="0" bIns="0">
            <a:spAutoFit/>
          </a:bodyPr>
          <a:lstStyle/>
          <a:p>
            <a:pPr>
              <a:lnSpc>
                <a:spcPts val="2176"/>
              </a:lnSpc>
              <a:spcBef>
                <a:spcPts val="0"/>
              </a:spcBef>
              <a:spcAft>
                <a:spcPts val="0"/>
              </a:spcAft>
              <a:defRPr sz="1700" b="0">
                <a:solidFill>
                  <a:srgbClr val="506776"/>
                </a:solidFill>
                <a:latin typeface="Be Vietnam Pro"/>
              </a:defRPr>
            </a:pPr>
            <a:r>
              <a:t>Source / inference</a:t>
            </a:r>
          </a:p>
          <a:p>
            <a:pPr>
              <a:lnSpc>
                <a:spcPts val="2176"/>
              </a:lnSpc>
              <a:spcBef>
                <a:spcPts val="0"/>
              </a:spcBef>
              <a:spcAft>
                <a:spcPts val="0"/>
              </a:spcAft>
              <a:defRPr sz="1700" b="0">
                <a:solidFill>
                  <a:srgbClr val="506776"/>
                </a:solidFill>
                <a:latin typeface="Be Vietnam Pro"/>
              </a:defRPr>
            </a:pPr>
            <a:r>
              <a:t>Before / after</a:t>
            </a:r>
          </a:p>
        </p:txBody>
      </p:sp>
      <p:sp>
        <p:nvSpPr>
          <p:cNvPr id="29" name="Rounded Rectangle 28"/>
          <p:cNvSpPr/>
          <p:nvPr/>
        </p:nvSpPr>
        <p:spPr>
          <a:xfrm>
            <a:off x="731520" y="5806440"/>
            <a:ext cx="13304520" cy="1115568"/>
          </a:xfrm>
          <a:prstGeom prst="roundRect">
            <a:avLst/>
          </a:prstGeom>
          <a:solidFill>
            <a:srgbClr val="007F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960120" y="5971032"/>
            <a:ext cx="12801600" cy="841248"/>
          </a:xfrm>
          <a:prstGeom prst="rect">
            <a:avLst/>
          </a:prstGeom>
          <a:noFill/>
        </p:spPr>
        <p:txBody>
          <a:bodyPr wrap="none" lIns="0" rIns="0" tIns="0" bIns="0">
            <a:spAutoFit/>
          </a:bodyPr>
          <a:lstStyle/>
          <a:p>
            <a:pPr>
              <a:lnSpc>
                <a:spcPts val="2304"/>
              </a:lnSpc>
              <a:spcBef>
                <a:spcPts val="0"/>
              </a:spcBef>
              <a:spcAft>
                <a:spcPts val="0"/>
              </a:spcAft>
              <a:defRPr sz="1800" b="1">
                <a:solidFill>
                  <a:srgbClr val="FFFFFF"/>
                </a:solidFill>
                <a:latin typeface="Be Vietnam Pro"/>
              </a:defRPr>
            </a:pPr>
            <a:r>
              <a:t>NEW MODEL: asserted.ttl + schema.ttl + inferred.ttl; query 27 uses before_after.trig.</a:t>
            </a:r>
          </a:p>
          <a:p>
            <a:pPr>
              <a:lnSpc>
                <a:spcPts val="2304"/>
              </a:lnSpc>
              <a:spcBef>
                <a:spcPts val="0"/>
              </a:spcBef>
              <a:spcAft>
                <a:spcPts val="0"/>
              </a:spcAft>
              <a:defRPr sz="1800" b="1">
                <a:solidFill>
                  <a:srgbClr val="FFFFFF"/>
                </a:solidFill>
                <a:latin typeface="Be Vietnam Pro"/>
              </a:defRPr>
            </a:pPr>
            <a:r>
              <a:t>APPLICATION: Flask / RDFLib / Comunica share the canonical version-3 graph exports.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3F6F7"/>
        </a:solidFill>
        <a:effectLst/>
      </p:bgPr>
    </p:bg>
    <p:spTree>
      <p:nvGrpSpPr>
        <p:cNvPr id="1" name=""/>
        <p:cNvGrpSpPr/>
        <p:nvPr/>
      </p:nvGrpSpPr>
      <p:grpSpPr/>
      <p:sp>
        <p:nvSpPr>
          <p:cNvPr id="2" name="Rectangle 1"/>
          <p:cNvSpPr/>
          <p:nvPr/>
        </p:nvSpPr>
        <p:spPr>
          <a:xfrm>
            <a:off x="0" y="0"/>
            <a:ext cx="118872" cy="8229600"/>
          </a:xfrm>
          <a:prstGeom prst="rect">
            <a:avLst/>
          </a:prstGeom>
          <a:solidFill>
            <a:srgbClr val="007F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1887200" cy="320040"/>
          </a:xfrm>
          <a:prstGeom prst="rect">
            <a:avLst/>
          </a:prstGeom>
          <a:noFill/>
        </p:spPr>
        <p:txBody>
          <a:bodyPr wrap="none" lIns="0" rIns="0" tIns="0" bIns="0">
            <a:spAutoFit/>
          </a:bodyPr>
          <a:lstStyle/>
          <a:p>
            <a:pPr>
              <a:lnSpc>
                <a:spcPts val="1536"/>
              </a:lnSpc>
              <a:spcBef>
                <a:spcPts val="0"/>
              </a:spcBef>
              <a:spcAft>
                <a:spcPts val="0"/>
              </a:spcAft>
              <a:defRPr sz="1200" b="1">
                <a:solidFill>
                  <a:srgbClr val="007F82"/>
                </a:solidFill>
                <a:latin typeface="Be Vietnam Pro"/>
              </a:defRPr>
            </a:pPr>
            <a:r>
              <a:t>MOVIELOD / SEMANTIC WEB / ONTOLOGY 3.0.0</a:t>
            </a:r>
          </a:p>
        </p:txBody>
      </p:sp>
      <p:sp>
        <p:nvSpPr>
          <p:cNvPr id="4" name="TextBox 3"/>
          <p:cNvSpPr txBox="1"/>
          <p:nvPr/>
        </p:nvSpPr>
        <p:spPr>
          <a:xfrm>
            <a:off x="594360" y="868680"/>
            <a:ext cx="13441680" cy="822960"/>
          </a:xfrm>
          <a:prstGeom prst="rect">
            <a:avLst/>
          </a:prstGeom>
          <a:noFill/>
        </p:spPr>
        <p:txBody>
          <a:bodyPr wrap="none" lIns="0" rIns="0" tIns="0" bIns="0">
            <a:spAutoFit/>
          </a:bodyPr>
          <a:lstStyle/>
          <a:p>
            <a:pPr>
              <a:lnSpc>
                <a:spcPts val="4352"/>
              </a:lnSpc>
              <a:spcBef>
                <a:spcPts val="0"/>
              </a:spcBef>
              <a:spcAft>
                <a:spcPts val="0"/>
              </a:spcAft>
              <a:defRPr sz="3400" b="1">
                <a:solidFill>
                  <a:srgbClr val="152B3A"/>
                </a:solidFill>
                <a:latin typeface="Be Vietnam Pro"/>
              </a:defRPr>
            </a:pPr>
            <a:r>
              <a:t>Dataset: units and counting scope</a:t>
            </a:r>
          </a:p>
        </p:txBody>
      </p:sp>
      <p:sp>
        <p:nvSpPr>
          <p:cNvPr id="5" name="TextBox 4"/>
          <p:cNvSpPr txBox="1"/>
          <p:nvPr/>
        </p:nvSpPr>
        <p:spPr>
          <a:xfrm>
            <a:off x="612648" y="1719072"/>
            <a:ext cx="13350240" cy="548640"/>
          </a:xfrm>
          <a:prstGeom prst="rect">
            <a:avLst/>
          </a:prstGeom>
          <a:noFill/>
        </p:spPr>
        <p:txBody>
          <a:bodyPr wrap="none" lIns="0" rIns="0" tIns="0" bIns="0">
            <a:spAutoFit/>
          </a:bodyPr>
          <a:lstStyle/>
          <a:p>
            <a:pPr>
              <a:lnSpc>
                <a:spcPts val="2176"/>
              </a:lnSpc>
              <a:spcBef>
                <a:spcPts val="0"/>
              </a:spcBef>
              <a:spcAft>
                <a:spcPts val="0"/>
              </a:spcAft>
              <a:defRPr sz="1700" b="0">
                <a:solidFill>
                  <a:srgbClr val="506776"/>
                </a:solidFill>
                <a:latin typeface="Be Vietnam Pro"/>
              </a:defRPr>
            </a:pPr>
            <a:r>
              <a:t>Final OWL: 19,025 triples including schema and asserted facts</a:t>
            </a:r>
          </a:p>
        </p:txBody>
      </p:sp>
      <p:sp>
        <p:nvSpPr>
          <p:cNvPr id="6" name="Rectangle 5"/>
          <p:cNvSpPr/>
          <p:nvPr/>
        </p:nvSpPr>
        <p:spPr>
          <a:xfrm>
            <a:off x="594360" y="7708392"/>
            <a:ext cx="13441680" cy="9144"/>
          </a:xfrm>
          <a:prstGeom prst="rect">
            <a:avLst/>
          </a:prstGeom>
          <a:solidFill>
            <a:srgbClr val="DDE6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94360" y="7845552"/>
            <a:ext cx="11887200" cy="201168"/>
          </a:xfrm>
          <a:prstGeom prst="rect">
            <a:avLst/>
          </a:prstGeom>
          <a:noFill/>
        </p:spPr>
        <p:txBody>
          <a:bodyPr wrap="none" lIns="0" rIns="0" tIns="0" bIns="0">
            <a:spAutoFit/>
          </a:bodyPr>
          <a:lstStyle/>
          <a:p>
            <a:pPr>
              <a:lnSpc>
                <a:spcPts val="1280"/>
              </a:lnSpc>
              <a:spcBef>
                <a:spcPts val="0"/>
              </a:spcBef>
              <a:spcAft>
                <a:spcPts val="0"/>
              </a:spcAft>
              <a:defRPr sz="1000" b="0">
                <a:solidFill>
                  <a:srgbClr val="506776"/>
                </a:solidFill>
                <a:latin typeface="Be Vietnam Pro"/>
              </a:defRPr>
            </a:pPr>
            <a:r>
              <a:t>Data checked: 09 Oct 2026 • Sources: project code and evidence/</a:t>
            </a:r>
          </a:p>
        </p:txBody>
      </p:sp>
      <p:sp>
        <p:nvSpPr>
          <p:cNvPr id="8" name="TextBox 7"/>
          <p:cNvSpPr txBox="1"/>
          <p:nvPr/>
        </p:nvSpPr>
        <p:spPr>
          <a:xfrm>
            <a:off x="13258800" y="7818120"/>
            <a:ext cx="914400" cy="274320"/>
          </a:xfrm>
          <a:prstGeom prst="rect">
            <a:avLst/>
          </a:prstGeom>
          <a:noFill/>
        </p:spPr>
        <p:txBody>
          <a:bodyPr wrap="none" lIns="0" rIns="0" tIns="0" bIns="0">
            <a:spAutoFit/>
          </a:bodyPr>
          <a:lstStyle/>
          <a:p>
            <a:pPr>
              <a:lnSpc>
                <a:spcPts val="1536"/>
              </a:lnSpc>
              <a:spcBef>
                <a:spcPts val="0"/>
              </a:spcBef>
              <a:spcAft>
                <a:spcPts val="0"/>
              </a:spcAft>
              <a:defRPr sz="1200" b="1">
                <a:solidFill>
                  <a:srgbClr val="007F82"/>
                </a:solidFill>
                <a:latin typeface="Be Vietnam Pro"/>
              </a:defRPr>
            </a:pPr>
            <a:r>
              <a:t>04 / 13</a:t>
            </a:r>
          </a:p>
        </p:txBody>
      </p:sp>
      <p:sp>
        <p:nvSpPr>
          <p:cNvPr id="9" name="Rounded Rectangle 8"/>
          <p:cNvSpPr/>
          <p:nvPr/>
        </p:nvSpPr>
        <p:spPr>
          <a:xfrm>
            <a:off x="731520" y="2706624"/>
            <a:ext cx="4261104" cy="1746504"/>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87552" y="2889504"/>
            <a:ext cx="3749039" cy="749808"/>
          </a:xfrm>
          <a:prstGeom prst="rect">
            <a:avLst/>
          </a:prstGeom>
          <a:noFill/>
        </p:spPr>
        <p:txBody>
          <a:bodyPr wrap="none" lIns="0" rIns="0" tIns="0" bIns="0">
            <a:spAutoFit/>
          </a:bodyPr>
          <a:lstStyle/>
          <a:p>
            <a:pPr>
              <a:lnSpc>
                <a:spcPts val="4864"/>
              </a:lnSpc>
              <a:spcBef>
                <a:spcPts val="0"/>
              </a:spcBef>
              <a:spcAft>
                <a:spcPts val="0"/>
              </a:spcAft>
              <a:defRPr sz="3800" b="1">
                <a:solidFill>
                  <a:srgbClr val="007F82"/>
                </a:solidFill>
                <a:latin typeface="Be Vietnam Pro"/>
              </a:defRPr>
            </a:pPr>
            <a:r>
              <a:t>30</a:t>
            </a:r>
          </a:p>
        </p:txBody>
      </p:sp>
      <p:sp>
        <p:nvSpPr>
          <p:cNvPr id="11" name="TextBox 10"/>
          <p:cNvSpPr txBox="1"/>
          <p:nvPr/>
        </p:nvSpPr>
        <p:spPr>
          <a:xfrm>
            <a:off x="1005840" y="3822191"/>
            <a:ext cx="3703320" cy="457200"/>
          </a:xfrm>
          <a:prstGeom prst="rect">
            <a:avLst/>
          </a:prstGeom>
          <a:noFill/>
        </p:spPr>
        <p:txBody>
          <a:bodyPr wrap="none" lIns="0" rIns="0" tIns="0" bIns="0">
            <a:spAutoFit/>
          </a:bodyPr>
          <a:lstStyle/>
          <a:p>
            <a:pPr>
              <a:lnSpc>
                <a:spcPts val="2688"/>
              </a:lnSpc>
              <a:spcBef>
                <a:spcPts val="0"/>
              </a:spcBef>
              <a:spcAft>
                <a:spcPts val="0"/>
              </a:spcAft>
              <a:defRPr sz="2100" b="0">
                <a:solidFill>
                  <a:srgbClr val="506776"/>
                </a:solidFill>
                <a:latin typeface="Be Vietnam Pro"/>
              </a:defRPr>
            </a:pPr>
            <a:r>
              <a:t>films</a:t>
            </a:r>
          </a:p>
        </p:txBody>
      </p:sp>
      <p:sp>
        <p:nvSpPr>
          <p:cNvPr id="12" name="Rounded Rectangle 11"/>
          <p:cNvSpPr/>
          <p:nvPr/>
        </p:nvSpPr>
        <p:spPr>
          <a:xfrm>
            <a:off x="5266944" y="2706624"/>
            <a:ext cx="4261104" cy="1746504"/>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522976" y="2889504"/>
            <a:ext cx="3749039" cy="749808"/>
          </a:xfrm>
          <a:prstGeom prst="rect">
            <a:avLst/>
          </a:prstGeom>
          <a:noFill/>
        </p:spPr>
        <p:txBody>
          <a:bodyPr wrap="none" lIns="0" rIns="0" tIns="0" bIns="0">
            <a:spAutoFit/>
          </a:bodyPr>
          <a:lstStyle/>
          <a:p>
            <a:pPr>
              <a:lnSpc>
                <a:spcPts val="4864"/>
              </a:lnSpc>
              <a:spcBef>
                <a:spcPts val="0"/>
              </a:spcBef>
              <a:spcAft>
                <a:spcPts val="0"/>
              </a:spcAft>
              <a:defRPr sz="3800" b="1">
                <a:solidFill>
                  <a:srgbClr val="007F82"/>
                </a:solidFill>
                <a:latin typeface="Be Vietnam Pro"/>
              </a:defRPr>
            </a:pPr>
            <a:r>
              <a:t>851</a:t>
            </a:r>
          </a:p>
        </p:txBody>
      </p:sp>
      <p:sp>
        <p:nvSpPr>
          <p:cNvPr id="14" name="TextBox 13"/>
          <p:cNvSpPr txBox="1"/>
          <p:nvPr/>
        </p:nvSpPr>
        <p:spPr>
          <a:xfrm>
            <a:off x="5541264" y="3822191"/>
            <a:ext cx="3703320" cy="457200"/>
          </a:xfrm>
          <a:prstGeom prst="rect">
            <a:avLst/>
          </a:prstGeom>
          <a:noFill/>
        </p:spPr>
        <p:txBody>
          <a:bodyPr wrap="none" lIns="0" rIns="0" tIns="0" bIns="0">
            <a:spAutoFit/>
          </a:bodyPr>
          <a:lstStyle/>
          <a:p>
            <a:pPr>
              <a:lnSpc>
                <a:spcPts val="2688"/>
              </a:lnSpc>
              <a:spcBef>
                <a:spcPts val="0"/>
              </a:spcBef>
              <a:spcAft>
                <a:spcPts val="0"/>
              </a:spcAft>
              <a:defRPr sz="2100" b="0">
                <a:solidFill>
                  <a:srgbClr val="506776"/>
                </a:solidFill>
                <a:latin typeface="Be Vietnam Pro"/>
              </a:defRPr>
            </a:pPr>
            <a:r>
              <a:t>people</a:t>
            </a:r>
          </a:p>
        </p:txBody>
      </p:sp>
      <p:sp>
        <p:nvSpPr>
          <p:cNvPr id="15" name="Rounded Rectangle 14"/>
          <p:cNvSpPr/>
          <p:nvPr/>
        </p:nvSpPr>
        <p:spPr>
          <a:xfrm>
            <a:off x="9802368" y="2706624"/>
            <a:ext cx="4261104" cy="1746504"/>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0058400" y="2889504"/>
            <a:ext cx="3749039" cy="749808"/>
          </a:xfrm>
          <a:prstGeom prst="rect">
            <a:avLst/>
          </a:prstGeom>
          <a:noFill/>
        </p:spPr>
        <p:txBody>
          <a:bodyPr wrap="none" lIns="0" rIns="0" tIns="0" bIns="0">
            <a:spAutoFit/>
          </a:bodyPr>
          <a:lstStyle/>
          <a:p>
            <a:pPr>
              <a:lnSpc>
                <a:spcPts val="4864"/>
              </a:lnSpc>
              <a:spcBef>
                <a:spcPts val="0"/>
              </a:spcBef>
              <a:spcAft>
                <a:spcPts val="0"/>
              </a:spcAft>
              <a:defRPr sz="3800" b="1">
                <a:solidFill>
                  <a:srgbClr val="007F82"/>
                </a:solidFill>
                <a:latin typeface="Be Vietnam Pro"/>
              </a:defRPr>
            </a:pPr>
            <a:r>
              <a:t>1,010</a:t>
            </a:r>
          </a:p>
        </p:txBody>
      </p:sp>
      <p:sp>
        <p:nvSpPr>
          <p:cNvPr id="17" name="TextBox 16"/>
          <p:cNvSpPr txBox="1"/>
          <p:nvPr/>
        </p:nvSpPr>
        <p:spPr>
          <a:xfrm>
            <a:off x="10076688" y="3822191"/>
            <a:ext cx="3703320" cy="457200"/>
          </a:xfrm>
          <a:prstGeom prst="rect">
            <a:avLst/>
          </a:prstGeom>
          <a:noFill/>
        </p:spPr>
        <p:txBody>
          <a:bodyPr wrap="none" lIns="0" rIns="0" tIns="0" bIns="0">
            <a:spAutoFit/>
          </a:bodyPr>
          <a:lstStyle/>
          <a:p>
            <a:pPr>
              <a:lnSpc>
                <a:spcPts val="2688"/>
              </a:lnSpc>
              <a:spcBef>
                <a:spcPts val="0"/>
              </a:spcBef>
              <a:spcAft>
                <a:spcPts val="0"/>
              </a:spcAft>
              <a:defRPr sz="2100" b="0">
                <a:solidFill>
                  <a:srgbClr val="506776"/>
                </a:solidFill>
                <a:latin typeface="Be Vietnam Pro"/>
              </a:defRPr>
            </a:pPr>
            <a:r>
              <a:t>credit records</a:t>
            </a:r>
          </a:p>
        </p:txBody>
      </p:sp>
      <p:sp>
        <p:nvSpPr>
          <p:cNvPr id="18" name="Rounded Rectangle 17"/>
          <p:cNvSpPr/>
          <p:nvPr/>
        </p:nvSpPr>
        <p:spPr>
          <a:xfrm>
            <a:off x="731520" y="4700016"/>
            <a:ext cx="4261104" cy="1746504"/>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87552" y="4882896"/>
            <a:ext cx="3749039" cy="749808"/>
          </a:xfrm>
          <a:prstGeom prst="rect">
            <a:avLst/>
          </a:prstGeom>
          <a:noFill/>
        </p:spPr>
        <p:txBody>
          <a:bodyPr wrap="none" lIns="0" rIns="0" tIns="0" bIns="0">
            <a:spAutoFit/>
          </a:bodyPr>
          <a:lstStyle/>
          <a:p>
            <a:pPr>
              <a:lnSpc>
                <a:spcPts val="4864"/>
              </a:lnSpc>
              <a:spcBef>
                <a:spcPts val="0"/>
              </a:spcBef>
              <a:spcAft>
                <a:spcPts val="0"/>
              </a:spcAft>
              <a:defRPr sz="3800" b="1">
                <a:solidFill>
                  <a:srgbClr val="007F82"/>
                </a:solidFill>
                <a:latin typeface="Be Vietnam Pro"/>
              </a:defRPr>
            </a:pPr>
            <a:r>
              <a:t>45</a:t>
            </a:r>
          </a:p>
        </p:txBody>
      </p:sp>
      <p:sp>
        <p:nvSpPr>
          <p:cNvPr id="20" name="TextBox 19"/>
          <p:cNvSpPr txBox="1"/>
          <p:nvPr/>
        </p:nvSpPr>
        <p:spPr>
          <a:xfrm>
            <a:off x="1005840" y="5815584"/>
            <a:ext cx="3703320" cy="457200"/>
          </a:xfrm>
          <a:prstGeom prst="rect">
            <a:avLst/>
          </a:prstGeom>
          <a:noFill/>
        </p:spPr>
        <p:txBody>
          <a:bodyPr wrap="none" lIns="0" rIns="0" tIns="0" bIns="0">
            <a:spAutoFit/>
          </a:bodyPr>
          <a:lstStyle/>
          <a:p>
            <a:pPr>
              <a:lnSpc>
                <a:spcPts val="2688"/>
              </a:lnSpc>
              <a:spcBef>
                <a:spcPts val="0"/>
              </a:spcBef>
              <a:spcAft>
                <a:spcPts val="0"/>
              </a:spcAft>
              <a:defRPr sz="2100" b="0">
                <a:solidFill>
                  <a:srgbClr val="506776"/>
                </a:solidFill>
                <a:latin typeface="Be Vietnam Pro"/>
              </a:defRPr>
            </a:pPr>
            <a:r>
              <a:t>companies</a:t>
            </a:r>
          </a:p>
        </p:txBody>
      </p:sp>
      <p:sp>
        <p:nvSpPr>
          <p:cNvPr id="21" name="Rounded Rectangle 20"/>
          <p:cNvSpPr/>
          <p:nvPr/>
        </p:nvSpPr>
        <p:spPr>
          <a:xfrm>
            <a:off x="5266944" y="4700016"/>
            <a:ext cx="4261104" cy="1746504"/>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522976" y="4882896"/>
            <a:ext cx="3749039" cy="749808"/>
          </a:xfrm>
          <a:prstGeom prst="rect">
            <a:avLst/>
          </a:prstGeom>
          <a:noFill/>
        </p:spPr>
        <p:txBody>
          <a:bodyPr wrap="none" lIns="0" rIns="0" tIns="0" bIns="0">
            <a:spAutoFit/>
          </a:bodyPr>
          <a:lstStyle/>
          <a:p>
            <a:pPr>
              <a:lnSpc>
                <a:spcPts val="4864"/>
              </a:lnSpc>
              <a:spcBef>
                <a:spcPts val="0"/>
              </a:spcBef>
              <a:spcAft>
                <a:spcPts val="0"/>
              </a:spcAft>
              <a:defRPr sz="3800" b="1">
                <a:solidFill>
                  <a:srgbClr val="007F82"/>
                </a:solidFill>
                <a:latin typeface="Be Vietnam Pro"/>
              </a:defRPr>
            </a:pPr>
            <a:r>
              <a:t>672</a:t>
            </a:r>
          </a:p>
        </p:txBody>
      </p:sp>
      <p:sp>
        <p:nvSpPr>
          <p:cNvPr id="23" name="TextBox 22"/>
          <p:cNvSpPr txBox="1"/>
          <p:nvPr/>
        </p:nvSpPr>
        <p:spPr>
          <a:xfrm>
            <a:off x="5541264" y="5815584"/>
            <a:ext cx="3703320" cy="457200"/>
          </a:xfrm>
          <a:prstGeom prst="rect">
            <a:avLst/>
          </a:prstGeom>
          <a:noFill/>
        </p:spPr>
        <p:txBody>
          <a:bodyPr wrap="none" lIns="0" rIns="0" tIns="0" bIns="0">
            <a:spAutoFit/>
          </a:bodyPr>
          <a:lstStyle/>
          <a:p>
            <a:pPr>
              <a:lnSpc>
                <a:spcPts val="2688"/>
              </a:lnSpc>
              <a:spcBef>
                <a:spcPts val="0"/>
              </a:spcBef>
              <a:spcAft>
                <a:spcPts val="0"/>
              </a:spcAft>
              <a:defRPr sz="2100" b="0">
                <a:solidFill>
                  <a:srgbClr val="506776"/>
                </a:solidFill>
                <a:latin typeface="Be Vietnam Pro"/>
              </a:defRPr>
            </a:pPr>
            <a:r>
              <a:t>award entities</a:t>
            </a:r>
          </a:p>
        </p:txBody>
      </p:sp>
      <p:sp>
        <p:nvSpPr>
          <p:cNvPr id="24" name="Rounded Rectangle 23"/>
          <p:cNvSpPr/>
          <p:nvPr/>
        </p:nvSpPr>
        <p:spPr>
          <a:xfrm>
            <a:off x="9802368" y="4700016"/>
            <a:ext cx="4261104" cy="1746504"/>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0058400" y="4882896"/>
            <a:ext cx="3749039" cy="749808"/>
          </a:xfrm>
          <a:prstGeom prst="rect">
            <a:avLst/>
          </a:prstGeom>
          <a:noFill/>
        </p:spPr>
        <p:txBody>
          <a:bodyPr wrap="none" lIns="0" rIns="0" tIns="0" bIns="0">
            <a:spAutoFit/>
          </a:bodyPr>
          <a:lstStyle/>
          <a:p>
            <a:pPr>
              <a:lnSpc>
                <a:spcPts val="4864"/>
              </a:lnSpc>
              <a:spcBef>
                <a:spcPts val="0"/>
              </a:spcBef>
              <a:spcAft>
                <a:spcPts val="0"/>
              </a:spcAft>
              <a:defRPr sz="3800" b="1">
                <a:solidFill>
                  <a:srgbClr val="007F82"/>
                </a:solidFill>
                <a:latin typeface="Be Vietnam Pro"/>
              </a:defRPr>
            </a:pPr>
            <a:r>
              <a:t>76</a:t>
            </a:r>
          </a:p>
        </p:txBody>
      </p:sp>
      <p:sp>
        <p:nvSpPr>
          <p:cNvPr id="26" name="TextBox 25"/>
          <p:cNvSpPr txBox="1"/>
          <p:nvPr/>
        </p:nvSpPr>
        <p:spPr>
          <a:xfrm>
            <a:off x="10076688" y="5815584"/>
            <a:ext cx="3703320" cy="457200"/>
          </a:xfrm>
          <a:prstGeom prst="rect">
            <a:avLst/>
          </a:prstGeom>
          <a:noFill/>
        </p:spPr>
        <p:txBody>
          <a:bodyPr wrap="none" lIns="0" rIns="0" tIns="0" bIns="0">
            <a:spAutoFit/>
          </a:bodyPr>
          <a:lstStyle/>
          <a:p>
            <a:pPr>
              <a:lnSpc>
                <a:spcPts val="2688"/>
              </a:lnSpc>
              <a:spcBef>
                <a:spcPts val="0"/>
              </a:spcBef>
              <a:spcAft>
                <a:spcPts val="0"/>
              </a:spcAft>
              <a:defRPr sz="2100" b="0">
                <a:solidFill>
                  <a:srgbClr val="506776"/>
                </a:solidFill>
                <a:latin typeface="Be Vietnam Pro"/>
              </a:defRPr>
            </a:pPr>
            <a:r>
              <a:t>source responses</a:t>
            </a:r>
          </a:p>
        </p:txBody>
      </p:sp>
      <p:sp>
        <p:nvSpPr>
          <p:cNvPr id="27" name="TextBox 26"/>
          <p:cNvSpPr txBox="1"/>
          <p:nvPr/>
        </p:nvSpPr>
        <p:spPr>
          <a:xfrm>
            <a:off x="777240" y="7242048"/>
            <a:ext cx="13075920" cy="411480"/>
          </a:xfrm>
          <a:prstGeom prst="rect">
            <a:avLst/>
          </a:prstGeom>
          <a:noFill/>
        </p:spPr>
        <p:txBody>
          <a:bodyPr wrap="none" lIns="0" rIns="0" tIns="0" bIns="0">
            <a:spAutoFit/>
          </a:bodyPr>
          <a:lstStyle/>
          <a:p>
            <a:pPr>
              <a:lnSpc>
                <a:spcPts val="1664"/>
              </a:lnSpc>
              <a:spcBef>
                <a:spcPts val="0"/>
              </a:spcBef>
              <a:spcAft>
                <a:spcPts val="0"/>
              </a:spcAft>
              <a:defRPr sz="1300" b="0">
                <a:solidFill>
                  <a:srgbClr val="506776"/>
                </a:solidFill>
                <a:latin typeface="Be Vietnam Pro"/>
              </a:defRPr>
            </a:pPr>
            <a:r>
              <a:t>37 named classes · 19 object + 5 datatype properties · 4 controlled role individuals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3F6F7"/>
        </a:solidFill>
        <a:effectLst/>
      </p:bgPr>
    </p:bg>
    <p:spTree>
      <p:nvGrpSpPr>
        <p:cNvPr id="1" name=""/>
        <p:cNvGrpSpPr/>
        <p:nvPr/>
      </p:nvGrpSpPr>
      <p:grpSpPr/>
      <p:sp>
        <p:nvSpPr>
          <p:cNvPr id="2" name="Rectangle 1"/>
          <p:cNvSpPr/>
          <p:nvPr/>
        </p:nvSpPr>
        <p:spPr>
          <a:xfrm>
            <a:off x="0" y="0"/>
            <a:ext cx="118872" cy="8229600"/>
          </a:xfrm>
          <a:prstGeom prst="rect">
            <a:avLst/>
          </a:prstGeom>
          <a:solidFill>
            <a:srgbClr val="007F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1887200" cy="320040"/>
          </a:xfrm>
          <a:prstGeom prst="rect">
            <a:avLst/>
          </a:prstGeom>
          <a:noFill/>
        </p:spPr>
        <p:txBody>
          <a:bodyPr wrap="none" lIns="0" rIns="0" tIns="0" bIns="0">
            <a:spAutoFit/>
          </a:bodyPr>
          <a:lstStyle/>
          <a:p>
            <a:pPr>
              <a:lnSpc>
                <a:spcPts val="1536"/>
              </a:lnSpc>
              <a:spcBef>
                <a:spcPts val="0"/>
              </a:spcBef>
              <a:spcAft>
                <a:spcPts val="0"/>
              </a:spcAft>
              <a:defRPr sz="1200" b="1">
                <a:solidFill>
                  <a:srgbClr val="007F82"/>
                </a:solidFill>
                <a:latin typeface="Be Vietnam Pro"/>
              </a:defRPr>
            </a:pPr>
            <a:r>
              <a:t>MOVIELOD / SEMANTIC WEB / ONTOLOGY 3.0.0</a:t>
            </a:r>
          </a:p>
        </p:txBody>
      </p:sp>
      <p:sp>
        <p:nvSpPr>
          <p:cNvPr id="4" name="TextBox 3"/>
          <p:cNvSpPr txBox="1"/>
          <p:nvPr/>
        </p:nvSpPr>
        <p:spPr>
          <a:xfrm>
            <a:off x="594360" y="868680"/>
            <a:ext cx="13441680" cy="822960"/>
          </a:xfrm>
          <a:prstGeom prst="rect">
            <a:avLst/>
          </a:prstGeom>
          <a:noFill/>
        </p:spPr>
        <p:txBody>
          <a:bodyPr wrap="none" lIns="0" rIns="0" tIns="0" bIns="0">
            <a:spAutoFit/>
          </a:bodyPr>
          <a:lstStyle/>
          <a:p>
            <a:pPr>
              <a:lnSpc>
                <a:spcPts val="4352"/>
              </a:lnSpc>
              <a:spcBef>
                <a:spcPts val="0"/>
              </a:spcBef>
              <a:spcAft>
                <a:spcPts val="0"/>
              </a:spcAft>
              <a:defRPr sz="3400" b="1">
                <a:solidFill>
                  <a:srgbClr val="152B3A"/>
                </a:solidFill>
                <a:latin typeface="Be Vietnam Pro"/>
              </a:defRPr>
            </a:pPr>
            <a:r>
              <a:t>Ontology inventory: reuse before extension</a:t>
            </a:r>
          </a:p>
        </p:txBody>
      </p:sp>
      <p:sp>
        <p:nvSpPr>
          <p:cNvPr id="5" name="TextBox 4"/>
          <p:cNvSpPr txBox="1"/>
          <p:nvPr/>
        </p:nvSpPr>
        <p:spPr>
          <a:xfrm>
            <a:off x="612648" y="1719072"/>
            <a:ext cx="13350240" cy="548640"/>
          </a:xfrm>
          <a:prstGeom prst="rect">
            <a:avLst/>
          </a:prstGeom>
          <a:noFill/>
        </p:spPr>
        <p:txBody>
          <a:bodyPr wrap="none" lIns="0" rIns="0" tIns="0" bIns="0">
            <a:spAutoFit/>
          </a:bodyPr>
          <a:lstStyle/>
          <a:p>
            <a:pPr>
              <a:lnSpc>
                <a:spcPts val="2176"/>
              </a:lnSpc>
              <a:spcBef>
                <a:spcPts val="0"/>
              </a:spcBef>
              <a:spcAft>
                <a:spcPts val="0"/>
              </a:spcAft>
              <a:defRPr sz="1700" b="0">
                <a:solidFill>
                  <a:srgbClr val="506776"/>
                </a:solidFill>
                <a:latin typeface="Be Vietnam Pro"/>
              </a:defRPr>
            </a:pPr>
            <a:r>
              <a:t>17 DBpedia classes + 1 VoID class + 19 local classes</a:t>
            </a:r>
          </a:p>
        </p:txBody>
      </p:sp>
      <p:sp>
        <p:nvSpPr>
          <p:cNvPr id="6" name="Rectangle 5"/>
          <p:cNvSpPr/>
          <p:nvPr/>
        </p:nvSpPr>
        <p:spPr>
          <a:xfrm>
            <a:off x="594360" y="7708392"/>
            <a:ext cx="13441680" cy="9144"/>
          </a:xfrm>
          <a:prstGeom prst="rect">
            <a:avLst/>
          </a:prstGeom>
          <a:solidFill>
            <a:srgbClr val="DDE6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94360" y="7845552"/>
            <a:ext cx="11887200" cy="201168"/>
          </a:xfrm>
          <a:prstGeom prst="rect">
            <a:avLst/>
          </a:prstGeom>
          <a:noFill/>
        </p:spPr>
        <p:txBody>
          <a:bodyPr wrap="none" lIns="0" rIns="0" tIns="0" bIns="0">
            <a:spAutoFit/>
          </a:bodyPr>
          <a:lstStyle/>
          <a:p>
            <a:pPr>
              <a:lnSpc>
                <a:spcPts val="1280"/>
              </a:lnSpc>
              <a:spcBef>
                <a:spcPts val="0"/>
              </a:spcBef>
              <a:spcAft>
                <a:spcPts val="0"/>
              </a:spcAft>
              <a:defRPr sz="1000" b="0">
                <a:solidFill>
                  <a:srgbClr val="506776"/>
                </a:solidFill>
                <a:latin typeface="Be Vietnam Pro"/>
              </a:defRPr>
            </a:pPr>
            <a:r>
              <a:t>Data checked: 09 Oct 2026 • Sources: project code and evidence/</a:t>
            </a:r>
          </a:p>
        </p:txBody>
      </p:sp>
      <p:sp>
        <p:nvSpPr>
          <p:cNvPr id="8" name="TextBox 7"/>
          <p:cNvSpPr txBox="1"/>
          <p:nvPr/>
        </p:nvSpPr>
        <p:spPr>
          <a:xfrm>
            <a:off x="13258800" y="7818120"/>
            <a:ext cx="914400" cy="274320"/>
          </a:xfrm>
          <a:prstGeom prst="rect">
            <a:avLst/>
          </a:prstGeom>
          <a:noFill/>
        </p:spPr>
        <p:txBody>
          <a:bodyPr wrap="none" lIns="0" rIns="0" tIns="0" bIns="0">
            <a:spAutoFit/>
          </a:bodyPr>
          <a:lstStyle/>
          <a:p>
            <a:pPr>
              <a:lnSpc>
                <a:spcPts val="1536"/>
              </a:lnSpc>
              <a:spcBef>
                <a:spcPts val="0"/>
              </a:spcBef>
              <a:spcAft>
                <a:spcPts val="0"/>
              </a:spcAft>
              <a:defRPr sz="1200" b="1">
                <a:solidFill>
                  <a:srgbClr val="007F82"/>
                </a:solidFill>
                <a:latin typeface="Be Vietnam Pro"/>
              </a:defRPr>
            </a:pPr>
            <a:r>
              <a:t>05 / 13</a:t>
            </a:r>
          </a:p>
        </p:txBody>
      </p:sp>
      <p:sp>
        <p:nvSpPr>
          <p:cNvPr id="9" name="Rounded Rectangle 8"/>
          <p:cNvSpPr/>
          <p:nvPr/>
        </p:nvSpPr>
        <p:spPr>
          <a:xfrm>
            <a:off x="731520" y="2633472"/>
            <a:ext cx="6748272" cy="484632"/>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14400" y="2724912"/>
            <a:ext cx="1508760" cy="329184"/>
          </a:xfrm>
          <a:prstGeom prst="rect">
            <a:avLst/>
          </a:prstGeom>
          <a:noFill/>
        </p:spPr>
        <p:txBody>
          <a:bodyPr wrap="none" lIns="0" rIns="0" tIns="0" bIns="0">
            <a:spAutoFit/>
          </a:bodyPr>
          <a:lstStyle/>
          <a:p>
            <a:pPr>
              <a:lnSpc>
                <a:spcPts val="2176"/>
              </a:lnSpc>
              <a:spcBef>
                <a:spcPts val="0"/>
              </a:spcBef>
              <a:spcAft>
                <a:spcPts val="0"/>
              </a:spcAft>
              <a:defRPr sz="1700" b="1">
                <a:solidFill>
                  <a:srgbClr val="007F82"/>
                </a:solidFill>
                <a:latin typeface="Be Vietnam Pro"/>
              </a:defRPr>
            </a:pPr>
            <a:r>
              <a:t>17 classes</a:t>
            </a:r>
          </a:p>
        </p:txBody>
      </p:sp>
      <p:sp>
        <p:nvSpPr>
          <p:cNvPr id="11" name="TextBox 10"/>
          <p:cNvSpPr txBox="1"/>
          <p:nvPr/>
        </p:nvSpPr>
        <p:spPr>
          <a:xfrm>
            <a:off x="2377440" y="2724912"/>
            <a:ext cx="4846320" cy="365760"/>
          </a:xfrm>
          <a:prstGeom prst="rect">
            <a:avLst/>
          </a:prstGeom>
          <a:noFill/>
        </p:spPr>
        <p:txBody>
          <a:bodyPr wrap="none" lIns="0" rIns="0" tIns="0" bIns="0">
            <a:spAutoFit/>
          </a:bodyPr>
          <a:lstStyle/>
          <a:p>
            <a:pPr>
              <a:lnSpc>
                <a:spcPts val="2048"/>
              </a:lnSpc>
              <a:spcBef>
                <a:spcPts val="0"/>
              </a:spcBef>
              <a:spcAft>
                <a:spcPts val="0"/>
              </a:spcAft>
              <a:defRPr sz="1600" b="0">
                <a:solidFill>
                  <a:srgbClr val="152B3A"/>
                </a:solidFill>
                <a:latin typeface="Be Vietnam Pro"/>
              </a:defRPr>
            </a:pPr>
            <a:r>
              <a:t>DBpedia classes and hierarchy</a:t>
            </a:r>
          </a:p>
        </p:txBody>
      </p:sp>
      <p:sp>
        <p:nvSpPr>
          <p:cNvPr id="12" name="Rounded Rectangle 11"/>
          <p:cNvSpPr/>
          <p:nvPr/>
        </p:nvSpPr>
        <p:spPr>
          <a:xfrm>
            <a:off x="731520" y="3227832"/>
            <a:ext cx="6748272" cy="484632"/>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14400" y="3319272"/>
            <a:ext cx="1508760" cy="329184"/>
          </a:xfrm>
          <a:prstGeom prst="rect">
            <a:avLst/>
          </a:prstGeom>
          <a:noFill/>
        </p:spPr>
        <p:txBody>
          <a:bodyPr wrap="none" lIns="0" rIns="0" tIns="0" bIns="0">
            <a:spAutoFit/>
          </a:bodyPr>
          <a:lstStyle/>
          <a:p>
            <a:pPr>
              <a:lnSpc>
                <a:spcPts val="2176"/>
              </a:lnSpc>
              <a:spcBef>
                <a:spcPts val="0"/>
              </a:spcBef>
              <a:spcAft>
                <a:spcPts val="0"/>
              </a:spcAft>
              <a:defRPr sz="1700" b="1">
                <a:solidFill>
                  <a:srgbClr val="007F82"/>
                </a:solidFill>
                <a:latin typeface="Be Vietnam Pro"/>
              </a:defRPr>
            </a:pPr>
            <a:r>
              <a:t>1 class</a:t>
            </a:r>
          </a:p>
        </p:txBody>
      </p:sp>
      <p:sp>
        <p:nvSpPr>
          <p:cNvPr id="14" name="TextBox 13"/>
          <p:cNvSpPr txBox="1"/>
          <p:nvPr/>
        </p:nvSpPr>
        <p:spPr>
          <a:xfrm>
            <a:off x="2377440" y="3319272"/>
            <a:ext cx="4846320" cy="365760"/>
          </a:xfrm>
          <a:prstGeom prst="rect">
            <a:avLst/>
          </a:prstGeom>
          <a:noFill/>
        </p:spPr>
        <p:txBody>
          <a:bodyPr wrap="none" lIns="0" rIns="0" tIns="0" bIns="0">
            <a:spAutoFit/>
          </a:bodyPr>
          <a:lstStyle/>
          <a:p>
            <a:pPr>
              <a:lnSpc>
                <a:spcPts val="2048"/>
              </a:lnSpc>
              <a:spcBef>
                <a:spcPts val="0"/>
              </a:spcBef>
              <a:spcAft>
                <a:spcPts val="0"/>
              </a:spcAft>
              <a:defRPr sz="1600" b="0">
                <a:solidFill>
                  <a:srgbClr val="152B3A"/>
                </a:solidFill>
                <a:latin typeface="Be Vietnam Pro"/>
              </a:defRPr>
            </a:pPr>
            <a:r>
              <a:t>void:Dataset</a:t>
            </a:r>
          </a:p>
        </p:txBody>
      </p:sp>
      <p:sp>
        <p:nvSpPr>
          <p:cNvPr id="15" name="Rounded Rectangle 14"/>
          <p:cNvSpPr/>
          <p:nvPr/>
        </p:nvSpPr>
        <p:spPr>
          <a:xfrm>
            <a:off x="731520" y="3822191"/>
            <a:ext cx="6748272" cy="484632"/>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14400" y="3913631"/>
            <a:ext cx="1508760" cy="329184"/>
          </a:xfrm>
          <a:prstGeom prst="rect">
            <a:avLst/>
          </a:prstGeom>
          <a:noFill/>
        </p:spPr>
        <p:txBody>
          <a:bodyPr wrap="none" lIns="0" rIns="0" tIns="0" bIns="0">
            <a:spAutoFit/>
          </a:bodyPr>
          <a:lstStyle/>
          <a:p>
            <a:pPr>
              <a:lnSpc>
                <a:spcPts val="2176"/>
              </a:lnSpc>
              <a:spcBef>
                <a:spcPts val="0"/>
              </a:spcBef>
              <a:spcAft>
                <a:spcPts val="0"/>
              </a:spcAft>
              <a:defRPr sz="1700" b="1">
                <a:solidFill>
                  <a:srgbClr val="007F82"/>
                </a:solidFill>
                <a:latin typeface="Be Vietnam Pro"/>
              </a:defRPr>
            </a:pPr>
            <a:r>
              <a:t>3 classes</a:t>
            </a:r>
          </a:p>
        </p:txBody>
      </p:sp>
      <p:sp>
        <p:nvSpPr>
          <p:cNvPr id="17" name="TextBox 16"/>
          <p:cNvSpPr txBox="1"/>
          <p:nvPr/>
        </p:nvSpPr>
        <p:spPr>
          <a:xfrm>
            <a:off x="2377440" y="3913631"/>
            <a:ext cx="4846320" cy="365760"/>
          </a:xfrm>
          <a:prstGeom prst="rect">
            <a:avLst/>
          </a:prstGeom>
          <a:noFill/>
        </p:spPr>
        <p:txBody>
          <a:bodyPr wrap="none" lIns="0" rIns="0" tIns="0" bIns="0">
            <a:spAutoFit/>
          </a:bodyPr>
          <a:lstStyle/>
          <a:p>
            <a:pPr>
              <a:lnSpc>
                <a:spcPts val="2048"/>
              </a:lnSpc>
              <a:spcBef>
                <a:spcPts val="0"/>
              </a:spcBef>
              <a:spcAft>
                <a:spcPts val="0"/>
              </a:spcAft>
              <a:defRPr sz="1600" b="0">
                <a:solidFill>
                  <a:srgbClr val="152B3A"/>
                </a:solidFill>
                <a:latin typeface="Be Vietnam Pro"/>
              </a:defRPr>
            </a:pPr>
            <a:r>
              <a:t>Contribution / Role / SourceSnapshot</a:t>
            </a:r>
          </a:p>
        </p:txBody>
      </p:sp>
      <p:sp>
        <p:nvSpPr>
          <p:cNvPr id="18" name="Rounded Rectangle 17"/>
          <p:cNvSpPr/>
          <p:nvPr/>
        </p:nvSpPr>
        <p:spPr>
          <a:xfrm>
            <a:off x="731520" y="4416552"/>
            <a:ext cx="6748272" cy="484632"/>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14400" y="4507992"/>
            <a:ext cx="1508760" cy="329184"/>
          </a:xfrm>
          <a:prstGeom prst="rect">
            <a:avLst/>
          </a:prstGeom>
          <a:noFill/>
        </p:spPr>
        <p:txBody>
          <a:bodyPr wrap="none" lIns="0" rIns="0" tIns="0" bIns="0">
            <a:spAutoFit/>
          </a:bodyPr>
          <a:lstStyle/>
          <a:p>
            <a:pPr>
              <a:lnSpc>
                <a:spcPts val="2176"/>
              </a:lnSpc>
              <a:spcBef>
                <a:spcPts val="0"/>
              </a:spcBef>
              <a:spcAft>
                <a:spcPts val="0"/>
              </a:spcAft>
              <a:defRPr sz="1700" b="1">
                <a:solidFill>
                  <a:srgbClr val="007F82"/>
                </a:solidFill>
                <a:latin typeface="Be Vietnam Pro"/>
              </a:defRPr>
            </a:pPr>
            <a:r>
              <a:t>2 classes</a:t>
            </a:r>
          </a:p>
        </p:txBody>
      </p:sp>
      <p:sp>
        <p:nvSpPr>
          <p:cNvPr id="20" name="TextBox 19"/>
          <p:cNvSpPr txBox="1"/>
          <p:nvPr/>
        </p:nvSpPr>
        <p:spPr>
          <a:xfrm>
            <a:off x="2377440" y="4507992"/>
            <a:ext cx="4846320" cy="365760"/>
          </a:xfrm>
          <a:prstGeom prst="rect">
            <a:avLst/>
          </a:prstGeom>
          <a:noFill/>
        </p:spPr>
        <p:txBody>
          <a:bodyPr wrap="none" lIns="0" rIns="0" tIns="0" bIns="0">
            <a:spAutoFit/>
          </a:bodyPr>
          <a:lstStyle/>
          <a:p>
            <a:pPr>
              <a:lnSpc>
                <a:spcPts val="2048"/>
              </a:lnSpc>
              <a:spcBef>
                <a:spcPts val="0"/>
              </a:spcBef>
              <a:spcAft>
                <a:spcPts val="0"/>
              </a:spcAft>
              <a:defRPr sz="1600" b="0">
                <a:solidFill>
                  <a:srgbClr val="152B3A"/>
                </a:solidFill>
                <a:latin typeface="Be Vietnam Pro"/>
              </a:defRPr>
            </a:pPr>
            <a:r>
              <a:t>ActionGenre / DramaGenre</a:t>
            </a:r>
          </a:p>
        </p:txBody>
      </p:sp>
      <p:sp>
        <p:nvSpPr>
          <p:cNvPr id="21" name="Rounded Rectangle 20"/>
          <p:cNvSpPr/>
          <p:nvPr/>
        </p:nvSpPr>
        <p:spPr>
          <a:xfrm>
            <a:off x="731520" y="5010912"/>
            <a:ext cx="6748272" cy="484632"/>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914400" y="5102352"/>
            <a:ext cx="1508760" cy="329184"/>
          </a:xfrm>
          <a:prstGeom prst="rect">
            <a:avLst/>
          </a:prstGeom>
          <a:noFill/>
        </p:spPr>
        <p:txBody>
          <a:bodyPr wrap="none" lIns="0" rIns="0" tIns="0" bIns="0">
            <a:spAutoFit/>
          </a:bodyPr>
          <a:lstStyle/>
          <a:p>
            <a:pPr>
              <a:lnSpc>
                <a:spcPts val="2176"/>
              </a:lnSpc>
              <a:spcBef>
                <a:spcPts val="0"/>
              </a:spcBef>
              <a:spcAft>
                <a:spcPts val="0"/>
              </a:spcAft>
              <a:defRPr sz="1700" b="1">
                <a:solidFill>
                  <a:srgbClr val="007F82"/>
                </a:solidFill>
                <a:latin typeface="Be Vietnam Pro"/>
              </a:defRPr>
            </a:pPr>
            <a:r>
              <a:t>4 classes</a:t>
            </a:r>
          </a:p>
        </p:txBody>
      </p:sp>
      <p:sp>
        <p:nvSpPr>
          <p:cNvPr id="23" name="TextBox 22"/>
          <p:cNvSpPr txBox="1"/>
          <p:nvPr/>
        </p:nvSpPr>
        <p:spPr>
          <a:xfrm>
            <a:off x="2377440" y="5102352"/>
            <a:ext cx="4846320" cy="365760"/>
          </a:xfrm>
          <a:prstGeom prst="rect">
            <a:avLst/>
          </a:prstGeom>
          <a:noFill/>
        </p:spPr>
        <p:txBody>
          <a:bodyPr wrap="none" lIns="0" rIns="0" tIns="0" bIns="0">
            <a:spAutoFit/>
          </a:bodyPr>
          <a:lstStyle/>
          <a:p>
            <a:pPr>
              <a:lnSpc>
                <a:spcPts val="2048"/>
              </a:lnSpc>
              <a:spcBef>
                <a:spcPts val="0"/>
              </a:spcBef>
              <a:spcAft>
                <a:spcPts val="0"/>
              </a:spcAft>
              <a:defRPr sz="1600" b="0">
                <a:solidFill>
                  <a:srgbClr val="152B3A"/>
                </a:solidFill>
                <a:latin typeface="Be Vietnam Pro"/>
              </a:defRPr>
            </a:pPr>
            <a:r>
              <a:t>Role-defined credit subclasses</a:t>
            </a:r>
          </a:p>
        </p:txBody>
      </p:sp>
      <p:sp>
        <p:nvSpPr>
          <p:cNvPr id="24" name="Rounded Rectangle 23"/>
          <p:cNvSpPr/>
          <p:nvPr/>
        </p:nvSpPr>
        <p:spPr>
          <a:xfrm>
            <a:off x="731520" y="5605272"/>
            <a:ext cx="6748272" cy="484632"/>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914400" y="5696712"/>
            <a:ext cx="1508760" cy="329184"/>
          </a:xfrm>
          <a:prstGeom prst="rect">
            <a:avLst/>
          </a:prstGeom>
          <a:noFill/>
        </p:spPr>
        <p:txBody>
          <a:bodyPr wrap="none" lIns="0" rIns="0" tIns="0" bIns="0">
            <a:spAutoFit/>
          </a:bodyPr>
          <a:lstStyle/>
          <a:p>
            <a:pPr>
              <a:lnSpc>
                <a:spcPts val="2176"/>
              </a:lnSpc>
              <a:spcBef>
                <a:spcPts val="0"/>
              </a:spcBef>
              <a:spcAft>
                <a:spcPts val="0"/>
              </a:spcAft>
              <a:defRPr sz="1700" b="1">
                <a:solidFill>
                  <a:srgbClr val="007F82"/>
                </a:solidFill>
                <a:latin typeface="Be Vietnam Pro"/>
              </a:defRPr>
            </a:pPr>
            <a:r>
              <a:t>10 classes</a:t>
            </a:r>
          </a:p>
        </p:txBody>
      </p:sp>
      <p:sp>
        <p:nvSpPr>
          <p:cNvPr id="26" name="TextBox 25"/>
          <p:cNvSpPr txBox="1"/>
          <p:nvPr/>
        </p:nvSpPr>
        <p:spPr>
          <a:xfrm>
            <a:off x="2377440" y="5696712"/>
            <a:ext cx="4846320" cy="365760"/>
          </a:xfrm>
          <a:prstGeom prst="rect">
            <a:avLst/>
          </a:prstGeom>
          <a:noFill/>
        </p:spPr>
        <p:txBody>
          <a:bodyPr wrap="none" lIns="0" rIns="0" tIns="0" bIns="0">
            <a:spAutoFit/>
          </a:bodyPr>
          <a:lstStyle/>
          <a:p>
            <a:pPr>
              <a:lnSpc>
                <a:spcPts val="1792"/>
              </a:lnSpc>
              <a:spcBef>
                <a:spcPts val="0"/>
              </a:spcBef>
              <a:spcAft>
                <a:spcPts val="0"/>
              </a:spcAft>
              <a:defRPr sz="1400" b="0">
                <a:solidFill>
                  <a:srgbClr val="152B3A"/>
                </a:solidFill>
                <a:latin typeface="Be Vietnam Pro"/>
              </a:defRPr>
            </a:pPr>
            <a:r>
              <a:t>Domain inferred subsets</a:t>
            </a:r>
          </a:p>
        </p:txBody>
      </p:sp>
      <p:sp>
        <p:nvSpPr>
          <p:cNvPr id="27" name="TextBox 26"/>
          <p:cNvSpPr txBox="1"/>
          <p:nvPr/>
        </p:nvSpPr>
        <p:spPr>
          <a:xfrm>
            <a:off x="914400" y="6437376"/>
            <a:ext cx="6355080" cy="667512"/>
          </a:xfrm>
          <a:prstGeom prst="rect">
            <a:avLst/>
          </a:prstGeom>
          <a:noFill/>
        </p:spPr>
        <p:txBody>
          <a:bodyPr wrap="none" lIns="0" rIns="0" tIns="0" bIns="0">
            <a:spAutoFit/>
          </a:bodyPr>
          <a:lstStyle/>
          <a:p>
            <a:pPr>
              <a:lnSpc>
                <a:spcPts val="2048"/>
              </a:lnSpc>
              <a:spcBef>
                <a:spcPts val="0"/>
              </a:spcBef>
              <a:spcAft>
                <a:spcPts val="0"/>
              </a:spcAft>
              <a:defRPr sz="1600" b="0">
                <a:solidFill>
                  <a:srgbClr val="506776"/>
                </a:solidFill>
                <a:latin typeface="Be Vietnam Pro"/>
              </a:defRPr>
            </a:pPr>
            <a:r>
              <a:t>37 named classes: 17 dbo: + 1 void: + 19 ex:</a:t>
            </a:r>
          </a:p>
          <a:p>
            <a:pPr>
              <a:lnSpc>
                <a:spcPts val="2048"/>
              </a:lnSpc>
              <a:spcBef>
                <a:spcPts val="0"/>
              </a:spcBef>
              <a:spcAft>
                <a:spcPts val="0"/>
              </a:spcAft>
              <a:defRPr sz="1600" b="0">
                <a:solidFill>
                  <a:srgbClr val="506776"/>
                </a:solidFill>
                <a:latin typeface="Be Vietnam Pro"/>
              </a:defRPr>
            </a:pPr>
            <a:r>
              <a:t>10 inferred subsets + 4 supporting credit types.</a:t>
            </a:r>
          </a:p>
        </p:txBody>
      </p:sp>
      <p:sp>
        <p:nvSpPr>
          <p:cNvPr id="28" name="PHOTO_P00_0"/>
          <p:cNvSpPr/>
          <p:nvPr/>
        </p:nvSpPr>
        <p:spPr>
          <a:xfrm>
            <a:off x="7818120" y="2578608"/>
            <a:ext cx="6080760" cy="4590288"/>
          </a:xfrm>
          <a:prstGeom prst="roundRect">
            <a:avLst/>
          </a:prstGeom>
          <a:solidFill>
            <a:srgbClr val="FFFFFF"/>
          </a:solidFill>
          <a:ln>
            <a:solidFill>
              <a:srgbClr val="007F8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PHOTO_P00_1"/>
          <p:cNvSpPr txBox="1"/>
          <p:nvPr/>
        </p:nvSpPr>
        <p:spPr>
          <a:xfrm>
            <a:off x="8019288" y="2743200"/>
            <a:ext cx="5678424" cy="347472"/>
          </a:xfrm>
          <a:prstGeom prst="rect">
            <a:avLst/>
          </a:prstGeom>
          <a:noFill/>
        </p:spPr>
        <p:txBody>
          <a:bodyPr wrap="none" lIns="0" rIns="0" tIns="0" bIns="0">
            <a:spAutoFit/>
          </a:bodyPr>
          <a:lstStyle/>
          <a:p>
            <a:pPr>
              <a:lnSpc>
                <a:spcPts val="1792"/>
              </a:lnSpc>
              <a:spcBef>
                <a:spcPts val="0"/>
              </a:spcBef>
              <a:spcAft>
                <a:spcPts val="0"/>
              </a:spcAft>
              <a:defRPr sz="1400" b="1">
                <a:solidFill>
                  <a:srgbClr val="007F82"/>
                </a:solidFill>
                <a:latin typeface="Be Vietnam Pro"/>
              </a:defRPr>
            </a:pPr>
            <a:r>
              <a:t>ẢNH PROTÉGÉ CẦN BỔ SUNG · P00</a:t>
            </a:r>
          </a:p>
        </p:txBody>
      </p:sp>
      <p:sp>
        <p:nvSpPr>
          <p:cNvPr id="30" name="PHOTO_P00_2"/>
          <p:cNvSpPr/>
          <p:nvPr/>
        </p:nvSpPr>
        <p:spPr>
          <a:xfrm>
            <a:off x="8019288" y="3310128"/>
            <a:ext cx="5678424" cy="1051560"/>
          </a:xfrm>
          <a:prstGeom prst="roundRect">
            <a:avLst/>
          </a:prstGeom>
          <a:solidFill>
            <a:srgbClr val="E7EF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PHOTO_P00_3"/>
          <p:cNvSpPr txBox="1"/>
          <p:nvPr/>
        </p:nvSpPr>
        <p:spPr>
          <a:xfrm>
            <a:off x="8183880" y="3520439"/>
            <a:ext cx="5349240" cy="731520"/>
          </a:xfrm>
          <a:prstGeom prst="rect">
            <a:avLst/>
          </a:prstGeom>
          <a:noFill/>
        </p:spPr>
        <p:txBody>
          <a:bodyPr wrap="none" lIns="0" rIns="0" tIns="0" bIns="0">
            <a:spAutoFit/>
          </a:bodyPr>
          <a:lstStyle/>
          <a:p>
            <a:pPr>
              <a:lnSpc>
                <a:spcPts val="2816"/>
              </a:lnSpc>
              <a:spcBef>
                <a:spcPts val="0"/>
              </a:spcBef>
              <a:spcAft>
                <a:spcPts val="0"/>
              </a:spcAft>
              <a:defRPr sz="2200" b="1">
                <a:solidFill>
                  <a:srgbClr val="007F82"/>
                </a:solidFill>
                <a:latin typeface="Be Vietnam Pro"/>
              </a:defRPr>
            </a:pPr>
            <a:r>
              <a:t>IRI và phiên bản 3.0.0</a:t>
            </a:r>
          </a:p>
        </p:txBody>
      </p:sp>
      <p:sp>
        <p:nvSpPr>
          <p:cNvPr id="32" name="PHOTO_P00_4"/>
          <p:cNvSpPr txBox="1"/>
          <p:nvPr/>
        </p:nvSpPr>
        <p:spPr>
          <a:xfrm>
            <a:off x="8046720" y="4507992"/>
            <a:ext cx="5623560" cy="384048"/>
          </a:xfrm>
          <a:prstGeom prst="rect">
            <a:avLst/>
          </a:prstGeom>
          <a:noFill/>
        </p:spPr>
        <p:txBody>
          <a:bodyPr wrap="none" lIns="0" rIns="0" tIns="0" bIns="0">
            <a:spAutoFit/>
          </a:bodyPr>
          <a:lstStyle/>
          <a:p>
            <a:pPr>
              <a:lnSpc>
                <a:spcPts val="1664"/>
              </a:lnSpc>
              <a:spcBef>
                <a:spcPts val="0"/>
              </a:spcBef>
              <a:spcAft>
                <a:spcPts val="0"/>
              </a:spcAft>
              <a:defRPr sz="1300" b="0">
                <a:solidFill>
                  <a:srgbClr val="506776"/>
                </a:solidFill>
                <a:latin typeface="Be Vietnam Pro"/>
              </a:defRPr>
            </a:pPr>
            <a:r>
              <a:t>P00_ontology_header.png</a:t>
            </a:r>
          </a:p>
        </p:txBody>
      </p:sp>
      <p:sp>
        <p:nvSpPr>
          <p:cNvPr id="33" name="PHOTO_P00_5"/>
          <p:cNvSpPr txBox="1"/>
          <p:nvPr/>
        </p:nvSpPr>
        <p:spPr>
          <a:xfrm>
            <a:off x="8055864" y="4992624"/>
            <a:ext cx="5605272" cy="264160"/>
          </a:xfrm>
          <a:prstGeom prst="rect">
            <a:avLst/>
          </a:prstGeom>
          <a:noFill/>
        </p:spPr>
        <p:txBody>
          <a:bodyPr wrap="none" lIns="0" rIns="0" tIns="0" bIns="0">
            <a:spAutoFit/>
          </a:bodyPr>
          <a:lstStyle/>
          <a:p>
            <a:pPr>
              <a:lnSpc>
                <a:spcPts val="1792"/>
              </a:lnSpc>
              <a:spcBef>
                <a:spcPts val="0"/>
              </a:spcBef>
              <a:spcAft>
                <a:spcPts val="0"/>
              </a:spcAft>
              <a:defRPr sz="1400" b="0">
                <a:solidFill>
                  <a:srgbClr val="506776"/>
                </a:solidFill>
                <a:latin typeface="Be Vietnam Pro"/>
              </a:defRPr>
            </a:pPr>
            <a:r>
              <a:t>1. Mở ontology/Movie_Knowledge_Graph.owl.</a:t>
            </a:r>
          </a:p>
        </p:txBody>
      </p:sp>
      <p:sp>
        <p:nvSpPr>
          <p:cNvPr id="34" name="PHOTO_P00_6"/>
          <p:cNvSpPr txBox="1"/>
          <p:nvPr/>
        </p:nvSpPr>
        <p:spPr>
          <a:xfrm>
            <a:off x="8055864" y="5348223"/>
            <a:ext cx="5605272" cy="264160"/>
          </a:xfrm>
          <a:prstGeom prst="rect">
            <a:avLst/>
          </a:prstGeom>
          <a:noFill/>
        </p:spPr>
        <p:txBody>
          <a:bodyPr wrap="none" lIns="0" rIns="0" tIns="0" bIns="0">
            <a:spAutoFit/>
          </a:bodyPr>
          <a:lstStyle/>
          <a:p>
            <a:pPr>
              <a:lnSpc>
                <a:spcPts val="1792"/>
              </a:lnSpc>
              <a:spcBef>
                <a:spcPts val="0"/>
              </a:spcBef>
              <a:spcAft>
                <a:spcPts val="0"/>
              </a:spcAft>
              <a:defRPr sz="1400" b="0">
                <a:solidFill>
                  <a:srgbClr val="506776"/>
                </a:solidFill>
                <a:latin typeface="Be Vietnam Pro"/>
              </a:defRPr>
            </a:pPr>
            <a:r>
              <a:t>2. Chọn Active Ontology / Ontology Header.</a:t>
            </a:r>
          </a:p>
        </p:txBody>
      </p:sp>
      <p:sp>
        <p:nvSpPr>
          <p:cNvPr id="35" name="PHOTO_P00_7"/>
          <p:cNvSpPr txBox="1"/>
          <p:nvPr/>
        </p:nvSpPr>
        <p:spPr>
          <a:xfrm>
            <a:off x="8055864" y="5703823"/>
            <a:ext cx="5605272" cy="264160"/>
          </a:xfrm>
          <a:prstGeom prst="rect">
            <a:avLst/>
          </a:prstGeom>
          <a:noFill/>
        </p:spPr>
        <p:txBody>
          <a:bodyPr wrap="none" lIns="0" rIns="0" tIns="0" bIns="0">
            <a:spAutoFit/>
          </a:bodyPr>
          <a:lstStyle/>
          <a:p>
            <a:pPr>
              <a:lnSpc>
                <a:spcPts val="1792"/>
              </a:lnSpc>
              <a:spcBef>
                <a:spcPts val="0"/>
              </a:spcBef>
              <a:spcAft>
                <a:spcPts val="0"/>
              </a:spcAft>
              <a:defRPr sz="1400" b="0">
                <a:solidFill>
                  <a:srgbClr val="506776"/>
                </a:solidFill>
                <a:latin typeface="Be Vietnam Pro"/>
              </a:defRPr>
            </a:pPr>
            <a:r>
              <a:t>3. Giữ IRI và versionInfo 3.0.0 trong ảnh.</a:t>
            </a:r>
          </a:p>
        </p:txBody>
      </p:sp>
      <p:sp>
        <p:nvSpPr>
          <p:cNvPr id="36" name="PHOTO_P00_8"/>
          <p:cNvSpPr txBox="1"/>
          <p:nvPr/>
        </p:nvSpPr>
        <p:spPr>
          <a:xfrm>
            <a:off x="8046720" y="6830568"/>
            <a:ext cx="5623560" cy="283464"/>
          </a:xfrm>
          <a:prstGeom prst="rect">
            <a:avLst/>
          </a:prstGeom>
          <a:noFill/>
        </p:spPr>
        <p:txBody>
          <a:bodyPr wrap="none" lIns="0" rIns="0" tIns="0" bIns="0">
            <a:spAutoFit/>
          </a:bodyPr>
          <a:lstStyle/>
          <a:p>
            <a:pPr>
              <a:lnSpc>
                <a:spcPts val="1408"/>
              </a:lnSpc>
              <a:spcBef>
                <a:spcPts val="0"/>
              </a:spcBef>
              <a:spcAft>
                <a:spcPts val="0"/>
              </a:spcAft>
              <a:defRPr sz="1100" b="0">
                <a:solidFill>
                  <a:srgbClr val="007F82"/>
                </a:solidFill>
                <a:latin typeface="Be Vietnam Pro"/>
              </a:defRPr>
            </a:pPr>
            <a:r>
              <a:t>Thay khung bằng ảnh thật; chi tiết thêm trong Speaker Notes.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3F6F7"/>
        </a:solidFill>
        <a:effectLst/>
      </p:bgPr>
    </p:bg>
    <p:spTree>
      <p:nvGrpSpPr>
        <p:cNvPr id="1" name=""/>
        <p:cNvGrpSpPr/>
        <p:nvPr/>
      </p:nvGrpSpPr>
      <p:grpSpPr/>
      <p:sp>
        <p:nvSpPr>
          <p:cNvPr id="2" name="Rectangle 1"/>
          <p:cNvSpPr/>
          <p:nvPr/>
        </p:nvSpPr>
        <p:spPr>
          <a:xfrm>
            <a:off x="0" y="0"/>
            <a:ext cx="118872" cy="8229600"/>
          </a:xfrm>
          <a:prstGeom prst="rect">
            <a:avLst/>
          </a:prstGeom>
          <a:solidFill>
            <a:srgbClr val="007F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1887200" cy="320040"/>
          </a:xfrm>
          <a:prstGeom prst="rect">
            <a:avLst/>
          </a:prstGeom>
          <a:noFill/>
        </p:spPr>
        <p:txBody>
          <a:bodyPr wrap="none" lIns="0" rIns="0" tIns="0" bIns="0">
            <a:spAutoFit/>
          </a:bodyPr>
          <a:lstStyle/>
          <a:p>
            <a:pPr>
              <a:lnSpc>
                <a:spcPts val="1536"/>
              </a:lnSpc>
              <a:spcBef>
                <a:spcPts val="0"/>
              </a:spcBef>
              <a:spcAft>
                <a:spcPts val="0"/>
              </a:spcAft>
              <a:defRPr sz="1200" b="1">
                <a:solidFill>
                  <a:srgbClr val="007F82"/>
                </a:solidFill>
                <a:latin typeface="Be Vietnam Pro"/>
              </a:defRPr>
            </a:pPr>
            <a:r>
              <a:t>MOVIELOD / SEMANTIC WEB / ONTOLOGY 3.0.0</a:t>
            </a:r>
          </a:p>
        </p:txBody>
      </p:sp>
      <p:sp>
        <p:nvSpPr>
          <p:cNvPr id="4" name="TextBox 3"/>
          <p:cNvSpPr txBox="1"/>
          <p:nvPr/>
        </p:nvSpPr>
        <p:spPr>
          <a:xfrm>
            <a:off x="594360" y="868680"/>
            <a:ext cx="13441680" cy="822960"/>
          </a:xfrm>
          <a:prstGeom prst="rect">
            <a:avLst/>
          </a:prstGeom>
          <a:noFill/>
        </p:spPr>
        <p:txBody>
          <a:bodyPr wrap="none" lIns="0" rIns="0" tIns="0" bIns="0">
            <a:spAutoFit/>
          </a:bodyPr>
          <a:lstStyle/>
          <a:p>
            <a:pPr>
              <a:lnSpc>
                <a:spcPts val="4352"/>
              </a:lnSpc>
              <a:spcBef>
                <a:spcPts val="0"/>
              </a:spcBef>
              <a:spcAft>
                <a:spcPts val="0"/>
              </a:spcAft>
              <a:defRPr sz="3400" b="1">
                <a:solidFill>
                  <a:srgbClr val="152B3A"/>
                </a:solidFill>
                <a:latin typeface="Be Vietnam Pro"/>
              </a:defRPr>
            </a:pPr>
            <a:r>
              <a:t>Contribution: person, film and role</a:t>
            </a:r>
          </a:p>
        </p:txBody>
      </p:sp>
      <p:sp>
        <p:nvSpPr>
          <p:cNvPr id="5" name="TextBox 4"/>
          <p:cNvSpPr txBox="1"/>
          <p:nvPr/>
        </p:nvSpPr>
        <p:spPr>
          <a:xfrm>
            <a:off x="612648" y="1719072"/>
            <a:ext cx="13350240" cy="548640"/>
          </a:xfrm>
          <a:prstGeom prst="rect">
            <a:avLst/>
          </a:prstGeom>
          <a:noFill/>
        </p:spPr>
        <p:txBody>
          <a:bodyPr wrap="none" lIns="0" rIns="0" tIns="0" bIns="0">
            <a:spAutoFit/>
          </a:bodyPr>
          <a:lstStyle/>
          <a:p>
            <a:pPr>
              <a:lnSpc>
                <a:spcPts val="2176"/>
              </a:lnSpc>
              <a:spcBef>
                <a:spcPts val="0"/>
              </a:spcBef>
              <a:spcAft>
                <a:spcPts val="0"/>
              </a:spcAft>
              <a:defRPr sz="1700" b="0">
                <a:solidFill>
                  <a:srgbClr val="506776"/>
                </a:solidFill>
                <a:latin typeface="Be Vietnam Pro"/>
              </a:defRPr>
            </a:pPr>
            <a:r>
              <a:t>Exactly one endpoint of each kind per credit record</a:t>
            </a:r>
          </a:p>
        </p:txBody>
      </p:sp>
      <p:sp>
        <p:nvSpPr>
          <p:cNvPr id="6" name="Rectangle 5"/>
          <p:cNvSpPr/>
          <p:nvPr/>
        </p:nvSpPr>
        <p:spPr>
          <a:xfrm>
            <a:off x="594360" y="7708392"/>
            <a:ext cx="13441680" cy="9144"/>
          </a:xfrm>
          <a:prstGeom prst="rect">
            <a:avLst/>
          </a:prstGeom>
          <a:solidFill>
            <a:srgbClr val="DDE6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94360" y="7845552"/>
            <a:ext cx="11887200" cy="201168"/>
          </a:xfrm>
          <a:prstGeom prst="rect">
            <a:avLst/>
          </a:prstGeom>
          <a:noFill/>
        </p:spPr>
        <p:txBody>
          <a:bodyPr wrap="none" lIns="0" rIns="0" tIns="0" bIns="0">
            <a:spAutoFit/>
          </a:bodyPr>
          <a:lstStyle/>
          <a:p>
            <a:pPr>
              <a:lnSpc>
                <a:spcPts val="1280"/>
              </a:lnSpc>
              <a:spcBef>
                <a:spcPts val="0"/>
              </a:spcBef>
              <a:spcAft>
                <a:spcPts val="0"/>
              </a:spcAft>
              <a:defRPr sz="1000" b="0">
                <a:solidFill>
                  <a:srgbClr val="506776"/>
                </a:solidFill>
                <a:latin typeface="Be Vietnam Pro"/>
              </a:defRPr>
            </a:pPr>
            <a:r>
              <a:t>Data checked: 09 Oct 2026 • Sources: project code and evidence/</a:t>
            </a:r>
          </a:p>
        </p:txBody>
      </p:sp>
      <p:sp>
        <p:nvSpPr>
          <p:cNvPr id="8" name="TextBox 7"/>
          <p:cNvSpPr txBox="1"/>
          <p:nvPr/>
        </p:nvSpPr>
        <p:spPr>
          <a:xfrm>
            <a:off x="13258800" y="7818120"/>
            <a:ext cx="914400" cy="274320"/>
          </a:xfrm>
          <a:prstGeom prst="rect">
            <a:avLst/>
          </a:prstGeom>
          <a:noFill/>
        </p:spPr>
        <p:txBody>
          <a:bodyPr wrap="none" lIns="0" rIns="0" tIns="0" bIns="0">
            <a:spAutoFit/>
          </a:bodyPr>
          <a:lstStyle/>
          <a:p>
            <a:pPr>
              <a:lnSpc>
                <a:spcPts val="1536"/>
              </a:lnSpc>
              <a:spcBef>
                <a:spcPts val="0"/>
              </a:spcBef>
              <a:spcAft>
                <a:spcPts val="0"/>
              </a:spcAft>
              <a:defRPr sz="1200" b="1">
                <a:solidFill>
                  <a:srgbClr val="007F82"/>
                </a:solidFill>
                <a:latin typeface="Be Vietnam Pro"/>
              </a:defRPr>
            </a:pPr>
            <a:r>
              <a:t>06 / 13</a:t>
            </a:r>
          </a:p>
        </p:txBody>
      </p:sp>
      <p:sp>
        <p:nvSpPr>
          <p:cNvPr id="9" name="Rounded Rectangle 8"/>
          <p:cNvSpPr/>
          <p:nvPr/>
        </p:nvSpPr>
        <p:spPr>
          <a:xfrm>
            <a:off x="777240" y="2706624"/>
            <a:ext cx="2148840" cy="694944"/>
          </a:xfrm>
          <a:prstGeom prst="roundRect">
            <a:avLst/>
          </a:prstGeom>
          <a:solidFill>
            <a:srgbClr val="007F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41832" y="2834640"/>
            <a:ext cx="1819656" cy="512064"/>
          </a:xfrm>
          <a:prstGeom prst="rect">
            <a:avLst/>
          </a:prstGeom>
          <a:noFill/>
        </p:spPr>
        <p:txBody>
          <a:bodyPr wrap="none" lIns="0" rIns="0" tIns="0" bIns="0">
            <a:spAutoFit/>
          </a:bodyPr>
          <a:lstStyle/>
          <a:p>
            <a:pPr>
              <a:lnSpc>
                <a:spcPts val="2304"/>
              </a:lnSpc>
              <a:spcBef>
                <a:spcPts val="0"/>
              </a:spcBef>
              <a:spcAft>
                <a:spcPts val="0"/>
              </a:spcAft>
              <a:defRPr sz="1800" b="1">
                <a:solidFill>
                  <a:srgbClr val="FFFFFF"/>
                </a:solidFill>
                <a:latin typeface="Be Vietnam Pro"/>
              </a:defRPr>
            </a:pPr>
            <a:r>
              <a:t>Nolan</a:t>
            </a:r>
          </a:p>
        </p:txBody>
      </p:sp>
      <p:sp>
        <p:nvSpPr>
          <p:cNvPr id="11" name="TextBox 10"/>
          <p:cNvSpPr txBox="1"/>
          <p:nvPr/>
        </p:nvSpPr>
        <p:spPr>
          <a:xfrm>
            <a:off x="3154680" y="2734056"/>
            <a:ext cx="1005840" cy="457200"/>
          </a:xfrm>
          <a:prstGeom prst="rect">
            <a:avLst/>
          </a:prstGeom>
          <a:noFill/>
        </p:spPr>
        <p:txBody>
          <a:bodyPr wrap="none" lIns="0" rIns="0" tIns="0" bIns="0">
            <a:spAutoFit/>
          </a:bodyPr>
          <a:lstStyle/>
          <a:p>
            <a:pPr>
              <a:lnSpc>
                <a:spcPts val="3328"/>
              </a:lnSpc>
              <a:spcBef>
                <a:spcPts val="0"/>
              </a:spcBef>
              <a:spcAft>
                <a:spcPts val="0"/>
              </a:spcAft>
              <a:defRPr sz="2600" b="1">
                <a:solidFill>
                  <a:srgbClr val="007F82"/>
                </a:solidFill>
                <a:latin typeface="Be Vietnam Pro"/>
              </a:defRPr>
            </a:pPr>
            <a:r>
              <a:rPr>
                <a:latin typeface="Arial Unicode MS"/>
              </a:rPr>
              <a:t>→</a:t>
            </a:r>
          </a:p>
        </p:txBody>
      </p:sp>
      <p:sp>
        <p:nvSpPr>
          <p:cNvPr id="12" name="TextBox 11"/>
          <p:cNvSpPr txBox="1"/>
          <p:nvPr/>
        </p:nvSpPr>
        <p:spPr>
          <a:xfrm>
            <a:off x="3017520" y="3191256"/>
            <a:ext cx="1371600" cy="548640"/>
          </a:xfrm>
          <a:prstGeom prst="rect">
            <a:avLst/>
          </a:prstGeom>
          <a:noFill/>
        </p:spPr>
        <p:txBody>
          <a:bodyPr wrap="none" lIns="0" rIns="0" tIns="0" bIns="0">
            <a:spAutoFit/>
          </a:bodyPr>
          <a:lstStyle/>
          <a:p>
            <a:pPr>
              <a:lnSpc>
                <a:spcPts val="1408"/>
              </a:lnSpc>
              <a:spcBef>
                <a:spcPts val="0"/>
              </a:spcBef>
              <a:spcAft>
                <a:spcPts val="0"/>
              </a:spcAft>
              <a:defRPr sz="1100" b="0">
                <a:solidFill>
                  <a:srgbClr val="506776"/>
                </a:solidFill>
                <a:latin typeface="Be Vietnam Pro"/>
              </a:defRPr>
            </a:pPr>
            <a:r>
              <a:t>hasContribution</a:t>
            </a:r>
          </a:p>
        </p:txBody>
      </p:sp>
      <p:sp>
        <p:nvSpPr>
          <p:cNvPr id="13" name="Rounded Rectangle 12"/>
          <p:cNvSpPr/>
          <p:nvPr/>
        </p:nvSpPr>
        <p:spPr>
          <a:xfrm>
            <a:off x="4315968" y="2706624"/>
            <a:ext cx="3063240" cy="694944"/>
          </a:xfrm>
          <a:prstGeom prst="roundRect">
            <a:avLst/>
          </a:prstGeom>
          <a:solidFill>
            <a:srgbClr val="007F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480559" y="2834640"/>
            <a:ext cx="2734056" cy="512064"/>
          </a:xfrm>
          <a:prstGeom prst="rect">
            <a:avLst/>
          </a:prstGeom>
          <a:noFill/>
        </p:spPr>
        <p:txBody>
          <a:bodyPr wrap="none" lIns="0" rIns="0" tIns="0" bIns="0">
            <a:spAutoFit/>
          </a:bodyPr>
          <a:lstStyle/>
          <a:p>
            <a:pPr>
              <a:lnSpc>
                <a:spcPts val="2304"/>
              </a:lnSpc>
              <a:spcBef>
                <a:spcPts val="0"/>
              </a:spcBef>
              <a:spcAft>
                <a:spcPts val="0"/>
              </a:spcAft>
              <a:defRPr sz="1800" b="1">
                <a:solidFill>
                  <a:srgbClr val="FFFFFF"/>
                </a:solidFill>
                <a:latin typeface="Be Vietnam Pro"/>
              </a:defRPr>
            </a:pPr>
            <a:r>
              <a:t>Contribution</a:t>
            </a:r>
          </a:p>
        </p:txBody>
      </p:sp>
      <p:sp>
        <p:nvSpPr>
          <p:cNvPr id="15" name="Rounded Rectangle 14"/>
          <p:cNvSpPr/>
          <p:nvPr/>
        </p:nvSpPr>
        <p:spPr>
          <a:xfrm>
            <a:off x="777240" y="3767328"/>
            <a:ext cx="2148840" cy="694944"/>
          </a:xfrm>
          <a:prstGeom prst="roundRect">
            <a:avLst/>
          </a:prstGeom>
          <a:solidFill>
            <a:srgbClr val="007F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41832" y="3895344"/>
            <a:ext cx="1819656" cy="512064"/>
          </a:xfrm>
          <a:prstGeom prst="rect">
            <a:avLst/>
          </a:prstGeom>
          <a:noFill/>
        </p:spPr>
        <p:txBody>
          <a:bodyPr wrap="none" lIns="0" rIns="0" tIns="0" bIns="0">
            <a:spAutoFit/>
          </a:bodyPr>
          <a:lstStyle/>
          <a:p>
            <a:pPr>
              <a:lnSpc>
                <a:spcPts val="2304"/>
              </a:lnSpc>
              <a:spcBef>
                <a:spcPts val="0"/>
              </a:spcBef>
              <a:spcAft>
                <a:spcPts val="0"/>
              </a:spcAft>
              <a:defRPr sz="1800" b="1">
                <a:solidFill>
                  <a:srgbClr val="FFFFFF"/>
                </a:solidFill>
                <a:latin typeface="Be Vietnam Pro"/>
              </a:defRPr>
            </a:pPr>
            <a:r>
              <a:t>Contribution</a:t>
            </a:r>
          </a:p>
        </p:txBody>
      </p:sp>
      <p:sp>
        <p:nvSpPr>
          <p:cNvPr id="17" name="TextBox 16"/>
          <p:cNvSpPr txBox="1"/>
          <p:nvPr/>
        </p:nvSpPr>
        <p:spPr>
          <a:xfrm>
            <a:off x="3154680" y="3794760"/>
            <a:ext cx="1005840" cy="457200"/>
          </a:xfrm>
          <a:prstGeom prst="rect">
            <a:avLst/>
          </a:prstGeom>
          <a:noFill/>
        </p:spPr>
        <p:txBody>
          <a:bodyPr wrap="none" lIns="0" rIns="0" tIns="0" bIns="0">
            <a:spAutoFit/>
          </a:bodyPr>
          <a:lstStyle/>
          <a:p>
            <a:pPr>
              <a:lnSpc>
                <a:spcPts val="3328"/>
              </a:lnSpc>
              <a:spcBef>
                <a:spcPts val="0"/>
              </a:spcBef>
              <a:spcAft>
                <a:spcPts val="0"/>
              </a:spcAft>
              <a:defRPr sz="2600" b="1">
                <a:solidFill>
                  <a:srgbClr val="007F82"/>
                </a:solidFill>
                <a:latin typeface="Be Vietnam Pro"/>
              </a:defRPr>
            </a:pPr>
            <a:r>
              <a:rPr>
                <a:latin typeface="Arial Unicode MS"/>
              </a:rPr>
              <a:t>→</a:t>
            </a:r>
          </a:p>
        </p:txBody>
      </p:sp>
      <p:sp>
        <p:nvSpPr>
          <p:cNvPr id="18" name="TextBox 17"/>
          <p:cNvSpPr txBox="1"/>
          <p:nvPr/>
        </p:nvSpPr>
        <p:spPr>
          <a:xfrm>
            <a:off x="3017520" y="4251960"/>
            <a:ext cx="1371600" cy="548640"/>
          </a:xfrm>
          <a:prstGeom prst="rect">
            <a:avLst/>
          </a:prstGeom>
          <a:noFill/>
        </p:spPr>
        <p:txBody>
          <a:bodyPr wrap="none" lIns="0" rIns="0" tIns="0" bIns="0">
            <a:spAutoFit/>
          </a:bodyPr>
          <a:lstStyle/>
          <a:p>
            <a:pPr>
              <a:lnSpc>
                <a:spcPts val="1408"/>
              </a:lnSpc>
              <a:spcBef>
                <a:spcPts val="0"/>
              </a:spcBef>
              <a:spcAft>
                <a:spcPts val="0"/>
              </a:spcAft>
              <a:defRPr sz="1100" b="0">
                <a:solidFill>
                  <a:srgbClr val="506776"/>
                </a:solidFill>
                <a:latin typeface="Be Vietnam Pro"/>
              </a:defRPr>
            </a:pPr>
            <a:r>
              <a:t>contributionTo</a:t>
            </a:r>
          </a:p>
        </p:txBody>
      </p:sp>
      <p:sp>
        <p:nvSpPr>
          <p:cNvPr id="19" name="Rounded Rectangle 18"/>
          <p:cNvSpPr/>
          <p:nvPr/>
        </p:nvSpPr>
        <p:spPr>
          <a:xfrm>
            <a:off x="4315968" y="3767328"/>
            <a:ext cx="3063240" cy="694944"/>
          </a:xfrm>
          <a:prstGeom prst="roundRect">
            <a:avLst/>
          </a:prstGeom>
          <a:solidFill>
            <a:srgbClr val="007F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480559" y="3895344"/>
            <a:ext cx="2734056" cy="512064"/>
          </a:xfrm>
          <a:prstGeom prst="rect">
            <a:avLst/>
          </a:prstGeom>
          <a:noFill/>
        </p:spPr>
        <p:txBody>
          <a:bodyPr wrap="none" lIns="0" rIns="0" tIns="0" bIns="0">
            <a:spAutoFit/>
          </a:bodyPr>
          <a:lstStyle/>
          <a:p>
            <a:pPr>
              <a:lnSpc>
                <a:spcPts val="2304"/>
              </a:lnSpc>
              <a:spcBef>
                <a:spcPts val="0"/>
              </a:spcBef>
              <a:spcAft>
                <a:spcPts val="0"/>
              </a:spcAft>
              <a:defRPr sz="1800" b="1">
                <a:solidFill>
                  <a:srgbClr val="FFFFFF"/>
                </a:solidFill>
                <a:latin typeface="Be Vietnam Pro"/>
              </a:defRPr>
            </a:pPr>
            <a:r>
              <a:t>Inception · Film</a:t>
            </a:r>
          </a:p>
        </p:txBody>
      </p:sp>
      <p:sp>
        <p:nvSpPr>
          <p:cNvPr id="21" name="Rounded Rectangle 20"/>
          <p:cNvSpPr/>
          <p:nvPr/>
        </p:nvSpPr>
        <p:spPr>
          <a:xfrm>
            <a:off x="777240" y="4828031"/>
            <a:ext cx="2148840" cy="694944"/>
          </a:xfrm>
          <a:prstGeom prst="roundRect">
            <a:avLst/>
          </a:prstGeom>
          <a:solidFill>
            <a:srgbClr val="007F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941832" y="4956047"/>
            <a:ext cx="1819656" cy="512064"/>
          </a:xfrm>
          <a:prstGeom prst="rect">
            <a:avLst/>
          </a:prstGeom>
          <a:noFill/>
        </p:spPr>
        <p:txBody>
          <a:bodyPr wrap="none" lIns="0" rIns="0" tIns="0" bIns="0">
            <a:spAutoFit/>
          </a:bodyPr>
          <a:lstStyle/>
          <a:p>
            <a:pPr>
              <a:lnSpc>
                <a:spcPts val="2304"/>
              </a:lnSpc>
              <a:spcBef>
                <a:spcPts val="0"/>
              </a:spcBef>
              <a:spcAft>
                <a:spcPts val="0"/>
              </a:spcAft>
              <a:defRPr sz="1800" b="1">
                <a:solidFill>
                  <a:srgbClr val="FFFFFF"/>
                </a:solidFill>
                <a:latin typeface="Be Vietnam Pro"/>
              </a:defRPr>
            </a:pPr>
            <a:r>
              <a:t>Contribution</a:t>
            </a:r>
          </a:p>
        </p:txBody>
      </p:sp>
      <p:sp>
        <p:nvSpPr>
          <p:cNvPr id="23" name="TextBox 22"/>
          <p:cNvSpPr txBox="1"/>
          <p:nvPr/>
        </p:nvSpPr>
        <p:spPr>
          <a:xfrm>
            <a:off x="3154680" y="4855464"/>
            <a:ext cx="1005840" cy="457200"/>
          </a:xfrm>
          <a:prstGeom prst="rect">
            <a:avLst/>
          </a:prstGeom>
          <a:noFill/>
        </p:spPr>
        <p:txBody>
          <a:bodyPr wrap="none" lIns="0" rIns="0" tIns="0" bIns="0">
            <a:spAutoFit/>
          </a:bodyPr>
          <a:lstStyle/>
          <a:p>
            <a:pPr>
              <a:lnSpc>
                <a:spcPts val="3328"/>
              </a:lnSpc>
              <a:spcBef>
                <a:spcPts val="0"/>
              </a:spcBef>
              <a:spcAft>
                <a:spcPts val="0"/>
              </a:spcAft>
              <a:defRPr sz="2600" b="1">
                <a:solidFill>
                  <a:srgbClr val="007F82"/>
                </a:solidFill>
                <a:latin typeface="Be Vietnam Pro"/>
              </a:defRPr>
            </a:pPr>
            <a:r>
              <a:rPr>
                <a:latin typeface="Arial Unicode MS"/>
              </a:rPr>
              <a:t>→</a:t>
            </a:r>
          </a:p>
        </p:txBody>
      </p:sp>
      <p:sp>
        <p:nvSpPr>
          <p:cNvPr id="24" name="TextBox 23"/>
          <p:cNvSpPr txBox="1"/>
          <p:nvPr/>
        </p:nvSpPr>
        <p:spPr>
          <a:xfrm>
            <a:off x="3017520" y="5312664"/>
            <a:ext cx="1371600" cy="548640"/>
          </a:xfrm>
          <a:prstGeom prst="rect">
            <a:avLst/>
          </a:prstGeom>
          <a:noFill/>
        </p:spPr>
        <p:txBody>
          <a:bodyPr wrap="none" lIns="0" rIns="0" tIns="0" bIns="0">
            <a:spAutoFit/>
          </a:bodyPr>
          <a:lstStyle/>
          <a:p>
            <a:pPr>
              <a:lnSpc>
                <a:spcPts val="1408"/>
              </a:lnSpc>
              <a:spcBef>
                <a:spcPts val="0"/>
              </a:spcBef>
              <a:spcAft>
                <a:spcPts val="0"/>
              </a:spcAft>
              <a:defRPr sz="1100" b="0">
                <a:solidFill>
                  <a:srgbClr val="506776"/>
                </a:solidFill>
                <a:latin typeface="Be Vietnam Pro"/>
              </a:defRPr>
            </a:pPr>
            <a:r>
              <a:t>hasRole</a:t>
            </a:r>
          </a:p>
        </p:txBody>
      </p:sp>
      <p:sp>
        <p:nvSpPr>
          <p:cNvPr id="25" name="Rounded Rectangle 24"/>
          <p:cNvSpPr/>
          <p:nvPr/>
        </p:nvSpPr>
        <p:spPr>
          <a:xfrm>
            <a:off x="4315968" y="4828031"/>
            <a:ext cx="3063240" cy="694944"/>
          </a:xfrm>
          <a:prstGeom prst="roundRect">
            <a:avLst/>
          </a:prstGeom>
          <a:solidFill>
            <a:srgbClr val="007F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4480559" y="4956047"/>
            <a:ext cx="2734056" cy="512064"/>
          </a:xfrm>
          <a:prstGeom prst="rect">
            <a:avLst/>
          </a:prstGeom>
          <a:noFill/>
        </p:spPr>
        <p:txBody>
          <a:bodyPr wrap="none" lIns="0" rIns="0" tIns="0" bIns="0">
            <a:spAutoFit/>
          </a:bodyPr>
          <a:lstStyle/>
          <a:p>
            <a:pPr>
              <a:lnSpc>
                <a:spcPts val="2304"/>
              </a:lnSpc>
              <a:spcBef>
                <a:spcPts val="0"/>
              </a:spcBef>
              <a:spcAft>
                <a:spcPts val="0"/>
              </a:spcAft>
              <a:defRPr sz="1800" b="1">
                <a:solidFill>
                  <a:srgbClr val="FFFFFF"/>
                </a:solidFill>
                <a:latin typeface="Be Vietnam Pro"/>
              </a:defRPr>
            </a:pPr>
            <a:r>
              <a:t>DirectorRole</a:t>
            </a:r>
          </a:p>
        </p:txBody>
      </p:sp>
      <p:sp>
        <p:nvSpPr>
          <p:cNvPr id="27" name="Rounded Rectangle 26"/>
          <p:cNvSpPr/>
          <p:nvPr/>
        </p:nvSpPr>
        <p:spPr>
          <a:xfrm>
            <a:off x="777240" y="6044184"/>
            <a:ext cx="6720840" cy="114300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6044184"/>
            <a:ext cx="41148" cy="1143000"/>
          </a:xfrm>
          <a:prstGeom prst="rect">
            <a:avLst/>
          </a:prstGeom>
          <a:solidFill>
            <a:srgbClr val="007F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987552" y="6190488"/>
            <a:ext cx="6300216" cy="352552"/>
          </a:xfrm>
          <a:prstGeom prst="rect">
            <a:avLst/>
          </a:prstGeom>
          <a:noFill/>
        </p:spPr>
        <p:txBody>
          <a:bodyPr wrap="none" lIns="0" rIns="0" tIns="0" bIns="0">
            <a:spAutoFit/>
          </a:bodyPr>
          <a:lstStyle/>
          <a:p>
            <a:pPr>
              <a:lnSpc>
                <a:spcPts val="2560"/>
              </a:lnSpc>
              <a:spcBef>
                <a:spcPts val="0"/>
              </a:spcBef>
              <a:spcAft>
                <a:spcPts val="0"/>
              </a:spcAft>
              <a:defRPr sz="2000" b="1">
                <a:solidFill>
                  <a:srgbClr val="007F82"/>
                </a:solidFill>
                <a:latin typeface="Be Vietnam Pro"/>
              </a:defRPr>
            </a:pPr>
            <a:r>
              <a:t>Each role has its own record</a:t>
            </a:r>
          </a:p>
        </p:txBody>
      </p:sp>
      <p:sp>
        <p:nvSpPr>
          <p:cNvPr id="30" name="TextBox 29"/>
          <p:cNvSpPr txBox="1"/>
          <p:nvPr/>
        </p:nvSpPr>
        <p:spPr>
          <a:xfrm>
            <a:off x="987552" y="6634480"/>
            <a:ext cx="6300216" cy="470408"/>
          </a:xfrm>
          <a:prstGeom prst="rect">
            <a:avLst/>
          </a:prstGeom>
          <a:noFill/>
        </p:spPr>
        <p:txBody>
          <a:bodyPr wrap="none" lIns="0" rIns="0" tIns="0" bIns="0">
            <a:spAutoFit/>
          </a:bodyPr>
          <a:lstStyle/>
          <a:p>
            <a:pPr>
              <a:lnSpc>
                <a:spcPts val="2048"/>
              </a:lnSpc>
              <a:spcBef>
                <a:spcPts val="0"/>
              </a:spcBef>
              <a:spcAft>
                <a:spcPts val="0"/>
              </a:spcAft>
              <a:defRPr sz="1600" b="0">
                <a:solidFill>
                  <a:srgbClr val="506776"/>
                </a:solidFill>
                <a:latin typeface="Be Vietnam Pro"/>
              </a:defRPr>
            </a:pPr>
            <a:r>
              <a:t>Director / Actor / Writer / Producer. Nolan has 3 roles in</a:t>
            </a:r>
          </a:p>
          <a:p>
            <a:pPr>
              <a:lnSpc>
                <a:spcPts val="2048"/>
              </a:lnSpc>
              <a:spcBef>
                <a:spcPts val="0"/>
              </a:spcBef>
              <a:spcAft>
                <a:spcPts val="0"/>
              </a:spcAft>
              <a:defRPr sz="1600" b="0">
                <a:solidFill>
                  <a:srgbClr val="506776"/>
                </a:solidFill>
                <a:latin typeface="Be Vietnam Pro"/>
              </a:defRPr>
            </a:pPr>
            <a:r>
              <a:t>Inception.</a:t>
            </a:r>
          </a:p>
        </p:txBody>
      </p:sp>
      <p:sp>
        <p:nvSpPr>
          <p:cNvPr id="31" name="PHOTO_P04_0"/>
          <p:cNvSpPr/>
          <p:nvPr/>
        </p:nvSpPr>
        <p:spPr>
          <a:xfrm>
            <a:off x="7818120" y="2578608"/>
            <a:ext cx="6080760" cy="4590288"/>
          </a:xfrm>
          <a:prstGeom prst="roundRect">
            <a:avLst/>
          </a:prstGeom>
          <a:solidFill>
            <a:srgbClr val="FFFFFF"/>
          </a:solidFill>
          <a:ln>
            <a:solidFill>
              <a:srgbClr val="007F8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PHOTO_P04_1"/>
          <p:cNvSpPr txBox="1"/>
          <p:nvPr/>
        </p:nvSpPr>
        <p:spPr>
          <a:xfrm>
            <a:off x="8019288" y="2743200"/>
            <a:ext cx="5678424" cy="347472"/>
          </a:xfrm>
          <a:prstGeom prst="rect">
            <a:avLst/>
          </a:prstGeom>
          <a:noFill/>
        </p:spPr>
        <p:txBody>
          <a:bodyPr wrap="none" lIns="0" rIns="0" tIns="0" bIns="0">
            <a:spAutoFit/>
          </a:bodyPr>
          <a:lstStyle/>
          <a:p>
            <a:pPr>
              <a:lnSpc>
                <a:spcPts val="1792"/>
              </a:lnSpc>
              <a:spcBef>
                <a:spcPts val="0"/>
              </a:spcBef>
              <a:spcAft>
                <a:spcPts val="0"/>
              </a:spcAft>
              <a:defRPr sz="1400" b="1">
                <a:solidFill>
                  <a:srgbClr val="007F82"/>
                </a:solidFill>
                <a:latin typeface="Be Vietnam Pro"/>
              </a:defRPr>
            </a:pPr>
            <a:r>
              <a:t>ẢNH PROTÉGÉ CẦN BỔ SUNG · P04</a:t>
            </a:r>
          </a:p>
        </p:txBody>
      </p:sp>
      <p:sp>
        <p:nvSpPr>
          <p:cNvPr id="33" name="PHOTO_P04_2"/>
          <p:cNvSpPr/>
          <p:nvPr/>
        </p:nvSpPr>
        <p:spPr>
          <a:xfrm>
            <a:off x="8019288" y="3310128"/>
            <a:ext cx="5678424" cy="1051560"/>
          </a:xfrm>
          <a:prstGeom prst="roundRect">
            <a:avLst/>
          </a:prstGeom>
          <a:solidFill>
            <a:srgbClr val="E7EF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PHOTO_P04_3"/>
          <p:cNvSpPr txBox="1"/>
          <p:nvPr/>
        </p:nvSpPr>
        <p:spPr>
          <a:xfrm>
            <a:off x="8183880" y="3520439"/>
            <a:ext cx="5349240" cy="731520"/>
          </a:xfrm>
          <a:prstGeom prst="rect">
            <a:avLst/>
          </a:prstGeom>
          <a:noFill/>
        </p:spPr>
        <p:txBody>
          <a:bodyPr wrap="none" lIns="0" rIns="0" tIns="0" bIns="0">
            <a:spAutoFit/>
          </a:bodyPr>
          <a:lstStyle/>
          <a:p>
            <a:pPr>
              <a:lnSpc>
                <a:spcPts val="2816"/>
              </a:lnSpc>
              <a:spcBef>
                <a:spcPts val="0"/>
              </a:spcBef>
              <a:spcAft>
                <a:spcPts val="0"/>
              </a:spcAft>
              <a:defRPr sz="2200" b="1">
                <a:solidFill>
                  <a:srgbClr val="007F82"/>
                </a:solidFill>
                <a:latin typeface="Be Vietnam Pro"/>
              </a:defRPr>
            </a:pPr>
            <a:r>
              <a:t>Ràng buộc Contribution</a:t>
            </a:r>
          </a:p>
        </p:txBody>
      </p:sp>
      <p:sp>
        <p:nvSpPr>
          <p:cNvPr id="35" name="PHOTO_P04_4"/>
          <p:cNvSpPr txBox="1"/>
          <p:nvPr/>
        </p:nvSpPr>
        <p:spPr>
          <a:xfrm>
            <a:off x="8046720" y="4507992"/>
            <a:ext cx="5623560" cy="384048"/>
          </a:xfrm>
          <a:prstGeom prst="rect">
            <a:avLst/>
          </a:prstGeom>
          <a:noFill/>
        </p:spPr>
        <p:txBody>
          <a:bodyPr wrap="none" lIns="0" rIns="0" tIns="0" bIns="0">
            <a:spAutoFit/>
          </a:bodyPr>
          <a:lstStyle/>
          <a:p>
            <a:pPr>
              <a:lnSpc>
                <a:spcPts val="1664"/>
              </a:lnSpc>
              <a:spcBef>
                <a:spcPts val="0"/>
              </a:spcBef>
              <a:spcAft>
                <a:spcPts val="0"/>
              </a:spcAft>
              <a:defRPr sz="1300" b="0">
                <a:solidFill>
                  <a:srgbClr val="506776"/>
                </a:solidFill>
                <a:latin typeface="Be Vietnam Pro"/>
              </a:defRPr>
            </a:pPr>
            <a:r>
              <a:t>P04_contribution_restrictions.png</a:t>
            </a:r>
          </a:p>
        </p:txBody>
      </p:sp>
      <p:sp>
        <p:nvSpPr>
          <p:cNvPr id="36" name="PHOTO_P04_5"/>
          <p:cNvSpPr txBox="1"/>
          <p:nvPr/>
        </p:nvSpPr>
        <p:spPr>
          <a:xfrm>
            <a:off x="8055864" y="4992624"/>
            <a:ext cx="5605272" cy="264160"/>
          </a:xfrm>
          <a:prstGeom prst="rect">
            <a:avLst/>
          </a:prstGeom>
          <a:noFill/>
        </p:spPr>
        <p:txBody>
          <a:bodyPr wrap="none" lIns="0" rIns="0" tIns="0" bIns="0">
            <a:spAutoFit/>
          </a:bodyPr>
          <a:lstStyle/>
          <a:p>
            <a:pPr>
              <a:lnSpc>
                <a:spcPts val="1792"/>
              </a:lnSpc>
              <a:spcBef>
                <a:spcPts val="0"/>
              </a:spcBef>
              <a:spcAft>
                <a:spcPts val="0"/>
              </a:spcAft>
              <a:defRPr sz="1400" b="0">
                <a:solidFill>
                  <a:srgbClr val="506776"/>
                </a:solidFill>
                <a:latin typeface="Be Vietnam Pro"/>
              </a:defRPr>
            </a:pPr>
            <a:r>
              <a:t>1. Chọn ex:Contribution.</a:t>
            </a:r>
          </a:p>
        </p:txBody>
      </p:sp>
      <p:sp>
        <p:nvSpPr>
          <p:cNvPr id="37" name="PHOTO_P04_6"/>
          <p:cNvSpPr txBox="1"/>
          <p:nvPr/>
        </p:nvSpPr>
        <p:spPr>
          <a:xfrm>
            <a:off x="8055864" y="5348223"/>
            <a:ext cx="5605272" cy="264160"/>
          </a:xfrm>
          <a:prstGeom prst="rect">
            <a:avLst/>
          </a:prstGeom>
          <a:noFill/>
        </p:spPr>
        <p:txBody>
          <a:bodyPr wrap="none" lIns="0" rIns="0" tIns="0" bIns="0">
            <a:spAutoFit/>
          </a:bodyPr>
          <a:lstStyle/>
          <a:p>
            <a:pPr>
              <a:lnSpc>
                <a:spcPts val="1792"/>
              </a:lnSpc>
              <a:spcBef>
                <a:spcPts val="0"/>
              </a:spcBef>
              <a:spcAft>
                <a:spcPts val="0"/>
              </a:spcAft>
              <a:defRPr sz="1400" b="0">
                <a:solidFill>
                  <a:srgbClr val="506776"/>
                </a:solidFill>
                <a:latin typeface="Be Vietnam Pro"/>
              </a:defRPr>
            </a:pPr>
            <a:r>
              <a:t>2. Hiện exactly 1 cho contributionBy, contributionTo, hasRole.</a:t>
            </a:r>
          </a:p>
        </p:txBody>
      </p:sp>
      <p:sp>
        <p:nvSpPr>
          <p:cNvPr id="38" name="PHOTO_P04_7"/>
          <p:cNvSpPr txBox="1"/>
          <p:nvPr/>
        </p:nvSpPr>
        <p:spPr>
          <a:xfrm>
            <a:off x="8055864" y="5703823"/>
            <a:ext cx="5605272" cy="264160"/>
          </a:xfrm>
          <a:prstGeom prst="rect">
            <a:avLst/>
          </a:prstGeom>
          <a:noFill/>
        </p:spPr>
        <p:txBody>
          <a:bodyPr wrap="none" lIns="0" rIns="0" tIns="0" bIns="0">
            <a:spAutoFit/>
          </a:bodyPr>
          <a:lstStyle/>
          <a:p>
            <a:pPr>
              <a:lnSpc>
                <a:spcPts val="1792"/>
              </a:lnSpc>
              <a:spcBef>
                <a:spcPts val="0"/>
              </a:spcBef>
              <a:spcAft>
                <a:spcPts val="0"/>
              </a:spcAft>
              <a:defRPr sz="1400" b="0">
                <a:solidFill>
                  <a:srgbClr val="506776"/>
                </a:solidFill>
                <a:latin typeface="Be Vietnam Pro"/>
              </a:defRPr>
            </a:pPr>
            <a:r>
              <a:t>3. Chọn hasRole để thấy Functional và role individual.</a:t>
            </a:r>
          </a:p>
        </p:txBody>
      </p:sp>
      <p:sp>
        <p:nvSpPr>
          <p:cNvPr id="39" name="PHOTO_P04_8"/>
          <p:cNvSpPr txBox="1"/>
          <p:nvPr/>
        </p:nvSpPr>
        <p:spPr>
          <a:xfrm>
            <a:off x="8046720" y="6830568"/>
            <a:ext cx="5623560" cy="283464"/>
          </a:xfrm>
          <a:prstGeom prst="rect">
            <a:avLst/>
          </a:prstGeom>
          <a:noFill/>
        </p:spPr>
        <p:txBody>
          <a:bodyPr wrap="none" lIns="0" rIns="0" tIns="0" bIns="0">
            <a:spAutoFit/>
          </a:bodyPr>
          <a:lstStyle/>
          <a:p>
            <a:pPr>
              <a:lnSpc>
                <a:spcPts val="1408"/>
              </a:lnSpc>
              <a:spcBef>
                <a:spcPts val="0"/>
              </a:spcBef>
              <a:spcAft>
                <a:spcPts val="0"/>
              </a:spcAft>
              <a:defRPr sz="1100" b="0">
                <a:solidFill>
                  <a:srgbClr val="007F82"/>
                </a:solidFill>
                <a:latin typeface="Be Vietnam Pro"/>
              </a:defRPr>
            </a:pPr>
            <a:r>
              <a:t>Thay khung bằng ảnh thật; chi tiết thêm trong Speaker Notes.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3F6F7"/>
        </a:solidFill>
        <a:effectLst/>
      </p:bgPr>
    </p:bg>
    <p:spTree>
      <p:nvGrpSpPr>
        <p:cNvPr id="1" name=""/>
        <p:cNvGrpSpPr/>
        <p:nvPr/>
      </p:nvGrpSpPr>
      <p:grpSpPr/>
      <p:sp>
        <p:nvSpPr>
          <p:cNvPr id="2" name="Rectangle 1"/>
          <p:cNvSpPr/>
          <p:nvPr/>
        </p:nvSpPr>
        <p:spPr>
          <a:xfrm>
            <a:off x="0" y="0"/>
            <a:ext cx="118872" cy="8229600"/>
          </a:xfrm>
          <a:prstGeom prst="rect">
            <a:avLst/>
          </a:prstGeom>
          <a:solidFill>
            <a:srgbClr val="007F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1887200" cy="320040"/>
          </a:xfrm>
          <a:prstGeom prst="rect">
            <a:avLst/>
          </a:prstGeom>
          <a:noFill/>
        </p:spPr>
        <p:txBody>
          <a:bodyPr wrap="none" lIns="0" rIns="0" tIns="0" bIns="0">
            <a:spAutoFit/>
          </a:bodyPr>
          <a:lstStyle/>
          <a:p>
            <a:pPr>
              <a:lnSpc>
                <a:spcPts val="1536"/>
              </a:lnSpc>
              <a:spcBef>
                <a:spcPts val="0"/>
              </a:spcBef>
              <a:spcAft>
                <a:spcPts val="0"/>
              </a:spcAft>
              <a:defRPr sz="1200" b="1">
                <a:solidFill>
                  <a:srgbClr val="007F82"/>
                </a:solidFill>
                <a:latin typeface="Be Vietnam Pro"/>
              </a:defRPr>
            </a:pPr>
            <a:r>
              <a:t>MOVIELOD / SEMANTIC WEB / ONTOLOGY 3.0.0</a:t>
            </a:r>
          </a:p>
        </p:txBody>
      </p:sp>
      <p:sp>
        <p:nvSpPr>
          <p:cNvPr id="4" name="TextBox 3"/>
          <p:cNvSpPr txBox="1"/>
          <p:nvPr/>
        </p:nvSpPr>
        <p:spPr>
          <a:xfrm>
            <a:off x="594360" y="868680"/>
            <a:ext cx="13441680" cy="822960"/>
          </a:xfrm>
          <a:prstGeom prst="rect">
            <a:avLst/>
          </a:prstGeom>
          <a:noFill/>
        </p:spPr>
        <p:txBody>
          <a:bodyPr wrap="none" lIns="0" rIns="0" tIns="0" bIns="0">
            <a:spAutoFit/>
          </a:bodyPr>
          <a:lstStyle/>
          <a:p>
            <a:pPr>
              <a:lnSpc>
                <a:spcPts val="4352"/>
              </a:lnSpc>
              <a:spcBef>
                <a:spcPts val="0"/>
              </a:spcBef>
              <a:spcAft>
                <a:spcPts val="0"/>
              </a:spcAft>
              <a:defRPr sz="3400" b="1">
                <a:solidFill>
                  <a:srgbClr val="152B3A"/>
                </a:solidFill>
                <a:latin typeface="Be Vietnam Pro"/>
              </a:defRPr>
            </a:pPr>
            <a:r>
              <a:t>Properties: reuse, inverse and chain</a:t>
            </a:r>
          </a:p>
        </p:txBody>
      </p:sp>
      <p:sp>
        <p:nvSpPr>
          <p:cNvPr id="5" name="TextBox 4"/>
          <p:cNvSpPr txBox="1"/>
          <p:nvPr/>
        </p:nvSpPr>
        <p:spPr>
          <a:xfrm>
            <a:off x="612648" y="1719072"/>
            <a:ext cx="13350240" cy="548640"/>
          </a:xfrm>
          <a:prstGeom prst="rect">
            <a:avLst/>
          </a:prstGeom>
          <a:noFill/>
        </p:spPr>
        <p:txBody>
          <a:bodyPr wrap="none" lIns="0" rIns="0" tIns="0" bIns="0">
            <a:spAutoFit/>
          </a:bodyPr>
          <a:lstStyle/>
          <a:p>
            <a:pPr>
              <a:lnSpc>
                <a:spcPts val="2176"/>
              </a:lnSpc>
              <a:spcBef>
                <a:spcPts val="0"/>
              </a:spcBef>
              <a:spcAft>
                <a:spcPts val="0"/>
              </a:spcAft>
              <a:defRPr sz="1700" b="0">
                <a:solidFill>
                  <a:srgbClr val="506776"/>
                </a:solidFill>
                <a:latin typeface="Be Vietnam Pro"/>
              </a:defRPr>
            </a:pPr>
            <a:r>
              <a:t>19 object properties; custom relations describe credit context</a:t>
            </a:r>
          </a:p>
        </p:txBody>
      </p:sp>
      <p:sp>
        <p:nvSpPr>
          <p:cNvPr id="6" name="Rectangle 5"/>
          <p:cNvSpPr/>
          <p:nvPr/>
        </p:nvSpPr>
        <p:spPr>
          <a:xfrm>
            <a:off x="594360" y="7708392"/>
            <a:ext cx="13441680" cy="9144"/>
          </a:xfrm>
          <a:prstGeom prst="rect">
            <a:avLst/>
          </a:prstGeom>
          <a:solidFill>
            <a:srgbClr val="DDE6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94360" y="7845552"/>
            <a:ext cx="11887200" cy="201168"/>
          </a:xfrm>
          <a:prstGeom prst="rect">
            <a:avLst/>
          </a:prstGeom>
          <a:noFill/>
        </p:spPr>
        <p:txBody>
          <a:bodyPr wrap="none" lIns="0" rIns="0" tIns="0" bIns="0">
            <a:spAutoFit/>
          </a:bodyPr>
          <a:lstStyle/>
          <a:p>
            <a:pPr>
              <a:lnSpc>
                <a:spcPts val="1280"/>
              </a:lnSpc>
              <a:spcBef>
                <a:spcPts val="0"/>
              </a:spcBef>
              <a:spcAft>
                <a:spcPts val="0"/>
              </a:spcAft>
              <a:defRPr sz="1000" b="0">
                <a:solidFill>
                  <a:srgbClr val="506776"/>
                </a:solidFill>
                <a:latin typeface="Be Vietnam Pro"/>
              </a:defRPr>
            </a:pPr>
            <a:r>
              <a:t>Data checked: 09 Oct 2026 • Sources: project code and evidence/</a:t>
            </a:r>
          </a:p>
        </p:txBody>
      </p:sp>
      <p:sp>
        <p:nvSpPr>
          <p:cNvPr id="8" name="TextBox 7"/>
          <p:cNvSpPr txBox="1"/>
          <p:nvPr/>
        </p:nvSpPr>
        <p:spPr>
          <a:xfrm>
            <a:off x="13258800" y="7818120"/>
            <a:ext cx="914400" cy="274320"/>
          </a:xfrm>
          <a:prstGeom prst="rect">
            <a:avLst/>
          </a:prstGeom>
          <a:noFill/>
        </p:spPr>
        <p:txBody>
          <a:bodyPr wrap="none" lIns="0" rIns="0" tIns="0" bIns="0">
            <a:spAutoFit/>
          </a:bodyPr>
          <a:lstStyle/>
          <a:p>
            <a:pPr>
              <a:lnSpc>
                <a:spcPts val="1536"/>
              </a:lnSpc>
              <a:spcBef>
                <a:spcPts val="0"/>
              </a:spcBef>
              <a:spcAft>
                <a:spcPts val="0"/>
              </a:spcAft>
              <a:defRPr sz="1200" b="1">
                <a:solidFill>
                  <a:srgbClr val="007F82"/>
                </a:solidFill>
                <a:latin typeface="Be Vietnam Pro"/>
              </a:defRPr>
            </a:pPr>
            <a:r>
              <a:t>07 / 13</a:t>
            </a:r>
          </a:p>
        </p:txBody>
      </p:sp>
      <p:sp>
        <p:nvSpPr>
          <p:cNvPr id="9" name="Rectangle 8"/>
          <p:cNvSpPr/>
          <p:nvPr/>
        </p:nvSpPr>
        <p:spPr>
          <a:xfrm>
            <a:off x="731520" y="2679192"/>
            <a:ext cx="6812280" cy="393192"/>
          </a:xfrm>
          <a:prstGeom prst="rect">
            <a:avLst/>
          </a:prstGeom>
          <a:solidFill>
            <a:srgbClr val="007F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41248" y="2752344"/>
            <a:ext cx="1792224" cy="301752"/>
          </a:xfrm>
          <a:prstGeom prst="rect">
            <a:avLst/>
          </a:prstGeom>
          <a:noFill/>
        </p:spPr>
        <p:txBody>
          <a:bodyPr wrap="none" lIns="0" rIns="0" tIns="0" bIns="0">
            <a:spAutoFit/>
          </a:bodyPr>
          <a:lstStyle/>
          <a:p>
            <a:pPr>
              <a:lnSpc>
                <a:spcPts val="1792"/>
              </a:lnSpc>
              <a:spcBef>
                <a:spcPts val="0"/>
              </a:spcBef>
              <a:spcAft>
                <a:spcPts val="0"/>
              </a:spcAft>
              <a:defRPr sz="1400" b="1">
                <a:solidFill>
                  <a:srgbClr val="FFFFFF"/>
                </a:solidFill>
                <a:latin typeface="Be Vietnam Pro"/>
              </a:defRPr>
            </a:pPr>
            <a:r>
              <a:t>Property</a:t>
            </a:r>
          </a:p>
        </p:txBody>
      </p:sp>
      <p:sp>
        <p:nvSpPr>
          <p:cNvPr id="11" name="TextBox 10"/>
          <p:cNvSpPr txBox="1"/>
          <p:nvPr/>
        </p:nvSpPr>
        <p:spPr>
          <a:xfrm>
            <a:off x="2852928" y="2752344"/>
            <a:ext cx="2642615" cy="301752"/>
          </a:xfrm>
          <a:prstGeom prst="rect">
            <a:avLst/>
          </a:prstGeom>
          <a:noFill/>
        </p:spPr>
        <p:txBody>
          <a:bodyPr wrap="none" lIns="0" rIns="0" tIns="0" bIns="0">
            <a:spAutoFit/>
          </a:bodyPr>
          <a:lstStyle/>
          <a:p>
            <a:pPr>
              <a:lnSpc>
                <a:spcPts val="1792"/>
              </a:lnSpc>
              <a:spcBef>
                <a:spcPts val="0"/>
              </a:spcBef>
              <a:spcAft>
                <a:spcPts val="0"/>
              </a:spcAft>
              <a:defRPr sz="1400" b="1">
                <a:solidFill>
                  <a:srgbClr val="FFFFFF"/>
                </a:solidFill>
                <a:latin typeface="Be Vietnam Pro"/>
              </a:defRPr>
            </a:pPr>
            <a:r>
              <a:t>Domain </a:t>
            </a:r>
            <a:r>
              <a:rPr>
                <a:latin typeface="Arial Unicode MS"/>
              </a:rPr>
              <a:t>→</a:t>
            </a:r>
            <a:r>
              <a:t> range</a:t>
            </a:r>
          </a:p>
        </p:txBody>
      </p:sp>
      <p:sp>
        <p:nvSpPr>
          <p:cNvPr id="12" name="TextBox 11"/>
          <p:cNvSpPr txBox="1"/>
          <p:nvPr/>
        </p:nvSpPr>
        <p:spPr>
          <a:xfrm>
            <a:off x="5715000" y="2752344"/>
            <a:ext cx="1719072" cy="301752"/>
          </a:xfrm>
          <a:prstGeom prst="rect">
            <a:avLst/>
          </a:prstGeom>
          <a:noFill/>
        </p:spPr>
        <p:txBody>
          <a:bodyPr wrap="none" lIns="0" rIns="0" tIns="0" bIns="0">
            <a:spAutoFit/>
          </a:bodyPr>
          <a:lstStyle/>
          <a:p>
            <a:pPr>
              <a:lnSpc>
                <a:spcPts val="1792"/>
              </a:lnSpc>
              <a:spcBef>
                <a:spcPts val="0"/>
              </a:spcBef>
              <a:spcAft>
                <a:spcPts val="0"/>
              </a:spcAft>
              <a:defRPr sz="1400" b="1">
                <a:solidFill>
                  <a:srgbClr val="FFFFFF"/>
                </a:solidFill>
                <a:latin typeface="Be Vietnam Pro"/>
              </a:defRPr>
            </a:pPr>
            <a:r>
              <a:t>Inverse</a:t>
            </a:r>
          </a:p>
        </p:txBody>
      </p:sp>
      <p:sp>
        <p:nvSpPr>
          <p:cNvPr id="13" name="Rectangle 12"/>
          <p:cNvSpPr/>
          <p:nvPr/>
        </p:nvSpPr>
        <p:spPr>
          <a:xfrm>
            <a:off x="731520" y="3072384"/>
            <a:ext cx="6812280" cy="43891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41248" y="3131820"/>
            <a:ext cx="1792224" cy="320040"/>
          </a:xfrm>
          <a:prstGeom prst="rect">
            <a:avLst/>
          </a:prstGeom>
          <a:noFill/>
        </p:spPr>
        <p:txBody>
          <a:bodyPr wrap="none" lIns="0" rIns="0" tIns="0" bIns="0">
            <a:spAutoFit/>
          </a:bodyPr>
          <a:lstStyle/>
          <a:p>
            <a:pPr>
              <a:lnSpc>
                <a:spcPts val="1792"/>
              </a:lnSpc>
              <a:spcBef>
                <a:spcPts val="0"/>
              </a:spcBef>
              <a:spcAft>
                <a:spcPts val="0"/>
              </a:spcAft>
              <a:defRPr sz="1400" b="0">
                <a:solidFill>
                  <a:srgbClr val="152B3A"/>
                </a:solidFill>
                <a:latin typeface="Be Vietnam Pro"/>
              </a:defRPr>
            </a:pPr>
            <a:r>
              <a:t>contributionBy</a:t>
            </a:r>
          </a:p>
        </p:txBody>
      </p:sp>
      <p:sp>
        <p:nvSpPr>
          <p:cNvPr id="15" name="TextBox 14"/>
          <p:cNvSpPr txBox="1"/>
          <p:nvPr/>
        </p:nvSpPr>
        <p:spPr>
          <a:xfrm>
            <a:off x="2852928" y="3131820"/>
            <a:ext cx="2642615" cy="320040"/>
          </a:xfrm>
          <a:prstGeom prst="rect">
            <a:avLst/>
          </a:prstGeom>
          <a:noFill/>
        </p:spPr>
        <p:txBody>
          <a:bodyPr wrap="none" lIns="0" rIns="0" tIns="0" bIns="0">
            <a:spAutoFit/>
          </a:bodyPr>
          <a:lstStyle/>
          <a:p>
            <a:pPr>
              <a:lnSpc>
                <a:spcPts val="1792"/>
              </a:lnSpc>
              <a:spcBef>
                <a:spcPts val="0"/>
              </a:spcBef>
              <a:spcAft>
                <a:spcPts val="0"/>
              </a:spcAft>
              <a:defRPr sz="1400" b="0">
                <a:solidFill>
                  <a:srgbClr val="152B3A"/>
                </a:solidFill>
                <a:latin typeface="Be Vietnam Pro"/>
              </a:defRPr>
            </a:pPr>
            <a:r>
              <a:t>Credit </a:t>
            </a:r>
            <a:r>
              <a:rPr>
                <a:latin typeface="Arial Unicode MS"/>
              </a:rPr>
              <a:t>→</a:t>
            </a:r>
            <a:r>
              <a:t> Person</a:t>
            </a:r>
          </a:p>
        </p:txBody>
      </p:sp>
      <p:sp>
        <p:nvSpPr>
          <p:cNvPr id="16" name="TextBox 15"/>
          <p:cNvSpPr txBox="1"/>
          <p:nvPr/>
        </p:nvSpPr>
        <p:spPr>
          <a:xfrm>
            <a:off x="5715000" y="3131820"/>
            <a:ext cx="1719072" cy="320040"/>
          </a:xfrm>
          <a:prstGeom prst="rect">
            <a:avLst/>
          </a:prstGeom>
          <a:noFill/>
        </p:spPr>
        <p:txBody>
          <a:bodyPr wrap="none" lIns="0" rIns="0" tIns="0" bIns="0">
            <a:spAutoFit/>
          </a:bodyPr>
          <a:lstStyle/>
          <a:p>
            <a:pPr>
              <a:lnSpc>
                <a:spcPts val="1792"/>
              </a:lnSpc>
              <a:spcBef>
                <a:spcPts val="0"/>
              </a:spcBef>
              <a:spcAft>
                <a:spcPts val="0"/>
              </a:spcAft>
              <a:defRPr sz="1400" b="0">
                <a:solidFill>
                  <a:srgbClr val="152B3A"/>
                </a:solidFill>
                <a:latin typeface="Be Vietnam Pro"/>
              </a:defRPr>
            </a:pPr>
            <a:r>
              <a:t>hasContribution</a:t>
            </a:r>
          </a:p>
        </p:txBody>
      </p:sp>
      <p:sp>
        <p:nvSpPr>
          <p:cNvPr id="17" name="Rectangle 16"/>
          <p:cNvSpPr/>
          <p:nvPr/>
        </p:nvSpPr>
        <p:spPr>
          <a:xfrm>
            <a:off x="731520" y="3511296"/>
            <a:ext cx="6812280" cy="438912"/>
          </a:xfrm>
          <a:prstGeom prst="rect">
            <a:avLst/>
          </a:prstGeom>
          <a:solidFill>
            <a:srgbClr val="E7EF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41248" y="3570732"/>
            <a:ext cx="1792224" cy="320040"/>
          </a:xfrm>
          <a:prstGeom prst="rect">
            <a:avLst/>
          </a:prstGeom>
          <a:noFill/>
        </p:spPr>
        <p:txBody>
          <a:bodyPr wrap="none" lIns="0" rIns="0" tIns="0" bIns="0">
            <a:spAutoFit/>
          </a:bodyPr>
          <a:lstStyle/>
          <a:p>
            <a:pPr>
              <a:lnSpc>
                <a:spcPts val="1792"/>
              </a:lnSpc>
              <a:spcBef>
                <a:spcPts val="0"/>
              </a:spcBef>
              <a:spcAft>
                <a:spcPts val="0"/>
              </a:spcAft>
              <a:defRPr sz="1400" b="0">
                <a:solidFill>
                  <a:srgbClr val="152B3A"/>
                </a:solidFill>
                <a:latin typeface="Be Vietnam Pro"/>
              </a:defRPr>
            </a:pPr>
            <a:r>
              <a:t>contributionTo</a:t>
            </a:r>
          </a:p>
        </p:txBody>
      </p:sp>
      <p:sp>
        <p:nvSpPr>
          <p:cNvPr id="19" name="TextBox 18"/>
          <p:cNvSpPr txBox="1"/>
          <p:nvPr/>
        </p:nvSpPr>
        <p:spPr>
          <a:xfrm>
            <a:off x="2852928" y="3570732"/>
            <a:ext cx="2642615" cy="320040"/>
          </a:xfrm>
          <a:prstGeom prst="rect">
            <a:avLst/>
          </a:prstGeom>
          <a:noFill/>
        </p:spPr>
        <p:txBody>
          <a:bodyPr wrap="none" lIns="0" rIns="0" tIns="0" bIns="0">
            <a:spAutoFit/>
          </a:bodyPr>
          <a:lstStyle/>
          <a:p>
            <a:pPr>
              <a:lnSpc>
                <a:spcPts val="1792"/>
              </a:lnSpc>
              <a:spcBef>
                <a:spcPts val="0"/>
              </a:spcBef>
              <a:spcAft>
                <a:spcPts val="0"/>
              </a:spcAft>
              <a:defRPr sz="1400" b="0">
                <a:solidFill>
                  <a:srgbClr val="152B3A"/>
                </a:solidFill>
                <a:latin typeface="Be Vietnam Pro"/>
              </a:defRPr>
            </a:pPr>
            <a:r>
              <a:t>Credit </a:t>
            </a:r>
            <a:r>
              <a:rPr>
                <a:latin typeface="Arial Unicode MS"/>
              </a:rPr>
              <a:t>→</a:t>
            </a:r>
            <a:r>
              <a:t> Film</a:t>
            </a:r>
          </a:p>
        </p:txBody>
      </p:sp>
      <p:sp>
        <p:nvSpPr>
          <p:cNvPr id="20" name="TextBox 19"/>
          <p:cNvSpPr txBox="1"/>
          <p:nvPr/>
        </p:nvSpPr>
        <p:spPr>
          <a:xfrm>
            <a:off x="5715000" y="3570732"/>
            <a:ext cx="1719072" cy="320040"/>
          </a:xfrm>
          <a:prstGeom prst="rect">
            <a:avLst/>
          </a:prstGeom>
          <a:noFill/>
        </p:spPr>
        <p:txBody>
          <a:bodyPr wrap="none" lIns="0" rIns="0" tIns="0" bIns="0">
            <a:spAutoFit/>
          </a:bodyPr>
          <a:lstStyle/>
          <a:p>
            <a:pPr>
              <a:lnSpc>
                <a:spcPts val="1792"/>
              </a:lnSpc>
              <a:spcBef>
                <a:spcPts val="0"/>
              </a:spcBef>
              <a:spcAft>
                <a:spcPts val="0"/>
              </a:spcAft>
              <a:defRPr sz="1400" b="0">
                <a:solidFill>
                  <a:srgbClr val="152B3A"/>
                </a:solidFill>
                <a:latin typeface="Be Vietnam Pro"/>
              </a:defRPr>
            </a:pPr>
            <a:r>
              <a:t>contributionOf</a:t>
            </a:r>
          </a:p>
        </p:txBody>
      </p:sp>
      <p:sp>
        <p:nvSpPr>
          <p:cNvPr id="21" name="Rectangle 20"/>
          <p:cNvSpPr/>
          <p:nvPr/>
        </p:nvSpPr>
        <p:spPr>
          <a:xfrm>
            <a:off x="731520" y="3950208"/>
            <a:ext cx="6812280" cy="43891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41248" y="4009644"/>
            <a:ext cx="1792224" cy="320040"/>
          </a:xfrm>
          <a:prstGeom prst="rect">
            <a:avLst/>
          </a:prstGeom>
          <a:noFill/>
        </p:spPr>
        <p:txBody>
          <a:bodyPr wrap="none" lIns="0" rIns="0" tIns="0" bIns="0">
            <a:spAutoFit/>
          </a:bodyPr>
          <a:lstStyle/>
          <a:p>
            <a:pPr>
              <a:lnSpc>
                <a:spcPts val="1792"/>
              </a:lnSpc>
              <a:spcBef>
                <a:spcPts val="0"/>
              </a:spcBef>
              <a:spcAft>
                <a:spcPts val="0"/>
              </a:spcAft>
              <a:defRPr sz="1400" b="0">
                <a:solidFill>
                  <a:srgbClr val="152B3A"/>
                </a:solidFill>
                <a:latin typeface="Be Vietnam Pro"/>
              </a:defRPr>
            </a:pPr>
            <a:r>
              <a:t>hasRole</a:t>
            </a:r>
          </a:p>
        </p:txBody>
      </p:sp>
      <p:sp>
        <p:nvSpPr>
          <p:cNvPr id="23" name="TextBox 22"/>
          <p:cNvSpPr txBox="1"/>
          <p:nvPr/>
        </p:nvSpPr>
        <p:spPr>
          <a:xfrm>
            <a:off x="2852928" y="4009644"/>
            <a:ext cx="2642615" cy="320040"/>
          </a:xfrm>
          <a:prstGeom prst="rect">
            <a:avLst/>
          </a:prstGeom>
          <a:noFill/>
        </p:spPr>
        <p:txBody>
          <a:bodyPr wrap="none" lIns="0" rIns="0" tIns="0" bIns="0">
            <a:spAutoFit/>
          </a:bodyPr>
          <a:lstStyle/>
          <a:p>
            <a:pPr>
              <a:lnSpc>
                <a:spcPts val="1792"/>
              </a:lnSpc>
              <a:spcBef>
                <a:spcPts val="0"/>
              </a:spcBef>
              <a:spcAft>
                <a:spcPts val="0"/>
              </a:spcAft>
              <a:defRPr sz="1400" b="0">
                <a:solidFill>
                  <a:srgbClr val="152B3A"/>
                </a:solidFill>
                <a:latin typeface="Be Vietnam Pro"/>
              </a:defRPr>
            </a:pPr>
            <a:r>
              <a:t>Credit </a:t>
            </a:r>
            <a:r>
              <a:rPr>
                <a:latin typeface="Arial Unicode MS"/>
              </a:rPr>
              <a:t>→</a:t>
            </a:r>
            <a:r>
              <a:t> Role</a:t>
            </a:r>
          </a:p>
        </p:txBody>
      </p:sp>
      <p:sp>
        <p:nvSpPr>
          <p:cNvPr id="24" name="TextBox 23"/>
          <p:cNvSpPr txBox="1"/>
          <p:nvPr/>
        </p:nvSpPr>
        <p:spPr>
          <a:xfrm>
            <a:off x="5715000" y="4009644"/>
            <a:ext cx="1719072" cy="320040"/>
          </a:xfrm>
          <a:prstGeom prst="rect">
            <a:avLst/>
          </a:prstGeom>
          <a:noFill/>
        </p:spPr>
        <p:txBody>
          <a:bodyPr wrap="none" lIns="0" rIns="0" tIns="0" bIns="0">
            <a:spAutoFit/>
          </a:bodyPr>
          <a:lstStyle/>
          <a:p>
            <a:pPr>
              <a:lnSpc>
                <a:spcPts val="1792"/>
              </a:lnSpc>
              <a:spcBef>
                <a:spcPts val="0"/>
              </a:spcBef>
              <a:spcAft>
                <a:spcPts val="0"/>
              </a:spcAft>
              <a:defRPr sz="1400" b="0">
                <a:solidFill>
                  <a:srgbClr val="152B3A"/>
                </a:solidFill>
                <a:latin typeface="Be Vietnam Pro"/>
              </a:defRPr>
            </a:pPr>
            <a:r>
              <a:t>functional</a:t>
            </a:r>
          </a:p>
        </p:txBody>
      </p:sp>
      <p:sp>
        <p:nvSpPr>
          <p:cNvPr id="25" name="Rectangle 24"/>
          <p:cNvSpPr/>
          <p:nvPr/>
        </p:nvSpPr>
        <p:spPr>
          <a:xfrm>
            <a:off x="731520" y="4389120"/>
            <a:ext cx="6812280" cy="438912"/>
          </a:xfrm>
          <a:prstGeom prst="rect">
            <a:avLst/>
          </a:prstGeom>
          <a:solidFill>
            <a:srgbClr val="E7EF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41248" y="4448556"/>
            <a:ext cx="1792224" cy="320040"/>
          </a:xfrm>
          <a:prstGeom prst="rect">
            <a:avLst/>
          </a:prstGeom>
          <a:noFill/>
        </p:spPr>
        <p:txBody>
          <a:bodyPr wrap="none" lIns="0" rIns="0" tIns="0" bIns="0">
            <a:spAutoFit/>
          </a:bodyPr>
          <a:lstStyle/>
          <a:p>
            <a:pPr>
              <a:lnSpc>
                <a:spcPts val="1792"/>
              </a:lnSpc>
              <a:spcBef>
                <a:spcPts val="0"/>
              </a:spcBef>
              <a:spcAft>
                <a:spcPts val="0"/>
              </a:spcAft>
              <a:defRPr sz="1400" b="0">
                <a:solidFill>
                  <a:srgbClr val="152B3A"/>
                </a:solidFill>
                <a:latin typeface="Be Vietnam Pro"/>
              </a:defRPr>
            </a:pPr>
            <a:r>
              <a:t>dbo:director</a:t>
            </a:r>
          </a:p>
        </p:txBody>
      </p:sp>
      <p:sp>
        <p:nvSpPr>
          <p:cNvPr id="27" name="TextBox 26"/>
          <p:cNvSpPr txBox="1"/>
          <p:nvPr/>
        </p:nvSpPr>
        <p:spPr>
          <a:xfrm>
            <a:off x="2852928" y="4448556"/>
            <a:ext cx="2642615" cy="320040"/>
          </a:xfrm>
          <a:prstGeom prst="rect">
            <a:avLst/>
          </a:prstGeom>
          <a:noFill/>
        </p:spPr>
        <p:txBody>
          <a:bodyPr wrap="none" lIns="0" rIns="0" tIns="0" bIns="0">
            <a:spAutoFit/>
          </a:bodyPr>
          <a:lstStyle/>
          <a:p>
            <a:pPr>
              <a:lnSpc>
                <a:spcPts val="1792"/>
              </a:lnSpc>
              <a:spcBef>
                <a:spcPts val="0"/>
              </a:spcBef>
              <a:spcAft>
                <a:spcPts val="0"/>
              </a:spcAft>
              <a:defRPr sz="1400" b="0">
                <a:solidFill>
                  <a:srgbClr val="152B3A"/>
                </a:solidFill>
                <a:latin typeface="Be Vietnam Pro"/>
              </a:defRPr>
            </a:pPr>
            <a:r>
              <a:t>Film </a:t>
            </a:r>
            <a:r>
              <a:rPr>
                <a:latin typeface="Arial Unicode MS"/>
              </a:rPr>
              <a:t>→</a:t>
            </a:r>
            <a:r>
              <a:t> Person</a:t>
            </a:r>
          </a:p>
        </p:txBody>
      </p:sp>
      <p:sp>
        <p:nvSpPr>
          <p:cNvPr id="28" name="TextBox 27"/>
          <p:cNvSpPr txBox="1"/>
          <p:nvPr/>
        </p:nvSpPr>
        <p:spPr>
          <a:xfrm>
            <a:off x="5715000" y="4448556"/>
            <a:ext cx="1719072" cy="320040"/>
          </a:xfrm>
          <a:prstGeom prst="rect">
            <a:avLst/>
          </a:prstGeom>
          <a:noFill/>
        </p:spPr>
        <p:txBody>
          <a:bodyPr wrap="none" lIns="0" rIns="0" tIns="0" bIns="0">
            <a:spAutoFit/>
          </a:bodyPr>
          <a:lstStyle/>
          <a:p>
            <a:pPr>
              <a:lnSpc>
                <a:spcPts val="1792"/>
              </a:lnSpc>
              <a:spcBef>
                <a:spcPts val="0"/>
              </a:spcBef>
              <a:spcAft>
                <a:spcPts val="0"/>
              </a:spcAft>
              <a:defRPr sz="1400" b="0">
                <a:solidFill>
                  <a:srgbClr val="152B3A"/>
                </a:solidFill>
                <a:latin typeface="Be Vietnam Pro"/>
              </a:defRPr>
            </a:pPr>
            <a:r>
              <a:t>ex:directed</a:t>
            </a:r>
          </a:p>
        </p:txBody>
      </p:sp>
      <p:sp>
        <p:nvSpPr>
          <p:cNvPr id="29" name="Rectangle 28"/>
          <p:cNvSpPr/>
          <p:nvPr/>
        </p:nvSpPr>
        <p:spPr>
          <a:xfrm>
            <a:off x="731520" y="4828032"/>
            <a:ext cx="6812280" cy="43891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841248" y="4887468"/>
            <a:ext cx="1792224" cy="320040"/>
          </a:xfrm>
          <a:prstGeom prst="rect">
            <a:avLst/>
          </a:prstGeom>
          <a:noFill/>
        </p:spPr>
        <p:txBody>
          <a:bodyPr wrap="none" lIns="0" rIns="0" tIns="0" bIns="0">
            <a:spAutoFit/>
          </a:bodyPr>
          <a:lstStyle/>
          <a:p>
            <a:pPr>
              <a:lnSpc>
                <a:spcPts val="1792"/>
              </a:lnSpc>
              <a:spcBef>
                <a:spcPts val="0"/>
              </a:spcBef>
              <a:spcAft>
                <a:spcPts val="0"/>
              </a:spcAft>
              <a:defRPr sz="1400" b="0">
                <a:solidFill>
                  <a:srgbClr val="152B3A"/>
                </a:solidFill>
                <a:latin typeface="Be Vietnam Pro"/>
              </a:defRPr>
            </a:pPr>
            <a:r>
              <a:t>dbo:starring</a:t>
            </a:r>
          </a:p>
        </p:txBody>
      </p:sp>
      <p:sp>
        <p:nvSpPr>
          <p:cNvPr id="31" name="TextBox 30"/>
          <p:cNvSpPr txBox="1"/>
          <p:nvPr/>
        </p:nvSpPr>
        <p:spPr>
          <a:xfrm>
            <a:off x="2852928" y="4887468"/>
            <a:ext cx="2642615" cy="320040"/>
          </a:xfrm>
          <a:prstGeom prst="rect">
            <a:avLst/>
          </a:prstGeom>
          <a:noFill/>
        </p:spPr>
        <p:txBody>
          <a:bodyPr wrap="none" lIns="0" rIns="0" tIns="0" bIns="0">
            <a:spAutoFit/>
          </a:bodyPr>
          <a:lstStyle/>
          <a:p>
            <a:pPr>
              <a:lnSpc>
                <a:spcPts val="1792"/>
              </a:lnSpc>
              <a:spcBef>
                <a:spcPts val="0"/>
              </a:spcBef>
              <a:spcAft>
                <a:spcPts val="0"/>
              </a:spcAft>
              <a:defRPr sz="1400" b="0">
                <a:solidFill>
                  <a:srgbClr val="152B3A"/>
                </a:solidFill>
                <a:latin typeface="Be Vietnam Pro"/>
              </a:defRPr>
            </a:pPr>
            <a:r>
              <a:t>Work </a:t>
            </a:r>
            <a:r>
              <a:rPr>
                <a:latin typeface="Arial Unicode MS"/>
              </a:rPr>
              <a:t>→</a:t>
            </a:r>
            <a:r>
              <a:t> Actor</a:t>
            </a:r>
          </a:p>
        </p:txBody>
      </p:sp>
      <p:sp>
        <p:nvSpPr>
          <p:cNvPr id="32" name="TextBox 31"/>
          <p:cNvSpPr txBox="1"/>
          <p:nvPr/>
        </p:nvSpPr>
        <p:spPr>
          <a:xfrm>
            <a:off x="5715000" y="4887468"/>
            <a:ext cx="1719072" cy="320040"/>
          </a:xfrm>
          <a:prstGeom prst="rect">
            <a:avLst/>
          </a:prstGeom>
          <a:noFill/>
        </p:spPr>
        <p:txBody>
          <a:bodyPr wrap="none" lIns="0" rIns="0" tIns="0" bIns="0">
            <a:spAutoFit/>
          </a:bodyPr>
          <a:lstStyle/>
          <a:p>
            <a:pPr>
              <a:lnSpc>
                <a:spcPts val="1792"/>
              </a:lnSpc>
              <a:spcBef>
                <a:spcPts val="0"/>
              </a:spcBef>
              <a:spcAft>
                <a:spcPts val="0"/>
              </a:spcAft>
              <a:defRPr sz="1400" b="0">
                <a:solidFill>
                  <a:srgbClr val="152B3A"/>
                </a:solidFill>
                <a:latin typeface="Be Vietnam Pro"/>
              </a:defRPr>
            </a:pPr>
            <a:r>
              <a:t>ex:actedIn</a:t>
            </a:r>
          </a:p>
        </p:txBody>
      </p:sp>
      <p:sp>
        <p:nvSpPr>
          <p:cNvPr id="33" name="Rectangle 32"/>
          <p:cNvSpPr/>
          <p:nvPr/>
        </p:nvSpPr>
        <p:spPr>
          <a:xfrm>
            <a:off x="731520" y="5266944"/>
            <a:ext cx="6812280" cy="438912"/>
          </a:xfrm>
          <a:prstGeom prst="rect">
            <a:avLst/>
          </a:prstGeom>
          <a:solidFill>
            <a:srgbClr val="E7EF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841248" y="5326380"/>
            <a:ext cx="1792224" cy="320040"/>
          </a:xfrm>
          <a:prstGeom prst="rect">
            <a:avLst/>
          </a:prstGeom>
          <a:noFill/>
        </p:spPr>
        <p:txBody>
          <a:bodyPr wrap="none" lIns="0" rIns="0" tIns="0" bIns="0">
            <a:spAutoFit/>
          </a:bodyPr>
          <a:lstStyle/>
          <a:p>
            <a:pPr>
              <a:lnSpc>
                <a:spcPts val="1792"/>
              </a:lnSpc>
              <a:spcBef>
                <a:spcPts val="0"/>
              </a:spcBef>
              <a:spcAft>
                <a:spcPts val="0"/>
              </a:spcAft>
              <a:defRPr sz="1400" b="0">
                <a:solidFill>
                  <a:srgbClr val="152B3A"/>
                </a:solidFill>
                <a:latin typeface="Be Vietnam Pro"/>
              </a:defRPr>
            </a:pPr>
            <a:r>
              <a:t>contributedTo</a:t>
            </a:r>
          </a:p>
        </p:txBody>
      </p:sp>
      <p:sp>
        <p:nvSpPr>
          <p:cNvPr id="35" name="TextBox 34"/>
          <p:cNvSpPr txBox="1"/>
          <p:nvPr/>
        </p:nvSpPr>
        <p:spPr>
          <a:xfrm>
            <a:off x="2852928" y="5326380"/>
            <a:ext cx="2642615" cy="320040"/>
          </a:xfrm>
          <a:prstGeom prst="rect">
            <a:avLst/>
          </a:prstGeom>
          <a:noFill/>
        </p:spPr>
        <p:txBody>
          <a:bodyPr wrap="none" lIns="0" rIns="0" tIns="0" bIns="0">
            <a:spAutoFit/>
          </a:bodyPr>
          <a:lstStyle/>
          <a:p>
            <a:pPr>
              <a:lnSpc>
                <a:spcPts val="1792"/>
              </a:lnSpc>
              <a:spcBef>
                <a:spcPts val="0"/>
              </a:spcBef>
              <a:spcAft>
                <a:spcPts val="0"/>
              </a:spcAft>
              <a:defRPr sz="1400" b="0">
                <a:solidFill>
                  <a:srgbClr val="152B3A"/>
                </a:solidFill>
                <a:latin typeface="Be Vietnam Pro"/>
              </a:defRPr>
            </a:pPr>
            <a:r>
              <a:t>Person </a:t>
            </a:r>
            <a:r>
              <a:rPr>
                <a:latin typeface="Arial Unicode MS"/>
              </a:rPr>
              <a:t>→</a:t>
            </a:r>
            <a:r>
              <a:t> Film</a:t>
            </a:r>
          </a:p>
        </p:txBody>
      </p:sp>
      <p:sp>
        <p:nvSpPr>
          <p:cNvPr id="36" name="TextBox 35"/>
          <p:cNvSpPr txBox="1"/>
          <p:nvPr/>
        </p:nvSpPr>
        <p:spPr>
          <a:xfrm>
            <a:off x="5715000" y="5326380"/>
            <a:ext cx="1719072" cy="320040"/>
          </a:xfrm>
          <a:prstGeom prst="rect">
            <a:avLst/>
          </a:prstGeom>
          <a:noFill/>
        </p:spPr>
        <p:txBody>
          <a:bodyPr wrap="none" lIns="0" rIns="0" tIns="0" bIns="0">
            <a:spAutoFit/>
          </a:bodyPr>
          <a:lstStyle/>
          <a:p>
            <a:pPr>
              <a:lnSpc>
                <a:spcPts val="1792"/>
              </a:lnSpc>
              <a:spcBef>
                <a:spcPts val="0"/>
              </a:spcBef>
              <a:spcAft>
                <a:spcPts val="0"/>
              </a:spcAft>
              <a:defRPr sz="1400" b="0">
                <a:solidFill>
                  <a:srgbClr val="152B3A"/>
                </a:solidFill>
                <a:latin typeface="Be Vietnam Pro"/>
              </a:defRPr>
            </a:pPr>
            <a:r>
              <a:t>property chain</a:t>
            </a:r>
          </a:p>
        </p:txBody>
      </p:sp>
      <p:sp>
        <p:nvSpPr>
          <p:cNvPr id="37" name="PHOTO_P05_0"/>
          <p:cNvSpPr/>
          <p:nvPr/>
        </p:nvSpPr>
        <p:spPr>
          <a:xfrm>
            <a:off x="7818120" y="2578608"/>
            <a:ext cx="6080760" cy="4590288"/>
          </a:xfrm>
          <a:prstGeom prst="roundRect">
            <a:avLst/>
          </a:prstGeom>
          <a:solidFill>
            <a:srgbClr val="FFFFFF"/>
          </a:solidFill>
          <a:ln>
            <a:solidFill>
              <a:srgbClr val="007F8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PHOTO_P05_1"/>
          <p:cNvSpPr txBox="1"/>
          <p:nvPr/>
        </p:nvSpPr>
        <p:spPr>
          <a:xfrm>
            <a:off x="8019288" y="2743200"/>
            <a:ext cx="5678424" cy="347472"/>
          </a:xfrm>
          <a:prstGeom prst="rect">
            <a:avLst/>
          </a:prstGeom>
          <a:noFill/>
        </p:spPr>
        <p:txBody>
          <a:bodyPr wrap="none" lIns="0" rIns="0" tIns="0" bIns="0">
            <a:spAutoFit/>
          </a:bodyPr>
          <a:lstStyle/>
          <a:p>
            <a:pPr>
              <a:lnSpc>
                <a:spcPts val="1792"/>
              </a:lnSpc>
              <a:spcBef>
                <a:spcPts val="0"/>
              </a:spcBef>
              <a:spcAft>
                <a:spcPts val="0"/>
              </a:spcAft>
              <a:defRPr sz="1400" b="1">
                <a:solidFill>
                  <a:srgbClr val="007F82"/>
                </a:solidFill>
                <a:latin typeface="Be Vietnam Pro"/>
              </a:defRPr>
            </a:pPr>
            <a:r>
              <a:t>ẢNH PROTÉGÉ CẦN BỔ SUNG · P05</a:t>
            </a:r>
          </a:p>
        </p:txBody>
      </p:sp>
      <p:sp>
        <p:nvSpPr>
          <p:cNvPr id="39" name="PHOTO_P05_2"/>
          <p:cNvSpPr/>
          <p:nvPr/>
        </p:nvSpPr>
        <p:spPr>
          <a:xfrm>
            <a:off x="8019288" y="3310128"/>
            <a:ext cx="5678424" cy="1051560"/>
          </a:xfrm>
          <a:prstGeom prst="roundRect">
            <a:avLst/>
          </a:prstGeom>
          <a:solidFill>
            <a:srgbClr val="E7EF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PHOTO_P05_3"/>
          <p:cNvSpPr txBox="1"/>
          <p:nvPr/>
        </p:nvSpPr>
        <p:spPr>
          <a:xfrm>
            <a:off x="8183880" y="3520439"/>
            <a:ext cx="5349240" cy="731520"/>
          </a:xfrm>
          <a:prstGeom prst="rect">
            <a:avLst/>
          </a:prstGeom>
          <a:noFill/>
        </p:spPr>
        <p:txBody>
          <a:bodyPr wrap="none" lIns="0" rIns="0" tIns="0" bIns="0">
            <a:spAutoFit/>
          </a:bodyPr>
          <a:lstStyle/>
          <a:p>
            <a:pPr>
              <a:lnSpc>
                <a:spcPts val="2816"/>
              </a:lnSpc>
              <a:spcBef>
                <a:spcPts val="0"/>
              </a:spcBef>
              <a:spcAft>
                <a:spcPts val="0"/>
              </a:spcAft>
              <a:defRPr sz="2200" b="1">
                <a:solidFill>
                  <a:srgbClr val="007F82"/>
                </a:solidFill>
                <a:latin typeface="Be Vietnam Pro"/>
              </a:defRPr>
            </a:pPr>
            <a:r>
              <a:t>Domain / range / inverse</a:t>
            </a:r>
          </a:p>
        </p:txBody>
      </p:sp>
      <p:sp>
        <p:nvSpPr>
          <p:cNvPr id="41" name="PHOTO_P05_4"/>
          <p:cNvSpPr txBox="1"/>
          <p:nvPr/>
        </p:nvSpPr>
        <p:spPr>
          <a:xfrm>
            <a:off x="8046720" y="4507992"/>
            <a:ext cx="5623560" cy="384048"/>
          </a:xfrm>
          <a:prstGeom prst="rect">
            <a:avLst/>
          </a:prstGeom>
          <a:noFill/>
        </p:spPr>
        <p:txBody>
          <a:bodyPr wrap="none" lIns="0" rIns="0" tIns="0" bIns="0">
            <a:spAutoFit/>
          </a:bodyPr>
          <a:lstStyle/>
          <a:p>
            <a:pPr>
              <a:lnSpc>
                <a:spcPts val="1664"/>
              </a:lnSpc>
              <a:spcBef>
                <a:spcPts val="0"/>
              </a:spcBef>
              <a:spcAft>
                <a:spcPts val="0"/>
              </a:spcAft>
              <a:defRPr sz="1300" b="0">
                <a:solidFill>
                  <a:srgbClr val="506776"/>
                </a:solidFill>
                <a:latin typeface="Be Vietnam Pro"/>
              </a:defRPr>
            </a:pPr>
            <a:r>
              <a:t>P05_object_property.png</a:t>
            </a:r>
          </a:p>
        </p:txBody>
      </p:sp>
      <p:sp>
        <p:nvSpPr>
          <p:cNvPr id="42" name="PHOTO_P05_5"/>
          <p:cNvSpPr txBox="1"/>
          <p:nvPr/>
        </p:nvSpPr>
        <p:spPr>
          <a:xfrm>
            <a:off x="8055864" y="4992624"/>
            <a:ext cx="5605272" cy="264160"/>
          </a:xfrm>
          <a:prstGeom prst="rect">
            <a:avLst/>
          </a:prstGeom>
          <a:noFill/>
        </p:spPr>
        <p:txBody>
          <a:bodyPr wrap="none" lIns="0" rIns="0" tIns="0" bIns="0">
            <a:spAutoFit/>
          </a:bodyPr>
          <a:lstStyle/>
          <a:p>
            <a:pPr>
              <a:lnSpc>
                <a:spcPts val="1792"/>
              </a:lnSpc>
              <a:spcBef>
                <a:spcPts val="0"/>
              </a:spcBef>
              <a:spcAft>
                <a:spcPts val="0"/>
              </a:spcAft>
              <a:defRPr sz="1400" b="0">
                <a:solidFill>
                  <a:srgbClr val="506776"/>
                </a:solidFill>
                <a:latin typeface="Be Vietnam Pro"/>
              </a:defRPr>
            </a:pPr>
            <a:r>
              <a:t>1. Chọn contributionBy: Contribution </a:t>
            </a:r>
            <a:r>
              <a:rPr>
                <a:latin typeface="Arial Unicode MS"/>
              </a:rPr>
              <a:t>→</a:t>
            </a:r>
            <a:r>
              <a:t> dbo:Person.</a:t>
            </a:r>
          </a:p>
        </p:txBody>
      </p:sp>
      <p:sp>
        <p:nvSpPr>
          <p:cNvPr id="43" name="PHOTO_P05_6"/>
          <p:cNvSpPr txBox="1"/>
          <p:nvPr/>
        </p:nvSpPr>
        <p:spPr>
          <a:xfrm>
            <a:off x="8055864" y="5348223"/>
            <a:ext cx="5605272" cy="264160"/>
          </a:xfrm>
          <a:prstGeom prst="rect">
            <a:avLst/>
          </a:prstGeom>
          <a:noFill/>
        </p:spPr>
        <p:txBody>
          <a:bodyPr wrap="none" lIns="0" rIns="0" tIns="0" bIns="0">
            <a:spAutoFit/>
          </a:bodyPr>
          <a:lstStyle/>
          <a:p>
            <a:pPr>
              <a:lnSpc>
                <a:spcPts val="1792"/>
              </a:lnSpc>
              <a:spcBef>
                <a:spcPts val="0"/>
              </a:spcBef>
              <a:spcAft>
                <a:spcPts val="0"/>
              </a:spcAft>
              <a:defRPr sz="1400" b="0">
                <a:solidFill>
                  <a:srgbClr val="506776"/>
                </a:solidFill>
                <a:latin typeface="Be Vietnam Pro"/>
              </a:defRPr>
            </a:pPr>
            <a:r>
              <a:t>2. Hiện Functional và inverse hasContribution.</a:t>
            </a:r>
          </a:p>
        </p:txBody>
      </p:sp>
      <p:sp>
        <p:nvSpPr>
          <p:cNvPr id="44" name="PHOTO_P05_7"/>
          <p:cNvSpPr txBox="1"/>
          <p:nvPr/>
        </p:nvSpPr>
        <p:spPr>
          <a:xfrm>
            <a:off x="8055864" y="5703823"/>
            <a:ext cx="5605272" cy="264160"/>
          </a:xfrm>
          <a:prstGeom prst="rect">
            <a:avLst/>
          </a:prstGeom>
          <a:noFill/>
        </p:spPr>
        <p:txBody>
          <a:bodyPr wrap="none" lIns="0" rIns="0" tIns="0" bIns="0">
            <a:spAutoFit/>
          </a:bodyPr>
          <a:lstStyle/>
          <a:p>
            <a:pPr>
              <a:lnSpc>
                <a:spcPts val="1792"/>
              </a:lnSpc>
              <a:spcBef>
                <a:spcPts val="0"/>
              </a:spcBef>
              <a:spcAft>
                <a:spcPts val="0"/>
              </a:spcAft>
              <a:defRPr sz="1400" b="0">
                <a:solidFill>
                  <a:srgbClr val="506776"/>
                </a:solidFill>
                <a:latin typeface="Be Vietnam Pro"/>
              </a:defRPr>
            </a:pPr>
            <a:r>
              <a:t>3. Có thể chụp contributedTo với property chain.</a:t>
            </a:r>
          </a:p>
        </p:txBody>
      </p:sp>
      <p:sp>
        <p:nvSpPr>
          <p:cNvPr id="45" name="PHOTO_P05_8"/>
          <p:cNvSpPr txBox="1"/>
          <p:nvPr/>
        </p:nvSpPr>
        <p:spPr>
          <a:xfrm>
            <a:off x="8046720" y="6830568"/>
            <a:ext cx="5623560" cy="283464"/>
          </a:xfrm>
          <a:prstGeom prst="rect">
            <a:avLst/>
          </a:prstGeom>
          <a:noFill/>
        </p:spPr>
        <p:txBody>
          <a:bodyPr wrap="none" lIns="0" rIns="0" tIns="0" bIns="0">
            <a:spAutoFit/>
          </a:bodyPr>
          <a:lstStyle/>
          <a:p>
            <a:pPr>
              <a:lnSpc>
                <a:spcPts val="1408"/>
              </a:lnSpc>
              <a:spcBef>
                <a:spcPts val="0"/>
              </a:spcBef>
              <a:spcAft>
                <a:spcPts val="0"/>
              </a:spcAft>
              <a:defRPr sz="1100" b="0">
                <a:solidFill>
                  <a:srgbClr val="007F82"/>
                </a:solidFill>
                <a:latin typeface="Be Vietnam Pro"/>
              </a:defRPr>
            </a:pPr>
            <a:r>
              <a:t>Thay khung bằng ảnh thật; chi tiết thêm trong Speaker Notes.</a:t>
            </a:r>
          </a:p>
        </p:txBody>
      </p:sp>
      <p:sp>
        <p:nvSpPr>
          <p:cNvPr id="46" name="TextBox 45"/>
          <p:cNvSpPr txBox="1"/>
          <p:nvPr/>
        </p:nvSpPr>
        <p:spPr>
          <a:xfrm>
            <a:off x="777240" y="7242048"/>
            <a:ext cx="13075920" cy="411480"/>
          </a:xfrm>
          <a:prstGeom prst="rect">
            <a:avLst/>
          </a:prstGeom>
          <a:noFill/>
        </p:spPr>
        <p:txBody>
          <a:bodyPr wrap="none" lIns="0" rIns="0" tIns="0" bIns="0">
            <a:spAutoFit/>
          </a:bodyPr>
          <a:lstStyle/>
          <a:p>
            <a:pPr>
              <a:lnSpc>
                <a:spcPts val="1664"/>
              </a:lnSpc>
              <a:spcBef>
                <a:spcPts val="0"/>
              </a:spcBef>
              <a:spcAft>
                <a:spcPts val="0"/>
              </a:spcAft>
              <a:defRPr sz="1300" b="0">
                <a:solidFill>
                  <a:srgbClr val="506776"/>
                </a:solidFill>
                <a:latin typeface="Be Vietnam Pro"/>
              </a:defRPr>
            </a:pPr>
            <a:r>
              <a:t>contributionBy / contributionTo / hasRole: functional. Domain/range can infer types; inverse reverses a relation.</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3F6F7"/>
        </a:solidFill>
        <a:effectLst/>
      </p:bgPr>
    </p:bg>
    <p:spTree>
      <p:nvGrpSpPr>
        <p:cNvPr id="1" name=""/>
        <p:cNvGrpSpPr/>
        <p:nvPr/>
      </p:nvGrpSpPr>
      <p:grpSpPr/>
      <p:sp>
        <p:nvSpPr>
          <p:cNvPr id="2" name="Rectangle 1"/>
          <p:cNvSpPr/>
          <p:nvPr/>
        </p:nvSpPr>
        <p:spPr>
          <a:xfrm>
            <a:off x="0" y="0"/>
            <a:ext cx="118872" cy="8229600"/>
          </a:xfrm>
          <a:prstGeom prst="rect">
            <a:avLst/>
          </a:prstGeom>
          <a:solidFill>
            <a:srgbClr val="007F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1887200" cy="320040"/>
          </a:xfrm>
          <a:prstGeom prst="rect">
            <a:avLst/>
          </a:prstGeom>
          <a:noFill/>
        </p:spPr>
        <p:txBody>
          <a:bodyPr wrap="none" lIns="0" rIns="0" tIns="0" bIns="0">
            <a:spAutoFit/>
          </a:bodyPr>
          <a:lstStyle/>
          <a:p>
            <a:pPr>
              <a:lnSpc>
                <a:spcPts val="1536"/>
              </a:lnSpc>
              <a:spcBef>
                <a:spcPts val="0"/>
              </a:spcBef>
              <a:spcAft>
                <a:spcPts val="0"/>
              </a:spcAft>
              <a:defRPr sz="1200" b="1">
                <a:solidFill>
                  <a:srgbClr val="007F82"/>
                </a:solidFill>
                <a:latin typeface="Be Vietnam Pro"/>
              </a:defRPr>
            </a:pPr>
            <a:r>
              <a:t>MOVIELOD / SEMANTIC WEB / ONTOLOGY 3.0.0</a:t>
            </a:r>
          </a:p>
        </p:txBody>
      </p:sp>
      <p:sp>
        <p:nvSpPr>
          <p:cNvPr id="4" name="TextBox 3"/>
          <p:cNvSpPr txBox="1"/>
          <p:nvPr/>
        </p:nvSpPr>
        <p:spPr>
          <a:xfrm>
            <a:off x="594360" y="868680"/>
            <a:ext cx="13441680" cy="822960"/>
          </a:xfrm>
          <a:prstGeom prst="rect">
            <a:avLst/>
          </a:prstGeom>
          <a:noFill/>
        </p:spPr>
        <p:txBody>
          <a:bodyPr wrap="none" lIns="0" rIns="0" tIns="0" bIns="0">
            <a:spAutoFit/>
          </a:bodyPr>
          <a:lstStyle/>
          <a:p>
            <a:pPr>
              <a:lnSpc>
                <a:spcPts val="4352"/>
              </a:lnSpc>
              <a:spcBef>
                <a:spcPts val="0"/>
              </a:spcBef>
              <a:spcAft>
                <a:spcPts val="0"/>
              </a:spcAft>
              <a:defRPr sz="3400" b="1">
                <a:solidFill>
                  <a:srgbClr val="152B3A"/>
                </a:solidFill>
                <a:latin typeface="Be Vietnam Pro"/>
              </a:defRPr>
            </a:pPr>
            <a:r>
              <a:t>Verified domain classes after HermiT</a:t>
            </a:r>
          </a:p>
        </p:txBody>
      </p:sp>
      <p:sp>
        <p:nvSpPr>
          <p:cNvPr id="5" name="TextBox 4"/>
          <p:cNvSpPr txBox="1"/>
          <p:nvPr/>
        </p:nvSpPr>
        <p:spPr>
          <a:xfrm>
            <a:off x="612648" y="1719072"/>
            <a:ext cx="13350240" cy="548640"/>
          </a:xfrm>
          <a:prstGeom prst="rect">
            <a:avLst/>
          </a:prstGeom>
          <a:noFill/>
        </p:spPr>
        <p:txBody>
          <a:bodyPr wrap="none" lIns="0" rIns="0" tIns="0" bIns="0">
            <a:spAutoFit/>
          </a:bodyPr>
          <a:lstStyle/>
          <a:p>
            <a:pPr>
              <a:lnSpc>
                <a:spcPts val="2176"/>
              </a:lnSpc>
              <a:spcBef>
                <a:spcPts val="0"/>
              </a:spcBef>
              <a:spcAft>
                <a:spcPts val="0"/>
              </a:spcAft>
              <a:defRPr sz="1700" b="0">
                <a:solidFill>
                  <a:srgbClr val="506776"/>
                </a:solidFill>
                <a:latin typeface="Be Vietnam Pro"/>
              </a:defRPr>
            </a:pPr>
            <a:r>
              <a:t>All listed types have zero assertions in the input data</a:t>
            </a:r>
          </a:p>
        </p:txBody>
      </p:sp>
      <p:sp>
        <p:nvSpPr>
          <p:cNvPr id="6" name="Rectangle 5"/>
          <p:cNvSpPr/>
          <p:nvPr/>
        </p:nvSpPr>
        <p:spPr>
          <a:xfrm>
            <a:off x="594360" y="7708392"/>
            <a:ext cx="13441680" cy="9144"/>
          </a:xfrm>
          <a:prstGeom prst="rect">
            <a:avLst/>
          </a:prstGeom>
          <a:solidFill>
            <a:srgbClr val="DDE6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94360" y="7845552"/>
            <a:ext cx="11887200" cy="201168"/>
          </a:xfrm>
          <a:prstGeom prst="rect">
            <a:avLst/>
          </a:prstGeom>
          <a:noFill/>
        </p:spPr>
        <p:txBody>
          <a:bodyPr wrap="none" lIns="0" rIns="0" tIns="0" bIns="0">
            <a:spAutoFit/>
          </a:bodyPr>
          <a:lstStyle/>
          <a:p>
            <a:pPr>
              <a:lnSpc>
                <a:spcPts val="1280"/>
              </a:lnSpc>
              <a:spcBef>
                <a:spcPts val="0"/>
              </a:spcBef>
              <a:spcAft>
                <a:spcPts val="0"/>
              </a:spcAft>
              <a:defRPr sz="1000" b="0">
                <a:solidFill>
                  <a:srgbClr val="506776"/>
                </a:solidFill>
                <a:latin typeface="Be Vietnam Pro"/>
              </a:defRPr>
            </a:pPr>
            <a:r>
              <a:t>Data checked: 09 Oct 2026 • Sources: project code and evidence/</a:t>
            </a:r>
          </a:p>
        </p:txBody>
      </p:sp>
      <p:sp>
        <p:nvSpPr>
          <p:cNvPr id="8" name="TextBox 7"/>
          <p:cNvSpPr txBox="1"/>
          <p:nvPr/>
        </p:nvSpPr>
        <p:spPr>
          <a:xfrm>
            <a:off x="13258800" y="7818120"/>
            <a:ext cx="914400" cy="274320"/>
          </a:xfrm>
          <a:prstGeom prst="rect">
            <a:avLst/>
          </a:prstGeom>
          <a:noFill/>
        </p:spPr>
        <p:txBody>
          <a:bodyPr wrap="none" lIns="0" rIns="0" tIns="0" bIns="0">
            <a:spAutoFit/>
          </a:bodyPr>
          <a:lstStyle/>
          <a:p>
            <a:pPr>
              <a:lnSpc>
                <a:spcPts val="1536"/>
              </a:lnSpc>
              <a:spcBef>
                <a:spcPts val="0"/>
              </a:spcBef>
              <a:spcAft>
                <a:spcPts val="0"/>
              </a:spcAft>
              <a:defRPr sz="1200" b="1">
                <a:solidFill>
                  <a:srgbClr val="007F82"/>
                </a:solidFill>
                <a:latin typeface="Be Vietnam Pro"/>
              </a:defRPr>
            </a:pPr>
            <a:r>
              <a:t>08 / 13</a:t>
            </a:r>
          </a:p>
        </p:txBody>
      </p:sp>
      <p:sp>
        <p:nvSpPr>
          <p:cNvPr id="9" name="Rectangle 8"/>
          <p:cNvSpPr/>
          <p:nvPr/>
        </p:nvSpPr>
        <p:spPr>
          <a:xfrm>
            <a:off x="731520" y="2542032"/>
            <a:ext cx="13304520" cy="393192"/>
          </a:xfrm>
          <a:prstGeom prst="rect">
            <a:avLst/>
          </a:prstGeom>
          <a:solidFill>
            <a:srgbClr val="007F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41248" y="2615184"/>
            <a:ext cx="3575304" cy="301752"/>
          </a:xfrm>
          <a:prstGeom prst="rect">
            <a:avLst/>
          </a:prstGeom>
          <a:noFill/>
        </p:spPr>
        <p:txBody>
          <a:bodyPr wrap="none" lIns="0" rIns="0" tIns="0" bIns="0">
            <a:spAutoFit/>
          </a:bodyPr>
          <a:lstStyle/>
          <a:p>
            <a:pPr>
              <a:lnSpc>
                <a:spcPts val="1920"/>
              </a:lnSpc>
              <a:spcBef>
                <a:spcPts val="0"/>
              </a:spcBef>
              <a:spcAft>
                <a:spcPts val="0"/>
              </a:spcAft>
              <a:defRPr sz="1500" b="1">
                <a:solidFill>
                  <a:srgbClr val="FFFFFF"/>
                </a:solidFill>
                <a:latin typeface="Be Vietnam Pro"/>
              </a:defRPr>
            </a:pPr>
            <a:r>
              <a:t>Class</a:t>
            </a:r>
          </a:p>
        </p:txBody>
      </p:sp>
      <p:sp>
        <p:nvSpPr>
          <p:cNvPr id="11" name="TextBox 10"/>
          <p:cNvSpPr txBox="1"/>
          <p:nvPr/>
        </p:nvSpPr>
        <p:spPr>
          <a:xfrm>
            <a:off x="4636008" y="2615184"/>
            <a:ext cx="5952744" cy="301752"/>
          </a:xfrm>
          <a:prstGeom prst="rect">
            <a:avLst/>
          </a:prstGeom>
          <a:noFill/>
        </p:spPr>
        <p:txBody>
          <a:bodyPr wrap="none" lIns="0" rIns="0" tIns="0" bIns="0">
            <a:spAutoFit/>
          </a:bodyPr>
          <a:lstStyle/>
          <a:p>
            <a:pPr>
              <a:lnSpc>
                <a:spcPts val="1920"/>
              </a:lnSpc>
              <a:spcBef>
                <a:spcPts val="0"/>
              </a:spcBef>
              <a:spcAft>
                <a:spcPts val="0"/>
              </a:spcAft>
              <a:defRPr sz="1500" b="1">
                <a:solidFill>
                  <a:srgbClr val="FFFFFF"/>
                </a:solidFill>
                <a:latin typeface="Be Vietnam Pro"/>
              </a:defRPr>
            </a:pPr>
            <a:r>
              <a:t>Condition in plain language</a:t>
            </a:r>
          </a:p>
        </p:txBody>
      </p:sp>
      <p:sp>
        <p:nvSpPr>
          <p:cNvPr id="12" name="TextBox 11"/>
          <p:cNvSpPr txBox="1"/>
          <p:nvPr/>
        </p:nvSpPr>
        <p:spPr>
          <a:xfrm>
            <a:off x="10808207" y="2615184"/>
            <a:ext cx="1014984" cy="301752"/>
          </a:xfrm>
          <a:prstGeom prst="rect">
            <a:avLst/>
          </a:prstGeom>
          <a:noFill/>
        </p:spPr>
        <p:txBody>
          <a:bodyPr wrap="none" lIns="0" rIns="0" tIns="0" bIns="0">
            <a:spAutoFit/>
          </a:bodyPr>
          <a:lstStyle/>
          <a:p>
            <a:pPr>
              <a:lnSpc>
                <a:spcPts val="1920"/>
              </a:lnSpc>
              <a:spcBef>
                <a:spcPts val="0"/>
              </a:spcBef>
              <a:spcAft>
                <a:spcPts val="0"/>
              </a:spcAft>
              <a:defRPr sz="1500" b="1">
                <a:solidFill>
                  <a:srgbClr val="FFFFFF"/>
                </a:solidFill>
                <a:latin typeface="Be Vietnam Pro"/>
              </a:defRPr>
            </a:pPr>
            <a:r>
              <a:t>Count</a:t>
            </a:r>
          </a:p>
        </p:txBody>
      </p:sp>
      <p:sp>
        <p:nvSpPr>
          <p:cNvPr id="13" name="TextBox 12"/>
          <p:cNvSpPr txBox="1"/>
          <p:nvPr/>
        </p:nvSpPr>
        <p:spPr>
          <a:xfrm>
            <a:off x="12042647" y="2615184"/>
            <a:ext cx="1883663" cy="301752"/>
          </a:xfrm>
          <a:prstGeom prst="rect">
            <a:avLst/>
          </a:prstGeom>
          <a:noFill/>
        </p:spPr>
        <p:txBody>
          <a:bodyPr wrap="none" lIns="0" rIns="0" tIns="0" bIns="0">
            <a:spAutoFit/>
          </a:bodyPr>
          <a:lstStyle/>
          <a:p>
            <a:pPr>
              <a:lnSpc>
                <a:spcPts val="1920"/>
              </a:lnSpc>
              <a:spcBef>
                <a:spcPts val="0"/>
              </a:spcBef>
              <a:spcAft>
                <a:spcPts val="0"/>
              </a:spcAft>
              <a:defRPr sz="1500" b="1">
                <a:solidFill>
                  <a:srgbClr val="FFFFFF"/>
                </a:solidFill>
                <a:latin typeface="Be Vietnam Pro"/>
              </a:defRPr>
            </a:pPr>
            <a:r>
              <a:t>Method</a:t>
            </a:r>
          </a:p>
        </p:txBody>
      </p:sp>
      <p:sp>
        <p:nvSpPr>
          <p:cNvPr id="14" name="Rectangle 13"/>
          <p:cNvSpPr/>
          <p:nvPr/>
        </p:nvSpPr>
        <p:spPr>
          <a:xfrm>
            <a:off x="731520" y="2935224"/>
            <a:ext cx="13304520" cy="303276"/>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41248" y="2964942"/>
            <a:ext cx="3575304" cy="243840"/>
          </a:xfrm>
          <a:prstGeom prst="rect">
            <a:avLst/>
          </a:prstGeom>
          <a:noFill/>
        </p:spPr>
        <p:txBody>
          <a:bodyPr wrap="none" lIns="0" rIns="0" tIns="0" bIns="0">
            <a:spAutoFit/>
          </a:bodyPr>
          <a:lstStyle/>
          <a:p>
            <a:pPr>
              <a:lnSpc>
                <a:spcPts val="1920"/>
              </a:lnSpc>
              <a:spcBef>
                <a:spcPts val="0"/>
              </a:spcBef>
              <a:spcAft>
                <a:spcPts val="0"/>
              </a:spcAft>
              <a:defRPr sz="1500" b="0">
                <a:solidFill>
                  <a:srgbClr val="152B3A"/>
                </a:solidFill>
                <a:latin typeface="Be Vietnam Pro"/>
              </a:defRPr>
            </a:pPr>
            <a:r>
              <a:t>Filmmaker</a:t>
            </a:r>
          </a:p>
        </p:txBody>
      </p:sp>
      <p:sp>
        <p:nvSpPr>
          <p:cNvPr id="16" name="TextBox 15"/>
          <p:cNvSpPr txBox="1"/>
          <p:nvPr/>
        </p:nvSpPr>
        <p:spPr>
          <a:xfrm>
            <a:off x="4636008" y="2964942"/>
            <a:ext cx="5952744" cy="243840"/>
          </a:xfrm>
          <a:prstGeom prst="rect">
            <a:avLst/>
          </a:prstGeom>
          <a:noFill/>
        </p:spPr>
        <p:txBody>
          <a:bodyPr wrap="none" lIns="0" rIns="0" tIns="0" bIns="0">
            <a:spAutoFit/>
          </a:bodyPr>
          <a:lstStyle/>
          <a:p>
            <a:pPr>
              <a:lnSpc>
                <a:spcPts val="1920"/>
              </a:lnSpc>
              <a:spcBef>
                <a:spcPts val="0"/>
              </a:spcBef>
              <a:spcAft>
                <a:spcPts val="0"/>
              </a:spcAft>
              <a:defRPr sz="1500" b="0">
                <a:solidFill>
                  <a:srgbClr val="152B3A"/>
                </a:solidFill>
                <a:latin typeface="Be Vietnam Pro"/>
              </a:defRPr>
            </a:pPr>
            <a:r>
              <a:t>Directing, writing or producing credit</a:t>
            </a:r>
          </a:p>
        </p:txBody>
      </p:sp>
      <p:sp>
        <p:nvSpPr>
          <p:cNvPr id="17" name="TextBox 16"/>
          <p:cNvSpPr txBox="1"/>
          <p:nvPr/>
        </p:nvSpPr>
        <p:spPr>
          <a:xfrm>
            <a:off x="10808207" y="2964942"/>
            <a:ext cx="1014984" cy="243840"/>
          </a:xfrm>
          <a:prstGeom prst="rect">
            <a:avLst/>
          </a:prstGeom>
          <a:noFill/>
        </p:spPr>
        <p:txBody>
          <a:bodyPr wrap="none" lIns="0" rIns="0" tIns="0" bIns="0">
            <a:spAutoFit/>
          </a:bodyPr>
          <a:lstStyle/>
          <a:p>
            <a:pPr>
              <a:lnSpc>
                <a:spcPts val="1920"/>
              </a:lnSpc>
              <a:spcBef>
                <a:spcPts val="0"/>
              </a:spcBef>
              <a:spcAft>
                <a:spcPts val="0"/>
              </a:spcAft>
              <a:defRPr sz="1500" b="0">
                <a:solidFill>
                  <a:srgbClr val="152B3A"/>
                </a:solidFill>
                <a:latin typeface="Be Vietnam Pro"/>
              </a:defRPr>
            </a:pPr>
            <a:r>
              <a:t>89</a:t>
            </a:r>
          </a:p>
        </p:txBody>
      </p:sp>
      <p:sp>
        <p:nvSpPr>
          <p:cNvPr id="18" name="TextBox 17"/>
          <p:cNvSpPr txBox="1"/>
          <p:nvPr/>
        </p:nvSpPr>
        <p:spPr>
          <a:xfrm>
            <a:off x="12042647" y="2964942"/>
            <a:ext cx="1883663" cy="243840"/>
          </a:xfrm>
          <a:prstGeom prst="rect">
            <a:avLst/>
          </a:prstGeom>
          <a:noFill/>
        </p:spPr>
        <p:txBody>
          <a:bodyPr wrap="none" lIns="0" rIns="0" tIns="0" bIns="0">
            <a:spAutoFit/>
          </a:bodyPr>
          <a:lstStyle/>
          <a:p>
            <a:pPr>
              <a:lnSpc>
                <a:spcPts val="1920"/>
              </a:lnSpc>
              <a:spcBef>
                <a:spcPts val="0"/>
              </a:spcBef>
              <a:spcAft>
                <a:spcPts val="0"/>
              </a:spcAft>
              <a:defRPr sz="1500" b="0">
                <a:solidFill>
                  <a:srgbClr val="152B3A"/>
                </a:solidFill>
                <a:latin typeface="Be Vietnam Pro"/>
              </a:defRPr>
            </a:pPr>
            <a:r>
              <a:t>HermiT</a:t>
            </a:r>
          </a:p>
        </p:txBody>
      </p:sp>
      <p:sp>
        <p:nvSpPr>
          <p:cNvPr id="19" name="Rectangle 18"/>
          <p:cNvSpPr/>
          <p:nvPr/>
        </p:nvSpPr>
        <p:spPr>
          <a:xfrm>
            <a:off x="731520" y="3238500"/>
            <a:ext cx="13304520" cy="303276"/>
          </a:xfrm>
          <a:prstGeom prst="rect">
            <a:avLst/>
          </a:prstGeom>
          <a:solidFill>
            <a:srgbClr val="E7EF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41248" y="3268218"/>
            <a:ext cx="3575304" cy="243840"/>
          </a:xfrm>
          <a:prstGeom prst="rect">
            <a:avLst/>
          </a:prstGeom>
          <a:noFill/>
        </p:spPr>
        <p:txBody>
          <a:bodyPr wrap="none" lIns="0" rIns="0" tIns="0" bIns="0">
            <a:spAutoFit/>
          </a:bodyPr>
          <a:lstStyle/>
          <a:p>
            <a:pPr>
              <a:lnSpc>
                <a:spcPts val="1920"/>
              </a:lnSpc>
              <a:spcBef>
                <a:spcPts val="0"/>
              </a:spcBef>
              <a:spcAft>
                <a:spcPts val="0"/>
              </a:spcAft>
              <a:defRPr sz="1500" b="0">
                <a:solidFill>
                  <a:srgbClr val="152B3A"/>
                </a:solidFill>
                <a:latin typeface="Be Vietnam Pro"/>
              </a:defRPr>
            </a:pPr>
            <a:r>
              <a:t>ActionFilm</a:t>
            </a:r>
          </a:p>
        </p:txBody>
      </p:sp>
      <p:sp>
        <p:nvSpPr>
          <p:cNvPr id="21" name="TextBox 20"/>
          <p:cNvSpPr txBox="1"/>
          <p:nvPr/>
        </p:nvSpPr>
        <p:spPr>
          <a:xfrm>
            <a:off x="4636008" y="3268218"/>
            <a:ext cx="5952744" cy="243840"/>
          </a:xfrm>
          <a:prstGeom prst="rect">
            <a:avLst/>
          </a:prstGeom>
          <a:noFill/>
        </p:spPr>
        <p:txBody>
          <a:bodyPr wrap="none" lIns="0" rIns="0" tIns="0" bIns="0">
            <a:spAutoFit/>
          </a:bodyPr>
          <a:lstStyle/>
          <a:p>
            <a:pPr>
              <a:lnSpc>
                <a:spcPts val="1920"/>
              </a:lnSpc>
              <a:spcBef>
                <a:spcPts val="0"/>
              </a:spcBef>
              <a:spcAft>
                <a:spcPts val="0"/>
              </a:spcAft>
              <a:defRPr sz="1500" b="0">
                <a:solidFill>
                  <a:srgbClr val="152B3A"/>
                </a:solidFill>
                <a:latin typeface="Be Vietnam Pro"/>
              </a:defRPr>
            </a:pPr>
            <a:r>
              <a:t>Action genre membership</a:t>
            </a:r>
          </a:p>
        </p:txBody>
      </p:sp>
      <p:sp>
        <p:nvSpPr>
          <p:cNvPr id="22" name="TextBox 21"/>
          <p:cNvSpPr txBox="1"/>
          <p:nvPr/>
        </p:nvSpPr>
        <p:spPr>
          <a:xfrm>
            <a:off x="10808207" y="3268218"/>
            <a:ext cx="1014984" cy="243840"/>
          </a:xfrm>
          <a:prstGeom prst="rect">
            <a:avLst/>
          </a:prstGeom>
          <a:noFill/>
        </p:spPr>
        <p:txBody>
          <a:bodyPr wrap="none" lIns="0" rIns="0" tIns="0" bIns="0">
            <a:spAutoFit/>
          </a:bodyPr>
          <a:lstStyle/>
          <a:p>
            <a:pPr>
              <a:lnSpc>
                <a:spcPts val="1920"/>
              </a:lnSpc>
              <a:spcBef>
                <a:spcPts val="0"/>
              </a:spcBef>
              <a:spcAft>
                <a:spcPts val="0"/>
              </a:spcAft>
              <a:defRPr sz="1500" b="0">
                <a:solidFill>
                  <a:srgbClr val="152B3A"/>
                </a:solidFill>
                <a:latin typeface="Be Vietnam Pro"/>
              </a:defRPr>
            </a:pPr>
            <a:r>
              <a:t>12</a:t>
            </a:r>
          </a:p>
        </p:txBody>
      </p:sp>
      <p:sp>
        <p:nvSpPr>
          <p:cNvPr id="23" name="TextBox 22"/>
          <p:cNvSpPr txBox="1"/>
          <p:nvPr/>
        </p:nvSpPr>
        <p:spPr>
          <a:xfrm>
            <a:off x="12042647" y="3268218"/>
            <a:ext cx="1883663" cy="243840"/>
          </a:xfrm>
          <a:prstGeom prst="rect">
            <a:avLst/>
          </a:prstGeom>
          <a:noFill/>
        </p:spPr>
        <p:txBody>
          <a:bodyPr wrap="none" lIns="0" rIns="0" tIns="0" bIns="0">
            <a:spAutoFit/>
          </a:bodyPr>
          <a:lstStyle/>
          <a:p>
            <a:pPr>
              <a:lnSpc>
                <a:spcPts val="1920"/>
              </a:lnSpc>
              <a:spcBef>
                <a:spcPts val="0"/>
              </a:spcBef>
              <a:spcAft>
                <a:spcPts val="0"/>
              </a:spcAft>
              <a:defRPr sz="1500" b="0">
                <a:solidFill>
                  <a:srgbClr val="152B3A"/>
                </a:solidFill>
                <a:latin typeface="Be Vietnam Pro"/>
              </a:defRPr>
            </a:pPr>
            <a:r>
              <a:t>HermiT</a:t>
            </a:r>
          </a:p>
        </p:txBody>
      </p:sp>
      <p:sp>
        <p:nvSpPr>
          <p:cNvPr id="24" name="Rectangle 23"/>
          <p:cNvSpPr/>
          <p:nvPr/>
        </p:nvSpPr>
        <p:spPr>
          <a:xfrm>
            <a:off x="731520" y="3541775"/>
            <a:ext cx="13304520" cy="303276"/>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841248" y="3571494"/>
            <a:ext cx="3575304" cy="243840"/>
          </a:xfrm>
          <a:prstGeom prst="rect">
            <a:avLst/>
          </a:prstGeom>
          <a:noFill/>
        </p:spPr>
        <p:txBody>
          <a:bodyPr wrap="none" lIns="0" rIns="0" tIns="0" bIns="0">
            <a:spAutoFit/>
          </a:bodyPr>
          <a:lstStyle/>
          <a:p>
            <a:pPr>
              <a:lnSpc>
                <a:spcPts val="1920"/>
              </a:lnSpc>
              <a:spcBef>
                <a:spcPts val="0"/>
              </a:spcBef>
              <a:spcAft>
                <a:spcPts val="0"/>
              </a:spcAft>
              <a:defRPr sz="1500" b="0">
                <a:solidFill>
                  <a:srgbClr val="152B3A"/>
                </a:solidFill>
                <a:latin typeface="Be Vietnam Pro"/>
              </a:defRPr>
            </a:pPr>
            <a:r>
              <a:t>AwardWinningFilm</a:t>
            </a:r>
          </a:p>
        </p:txBody>
      </p:sp>
      <p:sp>
        <p:nvSpPr>
          <p:cNvPr id="26" name="TextBox 25"/>
          <p:cNvSpPr txBox="1"/>
          <p:nvPr/>
        </p:nvSpPr>
        <p:spPr>
          <a:xfrm>
            <a:off x="4636008" y="3571494"/>
            <a:ext cx="5952744" cy="243840"/>
          </a:xfrm>
          <a:prstGeom prst="rect">
            <a:avLst/>
          </a:prstGeom>
          <a:noFill/>
        </p:spPr>
        <p:txBody>
          <a:bodyPr wrap="none" lIns="0" rIns="0" tIns="0" bIns="0">
            <a:spAutoFit/>
          </a:bodyPr>
          <a:lstStyle/>
          <a:p>
            <a:pPr>
              <a:lnSpc>
                <a:spcPts val="1920"/>
              </a:lnSpc>
              <a:spcBef>
                <a:spcPts val="0"/>
              </a:spcBef>
              <a:spcAft>
                <a:spcPts val="0"/>
              </a:spcAft>
              <a:defRPr sz="1500" b="0">
                <a:solidFill>
                  <a:srgbClr val="152B3A"/>
                </a:solidFill>
                <a:latin typeface="Be Vietnam Pro"/>
              </a:defRPr>
            </a:pPr>
            <a:r>
              <a:t>Film with an award</a:t>
            </a:r>
          </a:p>
        </p:txBody>
      </p:sp>
      <p:sp>
        <p:nvSpPr>
          <p:cNvPr id="27" name="TextBox 26"/>
          <p:cNvSpPr txBox="1"/>
          <p:nvPr/>
        </p:nvSpPr>
        <p:spPr>
          <a:xfrm>
            <a:off x="10808207" y="3571494"/>
            <a:ext cx="1014984" cy="243840"/>
          </a:xfrm>
          <a:prstGeom prst="rect">
            <a:avLst/>
          </a:prstGeom>
          <a:noFill/>
        </p:spPr>
        <p:txBody>
          <a:bodyPr wrap="none" lIns="0" rIns="0" tIns="0" bIns="0">
            <a:spAutoFit/>
          </a:bodyPr>
          <a:lstStyle/>
          <a:p>
            <a:pPr>
              <a:lnSpc>
                <a:spcPts val="1920"/>
              </a:lnSpc>
              <a:spcBef>
                <a:spcPts val="0"/>
              </a:spcBef>
              <a:spcAft>
                <a:spcPts val="0"/>
              </a:spcAft>
              <a:defRPr sz="1500" b="0">
                <a:solidFill>
                  <a:srgbClr val="152B3A"/>
                </a:solidFill>
                <a:latin typeface="Be Vietnam Pro"/>
              </a:defRPr>
            </a:pPr>
            <a:r>
              <a:t>26</a:t>
            </a:r>
          </a:p>
        </p:txBody>
      </p:sp>
      <p:sp>
        <p:nvSpPr>
          <p:cNvPr id="28" name="TextBox 27"/>
          <p:cNvSpPr txBox="1"/>
          <p:nvPr/>
        </p:nvSpPr>
        <p:spPr>
          <a:xfrm>
            <a:off x="12042647" y="3571494"/>
            <a:ext cx="1883663" cy="243840"/>
          </a:xfrm>
          <a:prstGeom prst="rect">
            <a:avLst/>
          </a:prstGeom>
          <a:noFill/>
        </p:spPr>
        <p:txBody>
          <a:bodyPr wrap="none" lIns="0" rIns="0" tIns="0" bIns="0">
            <a:spAutoFit/>
          </a:bodyPr>
          <a:lstStyle/>
          <a:p>
            <a:pPr>
              <a:lnSpc>
                <a:spcPts val="1920"/>
              </a:lnSpc>
              <a:spcBef>
                <a:spcPts val="0"/>
              </a:spcBef>
              <a:spcAft>
                <a:spcPts val="0"/>
              </a:spcAft>
              <a:defRPr sz="1500" b="0">
                <a:solidFill>
                  <a:srgbClr val="152B3A"/>
                </a:solidFill>
                <a:latin typeface="Be Vietnam Pro"/>
              </a:defRPr>
            </a:pPr>
            <a:r>
              <a:t>HermiT</a:t>
            </a:r>
          </a:p>
        </p:txBody>
      </p:sp>
      <p:sp>
        <p:nvSpPr>
          <p:cNvPr id="29" name="Rectangle 28"/>
          <p:cNvSpPr/>
          <p:nvPr/>
        </p:nvSpPr>
        <p:spPr>
          <a:xfrm>
            <a:off x="731520" y="3845052"/>
            <a:ext cx="13304520" cy="303276"/>
          </a:xfrm>
          <a:prstGeom prst="rect">
            <a:avLst/>
          </a:prstGeom>
          <a:solidFill>
            <a:srgbClr val="E7EF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841248" y="3874770"/>
            <a:ext cx="3575304" cy="243840"/>
          </a:xfrm>
          <a:prstGeom prst="rect">
            <a:avLst/>
          </a:prstGeom>
          <a:noFill/>
        </p:spPr>
        <p:txBody>
          <a:bodyPr wrap="none" lIns="0" rIns="0" tIns="0" bIns="0">
            <a:spAutoFit/>
          </a:bodyPr>
          <a:lstStyle/>
          <a:p>
            <a:pPr>
              <a:lnSpc>
                <a:spcPts val="1920"/>
              </a:lnSpc>
              <a:spcBef>
                <a:spcPts val="0"/>
              </a:spcBef>
              <a:spcAft>
                <a:spcPts val="0"/>
              </a:spcAft>
              <a:defRPr sz="1500" b="0">
                <a:solidFill>
                  <a:srgbClr val="152B3A"/>
                </a:solidFill>
                <a:latin typeface="Be Vietnam Pro"/>
              </a:defRPr>
            </a:pPr>
            <a:r>
              <a:t>MultiCreditContributor</a:t>
            </a:r>
          </a:p>
        </p:txBody>
      </p:sp>
      <p:sp>
        <p:nvSpPr>
          <p:cNvPr id="31" name="TextBox 30"/>
          <p:cNvSpPr txBox="1"/>
          <p:nvPr/>
        </p:nvSpPr>
        <p:spPr>
          <a:xfrm>
            <a:off x="4636008" y="3874770"/>
            <a:ext cx="5952744" cy="243840"/>
          </a:xfrm>
          <a:prstGeom prst="rect">
            <a:avLst/>
          </a:prstGeom>
          <a:noFill/>
        </p:spPr>
        <p:txBody>
          <a:bodyPr wrap="none" lIns="0" rIns="0" tIns="0" bIns="0">
            <a:spAutoFit/>
          </a:bodyPr>
          <a:lstStyle/>
          <a:p>
            <a:pPr>
              <a:lnSpc>
                <a:spcPts val="1920"/>
              </a:lnSpc>
              <a:spcBef>
                <a:spcPts val="0"/>
              </a:spcBef>
              <a:spcAft>
                <a:spcPts val="0"/>
              </a:spcAft>
              <a:defRPr sz="1500" b="0">
                <a:solidFill>
                  <a:srgbClr val="152B3A"/>
                </a:solidFill>
                <a:latin typeface="Be Vietnam Pro"/>
              </a:defRPr>
            </a:pPr>
            <a:r>
              <a:t>At least 2 provably distinct credits</a:t>
            </a:r>
          </a:p>
        </p:txBody>
      </p:sp>
      <p:sp>
        <p:nvSpPr>
          <p:cNvPr id="32" name="TextBox 31"/>
          <p:cNvSpPr txBox="1"/>
          <p:nvPr/>
        </p:nvSpPr>
        <p:spPr>
          <a:xfrm>
            <a:off x="10808207" y="3874770"/>
            <a:ext cx="1014984" cy="243840"/>
          </a:xfrm>
          <a:prstGeom prst="rect">
            <a:avLst/>
          </a:prstGeom>
          <a:noFill/>
        </p:spPr>
        <p:txBody>
          <a:bodyPr wrap="none" lIns="0" rIns="0" tIns="0" bIns="0">
            <a:spAutoFit/>
          </a:bodyPr>
          <a:lstStyle/>
          <a:p>
            <a:pPr>
              <a:lnSpc>
                <a:spcPts val="1920"/>
              </a:lnSpc>
              <a:spcBef>
                <a:spcPts val="0"/>
              </a:spcBef>
              <a:spcAft>
                <a:spcPts val="0"/>
              </a:spcAft>
              <a:defRPr sz="1500" b="0">
                <a:solidFill>
                  <a:srgbClr val="152B3A"/>
                </a:solidFill>
                <a:latin typeface="Be Vietnam Pro"/>
              </a:defRPr>
            </a:pPr>
            <a:r>
              <a:t>17</a:t>
            </a:r>
          </a:p>
        </p:txBody>
      </p:sp>
      <p:sp>
        <p:nvSpPr>
          <p:cNvPr id="33" name="TextBox 32"/>
          <p:cNvSpPr txBox="1"/>
          <p:nvPr/>
        </p:nvSpPr>
        <p:spPr>
          <a:xfrm>
            <a:off x="12042647" y="3874770"/>
            <a:ext cx="1883663" cy="243840"/>
          </a:xfrm>
          <a:prstGeom prst="rect">
            <a:avLst/>
          </a:prstGeom>
          <a:noFill/>
        </p:spPr>
        <p:txBody>
          <a:bodyPr wrap="none" lIns="0" rIns="0" tIns="0" bIns="0">
            <a:spAutoFit/>
          </a:bodyPr>
          <a:lstStyle/>
          <a:p>
            <a:pPr>
              <a:lnSpc>
                <a:spcPts val="1920"/>
              </a:lnSpc>
              <a:spcBef>
                <a:spcPts val="0"/>
              </a:spcBef>
              <a:spcAft>
                <a:spcPts val="0"/>
              </a:spcAft>
              <a:defRPr sz="1500" b="0">
                <a:solidFill>
                  <a:srgbClr val="152B3A"/>
                </a:solidFill>
                <a:latin typeface="Be Vietnam Pro"/>
              </a:defRPr>
            </a:pPr>
            <a:r>
              <a:t>HermiT</a:t>
            </a:r>
          </a:p>
        </p:txBody>
      </p:sp>
      <p:sp>
        <p:nvSpPr>
          <p:cNvPr id="34" name="Rectangle 33"/>
          <p:cNvSpPr/>
          <p:nvPr/>
        </p:nvSpPr>
        <p:spPr>
          <a:xfrm>
            <a:off x="731520" y="4148328"/>
            <a:ext cx="13304520" cy="303276"/>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841248" y="4178046"/>
            <a:ext cx="3575304" cy="243840"/>
          </a:xfrm>
          <a:prstGeom prst="rect">
            <a:avLst/>
          </a:prstGeom>
          <a:noFill/>
        </p:spPr>
        <p:txBody>
          <a:bodyPr wrap="none" lIns="0" rIns="0" tIns="0" bIns="0">
            <a:spAutoFit/>
          </a:bodyPr>
          <a:lstStyle/>
          <a:p>
            <a:pPr>
              <a:lnSpc>
                <a:spcPts val="1920"/>
              </a:lnSpc>
              <a:spcBef>
                <a:spcPts val="0"/>
              </a:spcBef>
              <a:spcAft>
                <a:spcPts val="0"/>
              </a:spcAft>
              <a:defRPr sz="1500" b="0">
                <a:solidFill>
                  <a:srgbClr val="152B3A"/>
                </a:solidFill>
                <a:latin typeface="Be Vietnam Pro"/>
              </a:defRPr>
            </a:pPr>
            <a:r>
              <a:t>ThreeCreditContributor</a:t>
            </a:r>
          </a:p>
        </p:txBody>
      </p:sp>
      <p:sp>
        <p:nvSpPr>
          <p:cNvPr id="36" name="TextBox 35"/>
          <p:cNvSpPr txBox="1"/>
          <p:nvPr/>
        </p:nvSpPr>
        <p:spPr>
          <a:xfrm>
            <a:off x="4636008" y="4178046"/>
            <a:ext cx="5952744" cy="243840"/>
          </a:xfrm>
          <a:prstGeom prst="rect">
            <a:avLst/>
          </a:prstGeom>
          <a:noFill/>
        </p:spPr>
        <p:txBody>
          <a:bodyPr wrap="none" lIns="0" rIns="0" tIns="0" bIns="0">
            <a:spAutoFit/>
          </a:bodyPr>
          <a:lstStyle/>
          <a:p>
            <a:pPr>
              <a:lnSpc>
                <a:spcPts val="1920"/>
              </a:lnSpc>
              <a:spcBef>
                <a:spcPts val="0"/>
              </a:spcBef>
              <a:spcAft>
                <a:spcPts val="0"/>
              </a:spcAft>
              <a:defRPr sz="1500" b="0">
                <a:solidFill>
                  <a:srgbClr val="152B3A"/>
                </a:solidFill>
                <a:latin typeface="Be Vietnam Pro"/>
              </a:defRPr>
            </a:pPr>
            <a:r>
              <a:t>At least 3 provably distinct credits</a:t>
            </a:r>
          </a:p>
        </p:txBody>
      </p:sp>
      <p:sp>
        <p:nvSpPr>
          <p:cNvPr id="37" name="TextBox 36"/>
          <p:cNvSpPr txBox="1"/>
          <p:nvPr/>
        </p:nvSpPr>
        <p:spPr>
          <a:xfrm>
            <a:off x="10808207" y="4178046"/>
            <a:ext cx="1014984" cy="243840"/>
          </a:xfrm>
          <a:prstGeom prst="rect">
            <a:avLst/>
          </a:prstGeom>
          <a:noFill/>
        </p:spPr>
        <p:txBody>
          <a:bodyPr wrap="none" lIns="0" rIns="0" tIns="0" bIns="0">
            <a:spAutoFit/>
          </a:bodyPr>
          <a:lstStyle/>
          <a:p>
            <a:pPr>
              <a:lnSpc>
                <a:spcPts val="1920"/>
              </a:lnSpc>
              <a:spcBef>
                <a:spcPts val="0"/>
              </a:spcBef>
              <a:spcAft>
                <a:spcPts val="0"/>
              </a:spcAft>
              <a:defRPr sz="1500" b="0">
                <a:solidFill>
                  <a:srgbClr val="152B3A"/>
                </a:solidFill>
                <a:latin typeface="Be Vietnam Pro"/>
              </a:defRPr>
            </a:pPr>
            <a:r>
              <a:t>7</a:t>
            </a:r>
          </a:p>
        </p:txBody>
      </p:sp>
      <p:sp>
        <p:nvSpPr>
          <p:cNvPr id="38" name="TextBox 37"/>
          <p:cNvSpPr txBox="1"/>
          <p:nvPr/>
        </p:nvSpPr>
        <p:spPr>
          <a:xfrm>
            <a:off x="12042647" y="4178046"/>
            <a:ext cx="1883663" cy="243840"/>
          </a:xfrm>
          <a:prstGeom prst="rect">
            <a:avLst/>
          </a:prstGeom>
          <a:noFill/>
        </p:spPr>
        <p:txBody>
          <a:bodyPr wrap="none" lIns="0" rIns="0" tIns="0" bIns="0">
            <a:spAutoFit/>
          </a:bodyPr>
          <a:lstStyle/>
          <a:p>
            <a:pPr>
              <a:lnSpc>
                <a:spcPts val="1920"/>
              </a:lnSpc>
              <a:spcBef>
                <a:spcPts val="0"/>
              </a:spcBef>
              <a:spcAft>
                <a:spcPts val="0"/>
              </a:spcAft>
              <a:defRPr sz="1500" b="0">
                <a:solidFill>
                  <a:srgbClr val="152B3A"/>
                </a:solidFill>
                <a:latin typeface="Be Vietnam Pro"/>
              </a:defRPr>
            </a:pPr>
            <a:r>
              <a:t>HermiT</a:t>
            </a:r>
          </a:p>
        </p:txBody>
      </p:sp>
      <p:sp>
        <p:nvSpPr>
          <p:cNvPr id="39" name="Rectangle 38"/>
          <p:cNvSpPr/>
          <p:nvPr/>
        </p:nvSpPr>
        <p:spPr>
          <a:xfrm>
            <a:off x="731520" y="4451604"/>
            <a:ext cx="13304520" cy="303276"/>
          </a:xfrm>
          <a:prstGeom prst="rect">
            <a:avLst/>
          </a:prstGeom>
          <a:solidFill>
            <a:srgbClr val="E7EF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841248" y="4481322"/>
            <a:ext cx="3575304" cy="243840"/>
          </a:xfrm>
          <a:prstGeom prst="rect">
            <a:avLst/>
          </a:prstGeom>
          <a:noFill/>
        </p:spPr>
        <p:txBody>
          <a:bodyPr wrap="none" lIns="0" rIns="0" tIns="0" bIns="0">
            <a:spAutoFit/>
          </a:bodyPr>
          <a:lstStyle/>
          <a:p>
            <a:pPr>
              <a:lnSpc>
                <a:spcPts val="1920"/>
              </a:lnSpc>
              <a:spcBef>
                <a:spcPts val="0"/>
              </a:spcBef>
              <a:spcAft>
                <a:spcPts val="0"/>
              </a:spcAft>
              <a:defRPr sz="1500" b="0">
                <a:solidFill>
                  <a:srgbClr val="152B3A"/>
                </a:solidFill>
                <a:latin typeface="Be Vietnam Pro"/>
              </a:defRPr>
            </a:pPr>
            <a:r>
              <a:t>WriterDirector</a:t>
            </a:r>
          </a:p>
        </p:txBody>
      </p:sp>
      <p:sp>
        <p:nvSpPr>
          <p:cNvPr id="41" name="TextBox 40"/>
          <p:cNvSpPr txBox="1"/>
          <p:nvPr/>
        </p:nvSpPr>
        <p:spPr>
          <a:xfrm>
            <a:off x="4636008" y="4481322"/>
            <a:ext cx="5952744" cy="243840"/>
          </a:xfrm>
          <a:prstGeom prst="rect">
            <a:avLst/>
          </a:prstGeom>
          <a:noFill/>
        </p:spPr>
        <p:txBody>
          <a:bodyPr wrap="none" lIns="0" rIns="0" tIns="0" bIns="0">
            <a:spAutoFit/>
          </a:bodyPr>
          <a:lstStyle/>
          <a:p>
            <a:pPr>
              <a:lnSpc>
                <a:spcPts val="1920"/>
              </a:lnSpc>
              <a:spcBef>
                <a:spcPts val="0"/>
              </a:spcBef>
              <a:spcAft>
                <a:spcPts val="0"/>
              </a:spcAft>
              <a:defRPr sz="1500" b="0">
                <a:solidFill>
                  <a:srgbClr val="152B3A"/>
                </a:solidFill>
                <a:latin typeface="Be Vietnam Pro"/>
              </a:defRPr>
            </a:pPr>
            <a:r>
              <a:t>MovieDirector AND ScreenWriter</a:t>
            </a:r>
          </a:p>
        </p:txBody>
      </p:sp>
      <p:sp>
        <p:nvSpPr>
          <p:cNvPr id="42" name="TextBox 41"/>
          <p:cNvSpPr txBox="1"/>
          <p:nvPr/>
        </p:nvSpPr>
        <p:spPr>
          <a:xfrm>
            <a:off x="10808207" y="4481322"/>
            <a:ext cx="1014984" cy="243840"/>
          </a:xfrm>
          <a:prstGeom prst="rect">
            <a:avLst/>
          </a:prstGeom>
          <a:noFill/>
        </p:spPr>
        <p:txBody>
          <a:bodyPr wrap="none" lIns="0" rIns="0" tIns="0" bIns="0">
            <a:spAutoFit/>
          </a:bodyPr>
          <a:lstStyle/>
          <a:p>
            <a:pPr>
              <a:lnSpc>
                <a:spcPts val="1920"/>
              </a:lnSpc>
              <a:spcBef>
                <a:spcPts val="0"/>
              </a:spcBef>
              <a:spcAft>
                <a:spcPts val="0"/>
              </a:spcAft>
              <a:defRPr sz="1500" b="0">
                <a:solidFill>
                  <a:srgbClr val="152B3A"/>
                </a:solidFill>
                <a:latin typeface="Be Vietnam Pro"/>
              </a:defRPr>
            </a:pPr>
            <a:r>
              <a:t>10</a:t>
            </a:r>
          </a:p>
        </p:txBody>
      </p:sp>
      <p:sp>
        <p:nvSpPr>
          <p:cNvPr id="43" name="TextBox 42"/>
          <p:cNvSpPr txBox="1"/>
          <p:nvPr/>
        </p:nvSpPr>
        <p:spPr>
          <a:xfrm>
            <a:off x="12042647" y="4481322"/>
            <a:ext cx="1883663" cy="243840"/>
          </a:xfrm>
          <a:prstGeom prst="rect">
            <a:avLst/>
          </a:prstGeom>
          <a:noFill/>
        </p:spPr>
        <p:txBody>
          <a:bodyPr wrap="none" lIns="0" rIns="0" tIns="0" bIns="0">
            <a:spAutoFit/>
          </a:bodyPr>
          <a:lstStyle/>
          <a:p>
            <a:pPr>
              <a:lnSpc>
                <a:spcPts val="1920"/>
              </a:lnSpc>
              <a:spcBef>
                <a:spcPts val="0"/>
              </a:spcBef>
              <a:spcAft>
                <a:spcPts val="0"/>
              </a:spcAft>
              <a:defRPr sz="1500" b="0">
                <a:solidFill>
                  <a:srgbClr val="152B3A"/>
                </a:solidFill>
                <a:latin typeface="Be Vietnam Pro"/>
              </a:defRPr>
            </a:pPr>
            <a:r>
              <a:t>HermiT</a:t>
            </a:r>
          </a:p>
        </p:txBody>
      </p:sp>
      <p:sp>
        <p:nvSpPr>
          <p:cNvPr id="44" name="Rectangle 43"/>
          <p:cNvSpPr/>
          <p:nvPr/>
        </p:nvSpPr>
        <p:spPr>
          <a:xfrm>
            <a:off x="731520" y="4754880"/>
            <a:ext cx="13304520" cy="303276"/>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841248" y="4784598"/>
            <a:ext cx="3575304" cy="243840"/>
          </a:xfrm>
          <a:prstGeom prst="rect">
            <a:avLst/>
          </a:prstGeom>
          <a:noFill/>
        </p:spPr>
        <p:txBody>
          <a:bodyPr wrap="none" lIns="0" rIns="0" tIns="0" bIns="0">
            <a:spAutoFit/>
          </a:bodyPr>
          <a:lstStyle/>
          <a:p>
            <a:pPr>
              <a:lnSpc>
                <a:spcPts val="1920"/>
              </a:lnSpc>
              <a:spcBef>
                <a:spcPts val="0"/>
              </a:spcBef>
              <a:spcAft>
                <a:spcPts val="0"/>
              </a:spcAft>
              <a:defRPr sz="1500" b="0">
                <a:solidFill>
                  <a:srgbClr val="152B3A"/>
                </a:solidFill>
                <a:latin typeface="Be Vietnam Pro"/>
              </a:defRPr>
            </a:pPr>
            <a:r>
              <a:t>ActorFilmmaker</a:t>
            </a:r>
          </a:p>
        </p:txBody>
      </p:sp>
      <p:sp>
        <p:nvSpPr>
          <p:cNvPr id="46" name="TextBox 45"/>
          <p:cNvSpPr txBox="1"/>
          <p:nvPr/>
        </p:nvSpPr>
        <p:spPr>
          <a:xfrm>
            <a:off x="4636008" y="4784598"/>
            <a:ext cx="5952744" cy="243840"/>
          </a:xfrm>
          <a:prstGeom prst="rect">
            <a:avLst/>
          </a:prstGeom>
          <a:noFill/>
        </p:spPr>
        <p:txBody>
          <a:bodyPr wrap="none" lIns="0" rIns="0" tIns="0" bIns="0">
            <a:spAutoFit/>
          </a:bodyPr>
          <a:lstStyle/>
          <a:p>
            <a:pPr>
              <a:lnSpc>
                <a:spcPts val="1920"/>
              </a:lnSpc>
              <a:spcBef>
                <a:spcPts val="0"/>
              </a:spcBef>
              <a:spcAft>
                <a:spcPts val="0"/>
              </a:spcAft>
              <a:defRPr sz="1500" b="0">
                <a:solidFill>
                  <a:srgbClr val="152B3A"/>
                </a:solidFill>
                <a:latin typeface="Be Vietnam Pro"/>
              </a:defRPr>
            </a:pPr>
            <a:r>
              <a:t>Actor AND Filmmaker</a:t>
            </a:r>
          </a:p>
        </p:txBody>
      </p:sp>
      <p:sp>
        <p:nvSpPr>
          <p:cNvPr id="47" name="TextBox 46"/>
          <p:cNvSpPr txBox="1"/>
          <p:nvPr/>
        </p:nvSpPr>
        <p:spPr>
          <a:xfrm>
            <a:off x="10808207" y="4784598"/>
            <a:ext cx="1014984" cy="243840"/>
          </a:xfrm>
          <a:prstGeom prst="rect">
            <a:avLst/>
          </a:prstGeom>
          <a:noFill/>
        </p:spPr>
        <p:txBody>
          <a:bodyPr wrap="none" lIns="0" rIns="0" tIns="0" bIns="0">
            <a:spAutoFit/>
          </a:bodyPr>
          <a:lstStyle/>
          <a:p>
            <a:pPr>
              <a:lnSpc>
                <a:spcPts val="1920"/>
              </a:lnSpc>
              <a:spcBef>
                <a:spcPts val="0"/>
              </a:spcBef>
              <a:spcAft>
                <a:spcPts val="0"/>
              </a:spcAft>
              <a:defRPr sz="1500" b="0">
                <a:solidFill>
                  <a:srgbClr val="152B3A"/>
                </a:solidFill>
                <a:latin typeface="Be Vietnam Pro"/>
              </a:defRPr>
            </a:pPr>
            <a:r>
              <a:t>7</a:t>
            </a:r>
          </a:p>
        </p:txBody>
      </p:sp>
      <p:sp>
        <p:nvSpPr>
          <p:cNvPr id="48" name="TextBox 47"/>
          <p:cNvSpPr txBox="1"/>
          <p:nvPr/>
        </p:nvSpPr>
        <p:spPr>
          <a:xfrm>
            <a:off x="12042647" y="4784598"/>
            <a:ext cx="1883663" cy="243840"/>
          </a:xfrm>
          <a:prstGeom prst="rect">
            <a:avLst/>
          </a:prstGeom>
          <a:noFill/>
        </p:spPr>
        <p:txBody>
          <a:bodyPr wrap="none" lIns="0" rIns="0" tIns="0" bIns="0">
            <a:spAutoFit/>
          </a:bodyPr>
          <a:lstStyle/>
          <a:p>
            <a:pPr>
              <a:lnSpc>
                <a:spcPts val="1920"/>
              </a:lnSpc>
              <a:spcBef>
                <a:spcPts val="0"/>
              </a:spcBef>
              <a:spcAft>
                <a:spcPts val="0"/>
              </a:spcAft>
              <a:defRPr sz="1500" b="0">
                <a:solidFill>
                  <a:srgbClr val="152B3A"/>
                </a:solidFill>
                <a:latin typeface="Be Vietnam Pro"/>
              </a:defRPr>
            </a:pPr>
            <a:r>
              <a:t>HermiT</a:t>
            </a:r>
          </a:p>
        </p:txBody>
      </p:sp>
      <p:sp>
        <p:nvSpPr>
          <p:cNvPr id="49" name="Rectangle 48"/>
          <p:cNvSpPr/>
          <p:nvPr/>
        </p:nvSpPr>
        <p:spPr>
          <a:xfrm>
            <a:off x="731520" y="5058156"/>
            <a:ext cx="13304520" cy="303276"/>
          </a:xfrm>
          <a:prstGeom prst="rect">
            <a:avLst/>
          </a:prstGeom>
          <a:solidFill>
            <a:srgbClr val="E7EF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841248" y="5087874"/>
            <a:ext cx="3575304" cy="243840"/>
          </a:xfrm>
          <a:prstGeom prst="rect">
            <a:avLst/>
          </a:prstGeom>
          <a:noFill/>
        </p:spPr>
        <p:txBody>
          <a:bodyPr wrap="none" lIns="0" rIns="0" tIns="0" bIns="0">
            <a:spAutoFit/>
          </a:bodyPr>
          <a:lstStyle/>
          <a:p>
            <a:pPr>
              <a:lnSpc>
                <a:spcPts val="1920"/>
              </a:lnSpc>
              <a:spcBef>
                <a:spcPts val="0"/>
              </a:spcBef>
              <a:spcAft>
                <a:spcPts val="0"/>
              </a:spcAft>
              <a:defRPr sz="1500" b="0">
                <a:solidFill>
                  <a:srgbClr val="152B3A"/>
                </a:solidFill>
                <a:latin typeface="Be Vietnam Pro"/>
              </a:defRPr>
            </a:pPr>
            <a:r>
              <a:t>AwardWinningFilmmaker</a:t>
            </a:r>
          </a:p>
        </p:txBody>
      </p:sp>
      <p:sp>
        <p:nvSpPr>
          <p:cNvPr id="51" name="TextBox 50"/>
          <p:cNvSpPr txBox="1"/>
          <p:nvPr/>
        </p:nvSpPr>
        <p:spPr>
          <a:xfrm>
            <a:off x="4636008" y="5087874"/>
            <a:ext cx="5952744" cy="243840"/>
          </a:xfrm>
          <a:prstGeom prst="rect">
            <a:avLst/>
          </a:prstGeom>
          <a:noFill/>
        </p:spPr>
        <p:txBody>
          <a:bodyPr wrap="none" lIns="0" rIns="0" tIns="0" bIns="0">
            <a:spAutoFit/>
          </a:bodyPr>
          <a:lstStyle/>
          <a:p>
            <a:pPr>
              <a:lnSpc>
                <a:spcPts val="1920"/>
              </a:lnSpc>
              <a:spcBef>
                <a:spcPts val="0"/>
              </a:spcBef>
              <a:spcAft>
                <a:spcPts val="0"/>
              </a:spcAft>
              <a:defRPr sz="1500" b="0">
                <a:solidFill>
                  <a:srgbClr val="152B3A"/>
                </a:solidFill>
                <a:latin typeface="Be Vietnam Pro"/>
              </a:defRPr>
            </a:pPr>
            <a:r>
              <a:t>Filmmaker with an award</a:t>
            </a:r>
          </a:p>
        </p:txBody>
      </p:sp>
      <p:sp>
        <p:nvSpPr>
          <p:cNvPr id="52" name="TextBox 51"/>
          <p:cNvSpPr txBox="1"/>
          <p:nvPr/>
        </p:nvSpPr>
        <p:spPr>
          <a:xfrm>
            <a:off x="10808207" y="5087874"/>
            <a:ext cx="1014984" cy="243840"/>
          </a:xfrm>
          <a:prstGeom prst="rect">
            <a:avLst/>
          </a:prstGeom>
          <a:noFill/>
        </p:spPr>
        <p:txBody>
          <a:bodyPr wrap="none" lIns="0" rIns="0" tIns="0" bIns="0">
            <a:spAutoFit/>
          </a:bodyPr>
          <a:lstStyle/>
          <a:p>
            <a:pPr>
              <a:lnSpc>
                <a:spcPts val="1920"/>
              </a:lnSpc>
              <a:spcBef>
                <a:spcPts val="0"/>
              </a:spcBef>
              <a:spcAft>
                <a:spcPts val="0"/>
              </a:spcAft>
              <a:defRPr sz="1500" b="0">
                <a:solidFill>
                  <a:srgbClr val="152B3A"/>
                </a:solidFill>
                <a:latin typeface="Be Vietnam Pro"/>
              </a:defRPr>
            </a:pPr>
            <a:r>
              <a:t>65</a:t>
            </a:r>
          </a:p>
        </p:txBody>
      </p:sp>
      <p:sp>
        <p:nvSpPr>
          <p:cNvPr id="53" name="TextBox 52"/>
          <p:cNvSpPr txBox="1"/>
          <p:nvPr/>
        </p:nvSpPr>
        <p:spPr>
          <a:xfrm>
            <a:off x="12042647" y="5087874"/>
            <a:ext cx="1883663" cy="243840"/>
          </a:xfrm>
          <a:prstGeom prst="rect">
            <a:avLst/>
          </a:prstGeom>
          <a:noFill/>
        </p:spPr>
        <p:txBody>
          <a:bodyPr wrap="none" lIns="0" rIns="0" tIns="0" bIns="0">
            <a:spAutoFit/>
          </a:bodyPr>
          <a:lstStyle/>
          <a:p>
            <a:pPr>
              <a:lnSpc>
                <a:spcPts val="1920"/>
              </a:lnSpc>
              <a:spcBef>
                <a:spcPts val="0"/>
              </a:spcBef>
              <a:spcAft>
                <a:spcPts val="0"/>
              </a:spcAft>
              <a:defRPr sz="1500" b="0">
                <a:solidFill>
                  <a:srgbClr val="152B3A"/>
                </a:solidFill>
                <a:latin typeface="Be Vietnam Pro"/>
              </a:defRPr>
            </a:pPr>
            <a:r>
              <a:t>HermiT</a:t>
            </a:r>
          </a:p>
        </p:txBody>
      </p:sp>
      <p:sp>
        <p:nvSpPr>
          <p:cNvPr id="54" name="Rectangle 53"/>
          <p:cNvSpPr/>
          <p:nvPr/>
        </p:nvSpPr>
        <p:spPr>
          <a:xfrm>
            <a:off x="731520" y="5361432"/>
            <a:ext cx="13304520" cy="303276"/>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841248" y="5391150"/>
            <a:ext cx="3575304" cy="243840"/>
          </a:xfrm>
          <a:prstGeom prst="rect">
            <a:avLst/>
          </a:prstGeom>
          <a:noFill/>
        </p:spPr>
        <p:txBody>
          <a:bodyPr wrap="none" lIns="0" rIns="0" tIns="0" bIns="0">
            <a:spAutoFit/>
          </a:bodyPr>
          <a:lstStyle/>
          <a:p>
            <a:pPr>
              <a:lnSpc>
                <a:spcPts val="1920"/>
              </a:lnSpc>
              <a:spcBef>
                <a:spcPts val="0"/>
              </a:spcBef>
              <a:spcAft>
                <a:spcPts val="0"/>
              </a:spcAft>
              <a:defRPr sz="1500" b="0">
                <a:solidFill>
                  <a:srgbClr val="152B3A"/>
                </a:solidFill>
                <a:latin typeface="Be Vietnam Pro"/>
              </a:defRPr>
            </a:pPr>
            <a:r>
              <a:t>AwardWinningActionFilm</a:t>
            </a:r>
          </a:p>
        </p:txBody>
      </p:sp>
      <p:sp>
        <p:nvSpPr>
          <p:cNvPr id="56" name="TextBox 55"/>
          <p:cNvSpPr txBox="1"/>
          <p:nvPr/>
        </p:nvSpPr>
        <p:spPr>
          <a:xfrm>
            <a:off x="4636008" y="5391150"/>
            <a:ext cx="5952744" cy="243840"/>
          </a:xfrm>
          <a:prstGeom prst="rect">
            <a:avLst/>
          </a:prstGeom>
          <a:noFill/>
        </p:spPr>
        <p:txBody>
          <a:bodyPr wrap="none" lIns="0" rIns="0" tIns="0" bIns="0">
            <a:spAutoFit/>
          </a:bodyPr>
          <a:lstStyle/>
          <a:p>
            <a:pPr>
              <a:lnSpc>
                <a:spcPts val="1920"/>
              </a:lnSpc>
              <a:spcBef>
                <a:spcPts val="0"/>
              </a:spcBef>
              <a:spcAft>
                <a:spcPts val="0"/>
              </a:spcAft>
              <a:defRPr sz="1500" b="0">
                <a:solidFill>
                  <a:srgbClr val="152B3A"/>
                </a:solidFill>
                <a:latin typeface="Be Vietnam Pro"/>
              </a:defRPr>
            </a:pPr>
            <a:r>
              <a:t>ActionFilm AND AwardWinningFilm</a:t>
            </a:r>
          </a:p>
        </p:txBody>
      </p:sp>
      <p:sp>
        <p:nvSpPr>
          <p:cNvPr id="57" name="TextBox 56"/>
          <p:cNvSpPr txBox="1"/>
          <p:nvPr/>
        </p:nvSpPr>
        <p:spPr>
          <a:xfrm>
            <a:off x="10808207" y="5391150"/>
            <a:ext cx="1014984" cy="243840"/>
          </a:xfrm>
          <a:prstGeom prst="rect">
            <a:avLst/>
          </a:prstGeom>
          <a:noFill/>
        </p:spPr>
        <p:txBody>
          <a:bodyPr wrap="none" lIns="0" rIns="0" tIns="0" bIns="0">
            <a:spAutoFit/>
          </a:bodyPr>
          <a:lstStyle/>
          <a:p>
            <a:pPr>
              <a:lnSpc>
                <a:spcPts val="1920"/>
              </a:lnSpc>
              <a:spcBef>
                <a:spcPts val="0"/>
              </a:spcBef>
              <a:spcAft>
                <a:spcPts val="0"/>
              </a:spcAft>
              <a:defRPr sz="1500" b="0">
                <a:solidFill>
                  <a:srgbClr val="152B3A"/>
                </a:solidFill>
                <a:latin typeface="Be Vietnam Pro"/>
              </a:defRPr>
            </a:pPr>
            <a:r>
              <a:t>10</a:t>
            </a:r>
          </a:p>
        </p:txBody>
      </p:sp>
      <p:sp>
        <p:nvSpPr>
          <p:cNvPr id="58" name="TextBox 57"/>
          <p:cNvSpPr txBox="1"/>
          <p:nvPr/>
        </p:nvSpPr>
        <p:spPr>
          <a:xfrm>
            <a:off x="12042647" y="5391150"/>
            <a:ext cx="1883663" cy="243840"/>
          </a:xfrm>
          <a:prstGeom prst="rect">
            <a:avLst/>
          </a:prstGeom>
          <a:noFill/>
        </p:spPr>
        <p:txBody>
          <a:bodyPr wrap="none" lIns="0" rIns="0" tIns="0" bIns="0">
            <a:spAutoFit/>
          </a:bodyPr>
          <a:lstStyle/>
          <a:p>
            <a:pPr>
              <a:lnSpc>
                <a:spcPts val="1920"/>
              </a:lnSpc>
              <a:spcBef>
                <a:spcPts val="0"/>
              </a:spcBef>
              <a:spcAft>
                <a:spcPts val="0"/>
              </a:spcAft>
              <a:defRPr sz="1500" b="0">
                <a:solidFill>
                  <a:srgbClr val="152B3A"/>
                </a:solidFill>
                <a:latin typeface="Be Vietnam Pro"/>
              </a:defRPr>
            </a:pPr>
            <a:r>
              <a:t>HermiT</a:t>
            </a:r>
          </a:p>
        </p:txBody>
      </p:sp>
      <p:sp>
        <p:nvSpPr>
          <p:cNvPr id="59" name="Rectangle 58"/>
          <p:cNvSpPr/>
          <p:nvPr/>
        </p:nvSpPr>
        <p:spPr>
          <a:xfrm>
            <a:off x="731520" y="5664708"/>
            <a:ext cx="13304520" cy="303276"/>
          </a:xfrm>
          <a:prstGeom prst="rect">
            <a:avLst/>
          </a:prstGeom>
          <a:solidFill>
            <a:srgbClr val="E7EF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TextBox 59"/>
          <p:cNvSpPr txBox="1"/>
          <p:nvPr/>
        </p:nvSpPr>
        <p:spPr>
          <a:xfrm>
            <a:off x="841248" y="5694426"/>
            <a:ext cx="3575304" cy="243840"/>
          </a:xfrm>
          <a:prstGeom prst="rect">
            <a:avLst/>
          </a:prstGeom>
          <a:noFill/>
        </p:spPr>
        <p:txBody>
          <a:bodyPr wrap="none" lIns="0" rIns="0" tIns="0" bIns="0">
            <a:spAutoFit/>
          </a:bodyPr>
          <a:lstStyle/>
          <a:p>
            <a:pPr>
              <a:lnSpc>
                <a:spcPts val="1920"/>
              </a:lnSpc>
              <a:spcBef>
                <a:spcPts val="0"/>
              </a:spcBef>
              <a:spcAft>
                <a:spcPts val="0"/>
              </a:spcAft>
              <a:defRPr sz="1500" b="0">
                <a:solidFill>
                  <a:srgbClr val="152B3A"/>
                </a:solidFill>
                <a:latin typeface="Be Vietnam Pro"/>
              </a:defRPr>
            </a:pPr>
            <a:r>
              <a:t>GenreCrossingFilm</a:t>
            </a:r>
          </a:p>
        </p:txBody>
      </p:sp>
      <p:sp>
        <p:nvSpPr>
          <p:cNvPr id="61" name="TextBox 60"/>
          <p:cNvSpPr txBox="1"/>
          <p:nvPr/>
        </p:nvSpPr>
        <p:spPr>
          <a:xfrm>
            <a:off x="4636008" y="5694426"/>
            <a:ext cx="5952744" cy="243840"/>
          </a:xfrm>
          <a:prstGeom prst="rect">
            <a:avLst/>
          </a:prstGeom>
          <a:noFill/>
        </p:spPr>
        <p:txBody>
          <a:bodyPr wrap="none" lIns="0" rIns="0" tIns="0" bIns="0">
            <a:spAutoFit/>
          </a:bodyPr>
          <a:lstStyle/>
          <a:p>
            <a:pPr>
              <a:lnSpc>
                <a:spcPts val="1920"/>
              </a:lnSpc>
              <a:spcBef>
                <a:spcPts val="0"/>
              </a:spcBef>
              <a:spcAft>
                <a:spcPts val="0"/>
              </a:spcAft>
              <a:defRPr sz="1500" b="0">
                <a:solidFill>
                  <a:srgbClr val="152B3A"/>
                </a:solidFill>
                <a:latin typeface="Be Vietnam Pro"/>
              </a:defRPr>
            </a:pPr>
            <a:r>
              <a:t>Action AND drama genre membership</a:t>
            </a:r>
          </a:p>
        </p:txBody>
      </p:sp>
      <p:sp>
        <p:nvSpPr>
          <p:cNvPr id="62" name="TextBox 61"/>
          <p:cNvSpPr txBox="1"/>
          <p:nvPr/>
        </p:nvSpPr>
        <p:spPr>
          <a:xfrm>
            <a:off x="10808207" y="5694426"/>
            <a:ext cx="1014984" cy="243840"/>
          </a:xfrm>
          <a:prstGeom prst="rect">
            <a:avLst/>
          </a:prstGeom>
          <a:noFill/>
        </p:spPr>
        <p:txBody>
          <a:bodyPr wrap="none" lIns="0" rIns="0" tIns="0" bIns="0">
            <a:spAutoFit/>
          </a:bodyPr>
          <a:lstStyle/>
          <a:p>
            <a:pPr>
              <a:lnSpc>
                <a:spcPts val="1920"/>
              </a:lnSpc>
              <a:spcBef>
                <a:spcPts val="0"/>
              </a:spcBef>
              <a:spcAft>
                <a:spcPts val="0"/>
              </a:spcAft>
              <a:defRPr sz="1500" b="0">
                <a:solidFill>
                  <a:srgbClr val="152B3A"/>
                </a:solidFill>
                <a:latin typeface="Be Vietnam Pro"/>
              </a:defRPr>
            </a:pPr>
            <a:r>
              <a:t>8</a:t>
            </a:r>
          </a:p>
        </p:txBody>
      </p:sp>
      <p:sp>
        <p:nvSpPr>
          <p:cNvPr id="63" name="TextBox 62"/>
          <p:cNvSpPr txBox="1"/>
          <p:nvPr/>
        </p:nvSpPr>
        <p:spPr>
          <a:xfrm>
            <a:off x="12042647" y="5694426"/>
            <a:ext cx="1883663" cy="243840"/>
          </a:xfrm>
          <a:prstGeom prst="rect">
            <a:avLst/>
          </a:prstGeom>
          <a:noFill/>
        </p:spPr>
        <p:txBody>
          <a:bodyPr wrap="none" lIns="0" rIns="0" tIns="0" bIns="0">
            <a:spAutoFit/>
          </a:bodyPr>
          <a:lstStyle/>
          <a:p>
            <a:pPr>
              <a:lnSpc>
                <a:spcPts val="1920"/>
              </a:lnSpc>
              <a:spcBef>
                <a:spcPts val="0"/>
              </a:spcBef>
              <a:spcAft>
                <a:spcPts val="0"/>
              </a:spcAft>
              <a:defRPr sz="1500" b="0">
                <a:solidFill>
                  <a:srgbClr val="152B3A"/>
                </a:solidFill>
                <a:latin typeface="Be Vietnam Pro"/>
              </a:defRPr>
            </a:pPr>
            <a:r>
              <a:t>HermiT</a:t>
            </a:r>
          </a:p>
        </p:txBody>
      </p:sp>
      <p:sp>
        <p:nvSpPr>
          <p:cNvPr id="64" name="TextBox 63"/>
          <p:cNvSpPr txBox="1"/>
          <p:nvPr/>
        </p:nvSpPr>
        <p:spPr>
          <a:xfrm>
            <a:off x="777240" y="7242048"/>
            <a:ext cx="13075920" cy="411480"/>
          </a:xfrm>
          <a:prstGeom prst="rect">
            <a:avLst/>
          </a:prstGeom>
          <a:noFill/>
        </p:spPr>
        <p:txBody>
          <a:bodyPr wrap="none" lIns="0" rIns="0" tIns="0" bIns="0">
            <a:spAutoFit/>
          </a:bodyPr>
          <a:lstStyle/>
          <a:p>
            <a:pPr>
              <a:lnSpc>
                <a:spcPts val="1664"/>
              </a:lnSpc>
              <a:spcBef>
                <a:spcPts val="0"/>
              </a:spcBef>
              <a:spcAft>
                <a:spcPts val="0"/>
              </a:spcAft>
              <a:defRPr sz="1300" b="0">
                <a:solidFill>
                  <a:srgbClr val="506776"/>
                </a:solidFill>
                <a:latin typeface="Be Vietnam Pro"/>
              </a:defRPr>
            </a:pPr>
            <a:r>
              <a:t>Supporting credit types: Acting 855 · Directing 31 · Writing 51 · Producing 73; dbo:Actor 769.</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3F6F7"/>
        </a:solidFill>
        <a:effectLst/>
      </p:bgPr>
    </p:bg>
    <p:spTree>
      <p:nvGrpSpPr>
        <p:cNvPr id="1" name=""/>
        <p:cNvGrpSpPr/>
        <p:nvPr/>
      </p:nvGrpSpPr>
      <p:grpSpPr/>
      <p:sp>
        <p:nvSpPr>
          <p:cNvPr id="2" name="Rectangle 1"/>
          <p:cNvSpPr/>
          <p:nvPr/>
        </p:nvSpPr>
        <p:spPr>
          <a:xfrm>
            <a:off x="0" y="0"/>
            <a:ext cx="118872" cy="8229600"/>
          </a:xfrm>
          <a:prstGeom prst="rect">
            <a:avLst/>
          </a:prstGeom>
          <a:solidFill>
            <a:srgbClr val="007F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1887200" cy="320040"/>
          </a:xfrm>
          <a:prstGeom prst="rect">
            <a:avLst/>
          </a:prstGeom>
          <a:noFill/>
        </p:spPr>
        <p:txBody>
          <a:bodyPr wrap="none" lIns="0" rIns="0" tIns="0" bIns="0">
            <a:spAutoFit/>
          </a:bodyPr>
          <a:lstStyle/>
          <a:p>
            <a:pPr>
              <a:lnSpc>
                <a:spcPts val="1536"/>
              </a:lnSpc>
              <a:spcBef>
                <a:spcPts val="0"/>
              </a:spcBef>
              <a:spcAft>
                <a:spcPts val="0"/>
              </a:spcAft>
              <a:defRPr sz="1200" b="1">
                <a:solidFill>
                  <a:srgbClr val="007F82"/>
                </a:solidFill>
                <a:latin typeface="Be Vietnam Pro"/>
              </a:defRPr>
            </a:pPr>
            <a:r>
              <a:t>MOVIELOD / SEMANTIC WEB / ONTOLOGY 3.0.0</a:t>
            </a:r>
          </a:p>
        </p:txBody>
      </p:sp>
      <p:sp>
        <p:nvSpPr>
          <p:cNvPr id="4" name="TextBox 3"/>
          <p:cNvSpPr txBox="1"/>
          <p:nvPr/>
        </p:nvSpPr>
        <p:spPr>
          <a:xfrm>
            <a:off x="594360" y="868680"/>
            <a:ext cx="13441680" cy="822960"/>
          </a:xfrm>
          <a:prstGeom prst="rect">
            <a:avLst/>
          </a:prstGeom>
          <a:noFill/>
        </p:spPr>
        <p:txBody>
          <a:bodyPr wrap="none" lIns="0" rIns="0" tIns="0" bIns="0">
            <a:spAutoFit/>
          </a:bodyPr>
          <a:lstStyle/>
          <a:p>
            <a:pPr>
              <a:lnSpc>
                <a:spcPts val="4352"/>
              </a:lnSpc>
              <a:spcBef>
                <a:spcPts val="0"/>
              </a:spcBef>
              <a:spcAft>
                <a:spcPts val="0"/>
              </a:spcAft>
              <a:defRPr sz="3400" b="1">
                <a:solidFill>
                  <a:srgbClr val="152B3A"/>
                </a:solidFill>
                <a:latin typeface="Be Vietnam Pro"/>
              </a:defRPr>
            </a:pPr>
            <a:r>
              <a:t>Nolan: facts </a:t>
            </a:r>
            <a:r>
              <a:rPr>
                <a:latin typeface="Arial Unicode MS"/>
              </a:rPr>
              <a:t>→</a:t>
            </a:r>
            <a:r>
              <a:t> credit type </a:t>
            </a:r>
            <a:r>
              <a:rPr>
                <a:latin typeface="Arial Unicode MS"/>
              </a:rPr>
              <a:t>→</a:t>
            </a:r>
            <a:r>
              <a:t> Filmmaker</a:t>
            </a:r>
          </a:p>
        </p:txBody>
      </p:sp>
      <p:sp>
        <p:nvSpPr>
          <p:cNvPr id="5" name="TextBox 4"/>
          <p:cNvSpPr txBox="1"/>
          <p:nvPr/>
        </p:nvSpPr>
        <p:spPr>
          <a:xfrm>
            <a:off x="612648" y="1719072"/>
            <a:ext cx="13350240" cy="548640"/>
          </a:xfrm>
          <a:prstGeom prst="rect">
            <a:avLst/>
          </a:prstGeom>
          <a:noFill/>
        </p:spPr>
        <p:txBody>
          <a:bodyPr wrap="none" lIns="0" rIns="0" tIns="0" bIns="0">
            <a:spAutoFit/>
          </a:bodyPr>
          <a:lstStyle/>
          <a:p>
            <a:pPr>
              <a:lnSpc>
                <a:spcPts val="2176"/>
              </a:lnSpc>
              <a:spcBef>
                <a:spcPts val="0"/>
              </a:spcBef>
              <a:spcAft>
                <a:spcPts val="0"/>
              </a:spcAft>
              <a:defRPr sz="1700" b="0">
                <a:solidFill>
                  <a:srgbClr val="506776"/>
                </a:solidFill>
                <a:latin typeface="Be Vietnam Pro"/>
              </a:defRPr>
            </a:pPr>
            <a:r>
              <a:t>A multi-step explanation grounded in real records</a:t>
            </a:r>
          </a:p>
        </p:txBody>
      </p:sp>
      <p:sp>
        <p:nvSpPr>
          <p:cNvPr id="6" name="Rectangle 5"/>
          <p:cNvSpPr/>
          <p:nvPr/>
        </p:nvSpPr>
        <p:spPr>
          <a:xfrm>
            <a:off x="594360" y="7708392"/>
            <a:ext cx="13441680" cy="9144"/>
          </a:xfrm>
          <a:prstGeom prst="rect">
            <a:avLst/>
          </a:prstGeom>
          <a:solidFill>
            <a:srgbClr val="DDE6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94360" y="7845552"/>
            <a:ext cx="11887200" cy="201168"/>
          </a:xfrm>
          <a:prstGeom prst="rect">
            <a:avLst/>
          </a:prstGeom>
          <a:noFill/>
        </p:spPr>
        <p:txBody>
          <a:bodyPr wrap="none" lIns="0" rIns="0" tIns="0" bIns="0">
            <a:spAutoFit/>
          </a:bodyPr>
          <a:lstStyle/>
          <a:p>
            <a:pPr>
              <a:lnSpc>
                <a:spcPts val="1280"/>
              </a:lnSpc>
              <a:spcBef>
                <a:spcPts val="0"/>
              </a:spcBef>
              <a:spcAft>
                <a:spcPts val="0"/>
              </a:spcAft>
              <a:defRPr sz="1000" b="0">
                <a:solidFill>
                  <a:srgbClr val="506776"/>
                </a:solidFill>
                <a:latin typeface="Be Vietnam Pro"/>
              </a:defRPr>
            </a:pPr>
            <a:r>
              <a:t>Data checked: 09 Oct 2026 • Sources: project code and evidence/</a:t>
            </a:r>
          </a:p>
        </p:txBody>
      </p:sp>
      <p:sp>
        <p:nvSpPr>
          <p:cNvPr id="8" name="TextBox 7"/>
          <p:cNvSpPr txBox="1"/>
          <p:nvPr/>
        </p:nvSpPr>
        <p:spPr>
          <a:xfrm>
            <a:off x="13258800" y="7818120"/>
            <a:ext cx="914400" cy="274320"/>
          </a:xfrm>
          <a:prstGeom prst="rect">
            <a:avLst/>
          </a:prstGeom>
          <a:noFill/>
        </p:spPr>
        <p:txBody>
          <a:bodyPr wrap="none" lIns="0" rIns="0" tIns="0" bIns="0">
            <a:spAutoFit/>
          </a:bodyPr>
          <a:lstStyle/>
          <a:p>
            <a:pPr>
              <a:lnSpc>
                <a:spcPts val="1536"/>
              </a:lnSpc>
              <a:spcBef>
                <a:spcPts val="0"/>
              </a:spcBef>
              <a:spcAft>
                <a:spcPts val="0"/>
              </a:spcAft>
              <a:defRPr sz="1200" b="1">
                <a:solidFill>
                  <a:srgbClr val="007F82"/>
                </a:solidFill>
                <a:latin typeface="Be Vietnam Pro"/>
              </a:defRPr>
            </a:pPr>
            <a:r>
              <a:t>09 / 13</a:t>
            </a:r>
          </a:p>
        </p:txBody>
      </p:sp>
      <p:sp>
        <p:nvSpPr>
          <p:cNvPr id="9" name="Rounded Rectangle 8"/>
          <p:cNvSpPr/>
          <p:nvPr/>
        </p:nvSpPr>
        <p:spPr>
          <a:xfrm>
            <a:off x="731520" y="2651760"/>
            <a:ext cx="6720840" cy="118872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31520" y="2651760"/>
            <a:ext cx="41148" cy="1188720"/>
          </a:xfrm>
          <a:prstGeom prst="rect">
            <a:avLst/>
          </a:prstGeom>
          <a:solidFill>
            <a:srgbClr val="007F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41832" y="2798064"/>
            <a:ext cx="6300216" cy="352552"/>
          </a:xfrm>
          <a:prstGeom prst="rect">
            <a:avLst/>
          </a:prstGeom>
          <a:noFill/>
        </p:spPr>
        <p:txBody>
          <a:bodyPr wrap="none" lIns="0" rIns="0" tIns="0" bIns="0">
            <a:spAutoFit/>
          </a:bodyPr>
          <a:lstStyle/>
          <a:p>
            <a:pPr>
              <a:lnSpc>
                <a:spcPts val="2560"/>
              </a:lnSpc>
              <a:spcBef>
                <a:spcPts val="0"/>
              </a:spcBef>
              <a:spcAft>
                <a:spcPts val="0"/>
              </a:spcAft>
              <a:defRPr sz="2000" b="1">
                <a:solidFill>
                  <a:srgbClr val="007F82"/>
                </a:solidFill>
                <a:latin typeface="Be Vietnam Pro"/>
              </a:defRPr>
            </a:pPr>
            <a:r>
              <a:t>SOURCE FACTS</a:t>
            </a:r>
          </a:p>
        </p:txBody>
      </p:sp>
      <p:sp>
        <p:nvSpPr>
          <p:cNvPr id="12" name="TextBox 11"/>
          <p:cNvSpPr txBox="1"/>
          <p:nvPr/>
        </p:nvSpPr>
        <p:spPr>
          <a:xfrm>
            <a:off x="941832" y="3242056"/>
            <a:ext cx="6300216" cy="516128"/>
          </a:xfrm>
          <a:prstGeom prst="rect">
            <a:avLst/>
          </a:prstGeom>
          <a:noFill/>
        </p:spPr>
        <p:txBody>
          <a:bodyPr wrap="none" lIns="0" rIns="0" tIns="0" bIns="0">
            <a:spAutoFit/>
          </a:bodyPr>
          <a:lstStyle/>
          <a:p>
            <a:pPr>
              <a:lnSpc>
                <a:spcPts val="2176"/>
              </a:lnSpc>
              <a:spcBef>
                <a:spcPts val="0"/>
              </a:spcBef>
              <a:spcAft>
                <a:spcPts val="0"/>
              </a:spcAft>
              <a:defRPr sz="1700" b="0">
                <a:solidFill>
                  <a:srgbClr val="506776"/>
                </a:solidFill>
                <a:latin typeface="Be Vietnam Pro"/>
              </a:defRPr>
            </a:pPr>
            <a:r>
              <a:t>Nolan a dbo:Person; credit hasRole DirectorRole.</a:t>
            </a:r>
          </a:p>
        </p:txBody>
      </p:sp>
      <p:sp>
        <p:nvSpPr>
          <p:cNvPr id="13" name="TextBox 12"/>
          <p:cNvSpPr txBox="1"/>
          <p:nvPr/>
        </p:nvSpPr>
        <p:spPr>
          <a:xfrm>
            <a:off x="3749039" y="3831335"/>
            <a:ext cx="731520" cy="301752"/>
          </a:xfrm>
          <a:prstGeom prst="rect">
            <a:avLst/>
          </a:prstGeom>
          <a:noFill/>
        </p:spPr>
        <p:txBody>
          <a:bodyPr wrap="none" lIns="0" rIns="0" tIns="0" bIns="0">
            <a:spAutoFit/>
          </a:bodyPr>
          <a:lstStyle/>
          <a:p>
            <a:pPr>
              <a:lnSpc>
                <a:spcPts val="2560"/>
              </a:lnSpc>
              <a:spcBef>
                <a:spcPts val="0"/>
              </a:spcBef>
              <a:spcAft>
                <a:spcPts val="0"/>
              </a:spcAft>
              <a:defRPr sz="2000" b="0">
                <a:solidFill>
                  <a:srgbClr val="007F82"/>
                </a:solidFill>
                <a:latin typeface="Be Vietnam Pro"/>
              </a:defRPr>
            </a:pPr>
            <a:r>
              <a:rPr>
                <a:latin typeface="Arial Unicode MS"/>
              </a:rPr>
              <a:t>↓</a:t>
            </a:r>
          </a:p>
        </p:txBody>
      </p:sp>
      <p:sp>
        <p:nvSpPr>
          <p:cNvPr id="14" name="Rounded Rectangle 13"/>
          <p:cNvSpPr/>
          <p:nvPr/>
        </p:nvSpPr>
        <p:spPr>
          <a:xfrm>
            <a:off x="731520" y="4087368"/>
            <a:ext cx="6720840" cy="118872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31520" y="4087368"/>
            <a:ext cx="41148" cy="1188720"/>
          </a:xfrm>
          <a:prstGeom prst="rect">
            <a:avLst/>
          </a:prstGeom>
          <a:solidFill>
            <a:srgbClr val="007F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41832" y="4233672"/>
            <a:ext cx="6300216" cy="352552"/>
          </a:xfrm>
          <a:prstGeom prst="rect">
            <a:avLst/>
          </a:prstGeom>
          <a:noFill/>
        </p:spPr>
        <p:txBody>
          <a:bodyPr wrap="none" lIns="0" rIns="0" tIns="0" bIns="0">
            <a:spAutoFit/>
          </a:bodyPr>
          <a:lstStyle/>
          <a:p>
            <a:pPr>
              <a:lnSpc>
                <a:spcPts val="2560"/>
              </a:lnSpc>
              <a:spcBef>
                <a:spcPts val="0"/>
              </a:spcBef>
              <a:spcAft>
                <a:spcPts val="0"/>
              </a:spcAft>
              <a:defRPr sz="2000" b="1">
                <a:solidFill>
                  <a:srgbClr val="007F82"/>
                </a:solidFill>
                <a:latin typeface="Be Vietnam Pro"/>
              </a:defRPr>
            </a:pPr>
            <a:r>
              <a:t>CREDIT CLASS</a:t>
            </a:r>
          </a:p>
        </p:txBody>
      </p:sp>
      <p:sp>
        <p:nvSpPr>
          <p:cNvPr id="17" name="TextBox 16"/>
          <p:cNvSpPr txBox="1"/>
          <p:nvPr/>
        </p:nvSpPr>
        <p:spPr>
          <a:xfrm>
            <a:off x="941832" y="4677663"/>
            <a:ext cx="6300216" cy="516128"/>
          </a:xfrm>
          <a:prstGeom prst="rect">
            <a:avLst/>
          </a:prstGeom>
          <a:noFill/>
        </p:spPr>
        <p:txBody>
          <a:bodyPr wrap="none" lIns="0" rIns="0" tIns="0" bIns="0">
            <a:spAutoFit/>
          </a:bodyPr>
          <a:lstStyle/>
          <a:p>
            <a:pPr>
              <a:lnSpc>
                <a:spcPts val="2176"/>
              </a:lnSpc>
              <a:spcBef>
                <a:spcPts val="0"/>
              </a:spcBef>
              <a:spcAft>
                <a:spcPts val="0"/>
              </a:spcAft>
              <a:defRPr sz="1700" b="0">
                <a:solidFill>
                  <a:srgbClr val="506776"/>
                </a:solidFill>
                <a:latin typeface="Be Vietnam Pro"/>
              </a:defRPr>
            </a:pPr>
            <a:r>
              <a:t>credit a DirectingContribution; inverse yields</a:t>
            </a:r>
          </a:p>
          <a:p>
            <a:pPr>
              <a:lnSpc>
                <a:spcPts val="2176"/>
              </a:lnSpc>
              <a:spcBef>
                <a:spcPts val="0"/>
              </a:spcBef>
              <a:spcAft>
                <a:spcPts val="0"/>
              </a:spcAft>
              <a:defRPr sz="1700" b="0">
                <a:solidFill>
                  <a:srgbClr val="506776"/>
                </a:solidFill>
                <a:latin typeface="Be Vietnam Pro"/>
              </a:defRPr>
            </a:pPr>
            <a:r>
              <a:t>hasContribution.</a:t>
            </a:r>
          </a:p>
        </p:txBody>
      </p:sp>
      <p:sp>
        <p:nvSpPr>
          <p:cNvPr id="18" name="TextBox 17"/>
          <p:cNvSpPr txBox="1"/>
          <p:nvPr/>
        </p:nvSpPr>
        <p:spPr>
          <a:xfrm>
            <a:off x="3749039" y="5266944"/>
            <a:ext cx="731520" cy="301752"/>
          </a:xfrm>
          <a:prstGeom prst="rect">
            <a:avLst/>
          </a:prstGeom>
          <a:noFill/>
        </p:spPr>
        <p:txBody>
          <a:bodyPr wrap="none" lIns="0" rIns="0" tIns="0" bIns="0">
            <a:spAutoFit/>
          </a:bodyPr>
          <a:lstStyle/>
          <a:p>
            <a:pPr>
              <a:lnSpc>
                <a:spcPts val="2560"/>
              </a:lnSpc>
              <a:spcBef>
                <a:spcPts val="0"/>
              </a:spcBef>
              <a:spcAft>
                <a:spcPts val="0"/>
              </a:spcAft>
              <a:defRPr sz="2000" b="0">
                <a:solidFill>
                  <a:srgbClr val="007F82"/>
                </a:solidFill>
                <a:latin typeface="Be Vietnam Pro"/>
              </a:defRPr>
            </a:pPr>
            <a:r>
              <a:rPr>
                <a:latin typeface="Arial Unicode MS"/>
              </a:rPr>
              <a:t>↓</a:t>
            </a:r>
          </a:p>
        </p:txBody>
      </p:sp>
      <p:sp>
        <p:nvSpPr>
          <p:cNvPr id="19" name="Rounded Rectangle 18"/>
          <p:cNvSpPr/>
          <p:nvPr/>
        </p:nvSpPr>
        <p:spPr>
          <a:xfrm>
            <a:off x="731520" y="5522976"/>
            <a:ext cx="6720840" cy="118872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731520" y="5522976"/>
            <a:ext cx="41148" cy="1188720"/>
          </a:xfrm>
          <a:prstGeom prst="rect">
            <a:avLst/>
          </a:prstGeom>
          <a:solidFill>
            <a:srgbClr val="007F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941832" y="5669280"/>
            <a:ext cx="6300216" cy="352552"/>
          </a:xfrm>
          <a:prstGeom prst="rect">
            <a:avLst/>
          </a:prstGeom>
          <a:noFill/>
        </p:spPr>
        <p:txBody>
          <a:bodyPr wrap="none" lIns="0" rIns="0" tIns="0" bIns="0">
            <a:spAutoFit/>
          </a:bodyPr>
          <a:lstStyle/>
          <a:p>
            <a:pPr>
              <a:lnSpc>
                <a:spcPts val="2560"/>
              </a:lnSpc>
              <a:spcBef>
                <a:spcPts val="0"/>
              </a:spcBef>
              <a:spcAft>
                <a:spcPts val="0"/>
              </a:spcAft>
              <a:defRPr sz="2000" b="1">
                <a:solidFill>
                  <a:srgbClr val="007F82"/>
                </a:solidFill>
                <a:latin typeface="Be Vietnam Pro"/>
              </a:defRPr>
            </a:pPr>
            <a:r>
              <a:t>PERSON CLASS</a:t>
            </a:r>
          </a:p>
        </p:txBody>
      </p:sp>
      <p:sp>
        <p:nvSpPr>
          <p:cNvPr id="22" name="TextBox 21"/>
          <p:cNvSpPr txBox="1"/>
          <p:nvPr/>
        </p:nvSpPr>
        <p:spPr>
          <a:xfrm>
            <a:off x="941832" y="6113272"/>
            <a:ext cx="6300216" cy="516128"/>
          </a:xfrm>
          <a:prstGeom prst="rect">
            <a:avLst/>
          </a:prstGeom>
          <a:noFill/>
        </p:spPr>
        <p:txBody>
          <a:bodyPr wrap="none" lIns="0" rIns="0" tIns="0" bIns="0">
            <a:spAutoFit/>
          </a:bodyPr>
          <a:lstStyle/>
          <a:p>
            <a:pPr>
              <a:lnSpc>
                <a:spcPts val="2176"/>
              </a:lnSpc>
              <a:spcBef>
                <a:spcPts val="0"/>
              </a:spcBef>
              <a:spcAft>
                <a:spcPts val="0"/>
              </a:spcAft>
              <a:defRPr sz="1700" b="0">
                <a:solidFill>
                  <a:srgbClr val="506776"/>
                </a:solidFill>
                <a:latin typeface="Be Vietnam Pro"/>
              </a:defRPr>
            </a:pPr>
            <a:r>
              <a:t>Nolan a Filmmaker; directing + writing also yield</a:t>
            </a:r>
          </a:p>
          <a:p>
            <a:pPr>
              <a:lnSpc>
                <a:spcPts val="2176"/>
              </a:lnSpc>
              <a:spcBef>
                <a:spcPts val="0"/>
              </a:spcBef>
              <a:spcAft>
                <a:spcPts val="0"/>
              </a:spcAft>
              <a:defRPr sz="1700" b="0">
                <a:solidFill>
                  <a:srgbClr val="506776"/>
                </a:solidFill>
                <a:latin typeface="Be Vietnam Pro"/>
              </a:defRPr>
            </a:pPr>
            <a:r>
              <a:t>WriterDirector.</a:t>
            </a:r>
          </a:p>
        </p:txBody>
      </p:sp>
      <p:sp>
        <p:nvSpPr>
          <p:cNvPr id="23" name="PHOTO_P06_0"/>
          <p:cNvSpPr/>
          <p:nvPr/>
        </p:nvSpPr>
        <p:spPr>
          <a:xfrm>
            <a:off x="7818120" y="2578608"/>
            <a:ext cx="6080760" cy="4590288"/>
          </a:xfrm>
          <a:prstGeom prst="roundRect">
            <a:avLst/>
          </a:prstGeom>
          <a:solidFill>
            <a:srgbClr val="FFFFFF"/>
          </a:solidFill>
          <a:ln>
            <a:solidFill>
              <a:srgbClr val="007F8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PHOTO_P06_1"/>
          <p:cNvSpPr txBox="1"/>
          <p:nvPr/>
        </p:nvSpPr>
        <p:spPr>
          <a:xfrm>
            <a:off x="8019288" y="2743200"/>
            <a:ext cx="5678424" cy="347472"/>
          </a:xfrm>
          <a:prstGeom prst="rect">
            <a:avLst/>
          </a:prstGeom>
          <a:noFill/>
        </p:spPr>
        <p:txBody>
          <a:bodyPr wrap="none" lIns="0" rIns="0" tIns="0" bIns="0">
            <a:spAutoFit/>
          </a:bodyPr>
          <a:lstStyle/>
          <a:p>
            <a:pPr>
              <a:lnSpc>
                <a:spcPts val="1792"/>
              </a:lnSpc>
              <a:spcBef>
                <a:spcPts val="0"/>
              </a:spcBef>
              <a:spcAft>
                <a:spcPts val="0"/>
              </a:spcAft>
              <a:defRPr sz="1400" b="1">
                <a:solidFill>
                  <a:srgbClr val="007F82"/>
                </a:solidFill>
                <a:latin typeface="Be Vietnam Pro"/>
              </a:defRPr>
            </a:pPr>
            <a:r>
              <a:t>ẢNH PROTÉGÉ CẦN BỔ SUNG · P06</a:t>
            </a:r>
          </a:p>
        </p:txBody>
      </p:sp>
      <p:sp>
        <p:nvSpPr>
          <p:cNvPr id="25" name="PHOTO_P06_2"/>
          <p:cNvSpPr/>
          <p:nvPr/>
        </p:nvSpPr>
        <p:spPr>
          <a:xfrm>
            <a:off x="8019288" y="3310128"/>
            <a:ext cx="5678424" cy="1051560"/>
          </a:xfrm>
          <a:prstGeom prst="roundRect">
            <a:avLst/>
          </a:prstGeom>
          <a:solidFill>
            <a:srgbClr val="E7EF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PHOTO_P06_3"/>
          <p:cNvSpPr txBox="1"/>
          <p:nvPr/>
        </p:nvSpPr>
        <p:spPr>
          <a:xfrm>
            <a:off x="8183880" y="3520439"/>
            <a:ext cx="5349240" cy="731520"/>
          </a:xfrm>
          <a:prstGeom prst="rect">
            <a:avLst/>
          </a:prstGeom>
          <a:noFill/>
        </p:spPr>
        <p:txBody>
          <a:bodyPr wrap="none" lIns="0" rIns="0" tIns="0" bIns="0">
            <a:spAutoFit/>
          </a:bodyPr>
          <a:lstStyle/>
          <a:p>
            <a:pPr>
              <a:lnSpc>
                <a:spcPts val="2816"/>
              </a:lnSpc>
              <a:spcBef>
                <a:spcPts val="0"/>
              </a:spcBef>
              <a:spcAft>
                <a:spcPts val="0"/>
              </a:spcAft>
              <a:defRPr sz="2200" b="1">
                <a:solidFill>
                  <a:srgbClr val="007F82"/>
                </a:solidFill>
                <a:latin typeface="Be Vietnam Pro"/>
              </a:defRPr>
            </a:pPr>
            <a:r>
              <a:t>Định nghĩa Filmmaker</a:t>
            </a:r>
          </a:p>
        </p:txBody>
      </p:sp>
      <p:sp>
        <p:nvSpPr>
          <p:cNvPr id="27" name="PHOTO_P06_4"/>
          <p:cNvSpPr txBox="1"/>
          <p:nvPr/>
        </p:nvSpPr>
        <p:spPr>
          <a:xfrm>
            <a:off x="8046720" y="4507992"/>
            <a:ext cx="5623560" cy="384048"/>
          </a:xfrm>
          <a:prstGeom prst="rect">
            <a:avLst/>
          </a:prstGeom>
          <a:noFill/>
        </p:spPr>
        <p:txBody>
          <a:bodyPr wrap="none" lIns="0" rIns="0" tIns="0" bIns="0">
            <a:spAutoFit/>
          </a:bodyPr>
          <a:lstStyle/>
          <a:p>
            <a:pPr>
              <a:lnSpc>
                <a:spcPts val="1664"/>
              </a:lnSpc>
              <a:spcBef>
                <a:spcPts val="0"/>
              </a:spcBef>
              <a:spcAft>
                <a:spcPts val="0"/>
              </a:spcAft>
              <a:defRPr sz="1300" b="0">
                <a:solidFill>
                  <a:srgbClr val="506776"/>
                </a:solidFill>
                <a:latin typeface="Be Vietnam Pro"/>
              </a:defRPr>
            </a:pPr>
            <a:r>
              <a:t>P06_filmmaker_equivalent_class.png</a:t>
            </a:r>
          </a:p>
        </p:txBody>
      </p:sp>
      <p:sp>
        <p:nvSpPr>
          <p:cNvPr id="28" name="PHOTO_P06_5"/>
          <p:cNvSpPr txBox="1"/>
          <p:nvPr/>
        </p:nvSpPr>
        <p:spPr>
          <a:xfrm>
            <a:off x="8055864" y="4992624"/>
            <a:ext cx="5605272" cy="264160"/>
          </a:xfrm>
          <a:prstGeom prst="rect">
            <a:avLst/>
          </a:prstGeom>
          <a:noFill/>
        </p:spPr>
        <p:txBody>
          <a:bodyPr wrap="none" lIns="0" rIns="0" tIns="0" bIns="0">
            <a:spAutoFit/>
          </a:bodyPr>
          <a:lstStyle/>
          <a:p>
            <a:pPr>
              <a:lnSpc>
                <a:spcPts val="1792"/>
              </a:lnSpc>
              <a:spcBef>
                <a:spcPts val="0"/>
              </a:spcBef>
              <a:spcAft>
                <a:spcPts val="0"/>
              </a:spcAft>
              <a:defRPr sz="1400" b="0">
                <a:solidFill>
                  <a:srgbClr val="506776"/>
                </a:solidFill>
                <a:latin typeface="Be Vietnam Pro"/>
              </a:defRPr>
            </a:pPr>
            <a:r>
              <a:t>1. Chọn ex:Filmmaker.</a:t>
            </a:r>
          </a:p>
        </p:txBody>
      </p:sp>
      <p:sp>
        <p:nvSpPr>
          <p:cNvPr id="29" name="PHOTO_P06_6"/>
          <p:cNvSpPr txBox="1"/>
          <p:nvPr/>
        </p:nvSpPr>
        <p:spPr>
          <a:xfrm>
            <a:off x="8055864" y="5348223"/>
            <a:ext cx="5605272" cy="264160"/>
          </a:xfrm>
          <a:prstGeom prst="rect">
            <a:avLst/>
          </a:prstGeom>
          <a:noFill/>
        </p:spPr>
        <p:txBody>
          <a:bodyPr wrap="none" lIns="0" rIns="0" tIns="0" bIns="0">
            <a:spAutoFit/>
          </a:bodyPr>
          <a:lstStyle/>
          <a:p>
            <a:pPr>
              <a:lnSpc>
                <a:spcPts val="1792"/>
              </a:lnSpc>
              <a:spcBef>
                <a:spcPts val="0"/>
              </a:spcBef>
              <a:spcAft>
                <a:spcPts val="0"/>
              </a:spcAft>
              <a:defRPr sz="1400" b="0">
                <a:solidFill>
                  <a:srgbClr val="506776"/>
                </a:solidFill>
                <a:latin typeface="Be Vietnam Pro"/>
              </a:defRPr>
            </a:pPr>
            <a:r>
              <a:t>2. Hiện Equivalent To với Person AND các nhánh SOME.</a:t>
            </a:r>
          </a:p>
        </p:txBody>
      </p:sp>
      <p:sp>
        <p:nvSpPr>
          <p:cNvPr id="30" name="PHOTO_P06_7"/>
          <p:cNvSpPr txBox="1"/>
          <p:nvPr/>
        </p:nvSpPr>
        <p:spPr>
          <a:xfrm>
            <a:off x="8055864" y="5703823"/>
            <a:ext cx="5605272" cy="264160"/>
          </a:xfrm>
          <a:prstGeom prst="rect">
            <a:avLst/>
          </a:prstGeom>
          <a:noFill/>
        </p:spPr>
        <p:txBody>
          <a:bodyPr wrap="none" lIns="0" rIns="0" tIns="0" bIns="0">
            <a:spAutoFit/>
          </a:bodyPr>
          <a:lstStyle/>
          <a:p>
            <a:pPr>
              <a:lnSpc>
                <a:spcPts val="1792"/>
              </a:lnSpc>
              <a:spcBef>
                <a:spcPts val="0"/>
              </a:spcBef>
              <a:spcAft>
                <a:spcPts val="0"/>
              </a:spcAft>
              <a:defRPr sz="1400" b="0">
                <a:solidFill>
                  <a:srgbClr val="506776"/>
                </a:solidFill>
                <a:latin typeface="Be Vietnam Pro"/>
              </a:defRPr>
            </a:pPr>
            <a:r>
              <a:t>3. Đọc các nhánh Directing / Writing / ProducingContribution.</a:t>
            </a:r>
          </a:p>
        </p:txBody>
      </p:sp>
      <p:sp>
        <p:nvSpPr>
          <p:cNvPr id="31" name="PHOTO_P06_8"/>
          <p:cNvSpPr txBox="1"/>
          <p:nvPr/>
        </p:nvSpPr>
        <p:spPr>
          <a:xfrm>
            <a:off x="8046720" y="6830568"/>
            <a:ext cx="5623560" cy="283464"/>
          </a:xfrm>
          <a:prstGeom prst="rect">
            <a:avLst/>
          </a:prstGeom>
          <a:noFill/>
        </p:spPr>
        <p:txBody>
          <a:bodyPr wrap="none" lIns="0" rIns="0" tIns="0" bIns="0">
            <a:spAutoFit/>
          </a:bodyPr>
          <a:lstStyle/>
          <a:p>
            <a:pPr>
              <a:lnSpc>
                <a:spcPts val="1408"/>
              </a:lnSpc>
              <a:spcBef>
                <a:spcPts val="0"/>
              </a:spcBef>
              <a:spcAft>
                <a:spcPts val="0"/>
              </a:spcAft>
              <a:defRPr sz="1100" b="0">
                <a:solidFill>
                  <a:srgbClr val="007F82"/>
                </a:solidFill>
                <a:latin typeface="Be Vietnam Pro"/>
              </a:defRPr>
            </a:pPr>
            <a:r>
              <a:t>Thay khung bằng ảnh thật; chi tiết thêm trong Speaker Notes.</a:t>
            </a:r>
          </a:p>
        </p:txBody>
      </p:sp>
      <p:sp>
        <p:nvSpPr>
          <p:cNvPr id="32" name="TextBox 31"/>
          <p:cNvSpPr txBox="1"/>
          <p:nvPr/>
        </p:nvSpPr>
        <p:spPr>
          <a:xfrm>
            <a:off x="777240" y="7242048"/>
            <a:ext cx="13075920" cy="411480"/>
          </a:xfrm>
          <a:prstGeom prst="rect">
            <a:avLst/>
          </a:prstGeom>
          <a:noFill/>
        </p:spPr>
        <p:txBody>
          <a:bodyPr wrap="none" lIns="0" rIns="0" tIns="0" bIns="0">
            <a:spAutoFit/>
          </a:bodyPr>
          <a:lstStyle/>
          <a:p>
            <a:pPr>
              <a:lnSpc>
                <a:spcPts val="1664"/>
              </a:lnSpc>
              <a:spcBef>
                <a:spcPts val="0"/>
              </a:spcBef>
              <a:spcAft>
                <a:spcPts val="0"/>
              </a:spcAft>
              <a:defRPr sz="1300" b="0">
                <a:solidFill>
                  <a:srgbClr val="506776"/>
                </a:solidFill>
                <a:latin typeface="Be Vietnam Pro"/>
              </a:defRPr>
            </a:pPr>
            <a:r>
              <a:t>Nolan: 8 directed films, 22 credit IRIs in the sample; three roles on Inception.</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3F6F7"/>
        </a:solidFill>
        <a:effectLst/>
      </p:bgPr>
    </p:bg>
    <p:spTree>
      <p:nvGrpSpPr>
        <p:cNvPr id="1" name=""/>
        <p:cNvGrpSpPr/>
        <p:nvPr/>
      </p:nvGrpSpPr>
      <p:grpSpPr/>
      <p:sp>
        <p:nvSpPr>
          <p:cNvPr id="2" name="Rectangle 1"/>
          <p:cNvSpPr/>
          <p:nvPr/>
        </p:nvSpPr>
        <p:spPr>
          <a:xfrm>
            <a:off x="0" y="0"/>
            <a:ext cx="118872" cy="8229600"/>
          </a:xfrm>
          <a:prstGeom prst="rect">
            <a:avLst/>
          </a:prstGeom>
          <a:solidFill>
            <a:srgbClr val="007F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1887200" cy="320040"/>
          </a:xfrm>
          <a:prstGeom prst="rect">
            <a:avLst/>
          </a:prstGeom>
          <a:noFill/>
        </p:spPr>
        <p:txBody>
          <a:bodyPr wrap="none" lIns="0" rIns="0" tIns="0" bIns="0">
            <a:spAutoFit/>
          </a:bodyPr>
          <a:lstStyle/>
          <a:p>
            <a:pPr>
              <a:lnSpc>
                <a:spcPts val="1536"/>
              </a:lnSpc>
              <a:spcBef>
                <a:spcPts val="0"/>
              </a:spcBef>
              <a:spcAft>
                <a:spcPts val="0"/>
              </a:spcAft>
              <a:defRPr sz="1200" b="1">
                <a:solidFill>
                  <a:srgbClr val="007F82"/>
                </a:solidFill>
                <a:latin typeface="Be Vietnam Pro"/>
              </a:defRPr>
            </a:pPr>
            <a:r>
              <a:t>MOVIELOD / SEMANTIC WEB / ONTOLOGY 3.0.0</a:t>
            </a:r>
          </a:p>
        </p:txBody>
      </p:sp>
      <p:sp>
        <p:nvSpPr>
          <p:cNvPr id="4" name="TextBox 3"/>
          <p:cNvSpPr txBox="1"/>
          <p:nvPr/>
        </p:nvSpPr>
        <p:spPr>
          <a:xfrm>
            <a:off x="594360" y="868680"/>
            <a:ext cx="13441680" cy="822960"/>
          </a:xfrm>
          <a:prstGeom prst="rect">
            <a:avLst/>
          </a:prstGeom>
          <a:noFill/>
        </p:spPr>
        <p:txBody>
          <a:bodyPr wrap="none" lIns="0" rIns="0" tIns="0" bIns="0">
            <a:spAutoFit/>
          </a:bodyPr>
          <a:lstStyle/>
          <a:p>
            <a:pPr>
              <a:lnSpc>
                <a:spcPts val="4352"/>
              </a:lnSpc>
              <a:spcBef>
                <a:spcPts val="0"/>
              </a:spcBef>
              <a:spcAft>
                <a:spcPts val="0"/>
              </a:spcAft>
              <a:defRPr sz="3400" b="1">
                <a:solidFill>
                  <a:srgbClr val="152B3A"/>
                </a:solidFill>
                <a:latin typeface="Be Vietnam Pro"/>
              </a:defRPr>
            </a:pPr>
            <a:r>
              <a:t>Genuine minimum-cardinality reasoning</a:t>
            </a:r>
          </a:p>
        </p:txBody>
      </p:sp>
      <p:sp>
        <p:nvSpPr>
          <p:cNvPr id="5" name="TextBox 4"/>
          <p:cNvSpPr txBox="1"/>
          <p:nvPr/>
        </p:nvSpPr>
        <p:spPr>
          <a:xfrm>
            <a:off x="612648" y="1719072"/>
            <a:ext cx="13350240" cy="548640"/>
          </a:xfrm>
          <a:prstGeom prst="rect">
            <a:avLst/>
          </a:prstGeom>
          <a:noFill/>
        </p:spPr>
        <p:txBody>
          <a:bodyPr wrap="none" lIns="0" rIns="0" tIns="0" bIns="0">
            <a:spAutoFit/>
          </a:bodyPr>
          <a:lstStyle/>
          <a:p>
            <a:pPr>
              <a:lnSpc>
                <a:spcPts val="2176"/>
              </a:lnSpc>
              <a:spcBef>
                <a:spcPts val="0"/>
              </a:spcBef>
              <a:spcAft>
                <a:spcPts val="0"/>
              </a:spcAft>
              <a:defRPr sz="1700" b="0">
                <a:solidFill>
                  <a:srgbClr val="506776"/>
                </a:solidFill>
                <a:latin typeface="Be Vietnam Pro"/>
              </a:defRPr>
            </a:pPr>
            <a:r>
              <a:t>Functional hasRole + different roles prove distinct credits</a:t>
            </a:r>
          </a:p>
        </p:txBody>
      </p:sp>
      <p:sp>
        <p:nvSpPr>
          <p:cNvPr id="6" name="Rectangle 5"/>
          <p:cNvSpPr/>
          <p:nvPr/>
        </p:nvSpPr>
        <p:spPr>
          <a:xfrm>
            <a:off x="594360" y="7708392"/>
            <a:ext cx="13441680" cy="9144"/>
          </a:xfrm>
          <a:prstGeom prst="rect">
            <a:avLst/>
          </a:prstGeom>
          <a:solidFill>
            <a:srgbClr val="DDE6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94360" y="7845552"/>
            <a:ext cx="11887200" cy="201168"/>
          </a:xfrm>
          <a:prstGeom prst="rect">
            <a:avLst/>
          </a:prstGeom>
          <a:noFill/>
        </p:spPr>
        <p:txBody>
          <a:bodyPr wrap="none" lIns="0" rIns="0" tIns="0" bIns="0">
            <a:spAutoFit/>
          </a:bodyPr>
          <a:lstStyle/>
          <a:p>
            <a:pPr>
              <a:lnSpc>
                <a:spcPts val="1280"/>
              </a:lnSpc>
              <a:spcBef>
                <a:spcPts val="0"/>
              </a:spcBef>
              <a:spcAft>
                <a:spcPts val="0"/>
              </a:spcAft>
              <a:defRPr sz="1000" b="0">
                <a:solidFill>
                  <a:srgbClr val="506776"/>
                </a:solidFill>
                <a:latin typeface="Be Vietnam Pro"/>
              </a:defRPr>
            </a:pPr>
            <a:r>
              <a:t>Data checked: 09 Oct 2026 • Sources: project code and evidence/</a:t>
            </a:r>
          </a:p>
        </p:txBody>
      </p:sp>
      <p:sp>
        <p:nvSpPr>
          <p:cNvPr id="8" name="TextBox 7"/>
          <p:cNvSpPr txBox="1"/>
          <p:nvPr/>
        </p:nvSpPr>
        <p:spPr>
          <a:xfrm>
            <a:off x="13258800" y="7818120"/>
            <a:ext cx="914400" cy="274320"/>
          </a:xfrm>
          <a:prstGeom prst="rect">
            <a:avLst/>
          </a:prstGeom>
          <a:noFill/>
        </p:spPr>
        <p:txBody>
          <a:bodyPr wrap="none" lIns="0" rIns="0" tIns="0" bIns="0">
            <a:spAutoFit/>
          </a:bodyPr>
          <a:lstStyle/>
          <a:p>
            <a:pPr>
              <a:lnSpc>
                <a:spcPts val="1536"/>
              </a:lnSpc>
              <a:spcBef>
                <a:spcPts val="0"/>
              </a:spcBef>
              <a:spcAft>
                <a:spcPts val="0"/>
              </a:spcAft>
              <a:defRPr sz="1200" b="1">
                <a:solidFill>
                  <a:srgbClr val="007F82"/>
                </a:solidFill>
                <a:latin typeface="Be Vietnam Pro"/>
              </a:defRPr>
            </a:pPr>
            <a:r>
              <a:t>10 / 13</a:t>
            </a:r>
          </a:p>
        </p:txBody>
      </p:sp>
      <p:sp>
        <p:nvSpPr>
          <p:cNvPr id="9" name="Rounded Rectangle 8"/>
          <p:cNvSpPr/>
          <p:nvPr/>
        </p:nvSpPr>
        <p:spPr>
          <a:xfrm>
            <a:off x="731520" y="2651760"/>
            <a:ext cx="6720840" cy="173736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31520" y="2651760"/>
            <a:ext cx="41148" cy="1737360"/>
          </a:xfrm>
          <a:prstGeom prst="rect">
            <a:avLst/>
          </a:prstGeom>
          <a:solidFill>
            <a:srgbClr val="007F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41832" y="2798064"/>
            <a:ext cx="6300216" cy="352552"/>
          </a:xfrm>
          <a:prstGeom prst="rect">
            <a:avLst/>
          </a:prstGeom>
          <a:noFill/>
        </p:spPr>
        <p:txBody>
          <a:bodyPr wrap="none" lIns="0" rIns="0" tIns="0" bIns="0">
            <a:spAutoFit/>
          </a:bodyPr>
          <a:lstStyle/>
          <a:p>
            <a:pPr>
              <a:lnSpc>
                <a:spcPts val="2560"/>
              </a:lnSpc>
              <a:spcBef>
                <a:spcPts val="0"/>
              </a:spcBef>
              <a:spcAft>
                <a:spcPts val="0"/>
              </a:spcAft>
              <a:defRPr sz="2000" b="1">
                <a:solidFill>
                  <a:srgbClr val="007F82"/>
                </a:solidFill>
                <a:latin typeface="Be Vietnam Pro"/>
              </a:defRPr>
            </a:pPr>
            <a:r>
              <a:t>MultiCreditContributor · 17</a:t>
            </a:r>
          </a:p>
        </p:txBody>
      </p:sp>
      <p:sp>
        <p:nvSpPr>
          <p:cNvPr id="12" name="TextBox 11"/>
          <p:cNvSpPr txBox="1"/>
          <p:nvPr/>
        </p:nvSpPr>
        <p:spPr>
          <a:xfrm>
            <a:off x="941832" y="3242056"/>
            <a:ext cx="6300216" cy="1064767"/>
          </a:xfrm>
          <a:prstGeom prst="rect">
            <a:avLst/>
          </a:prstGeom>
          <a:noFill/>
        </p:spPr>
        <p:txBody>
          <a:bodyPr wrap="none" lIns="0" rIns="0" tIns="0" bIns="0">
            <a:spAutoFit/>
          </a:bodyPr>
          <a:lstStyle/>
          <a:p>
            <a:pPr>
              <a:lnSpc>
                <a:spcPts val="2304"/>
              </a:lnSpc>
              <a:spcBef>
                <a:spcPts val="0"/>
              </a:spcBef>
              <a:spcAft>
                <a:spcPts val="0"/>
              </a:spcAft>
              <a:defRPr sz="1800" b="0">
                <a:solidFill>
                  <a:srgbClr val="506776"/>
                </a:solidFill>
                <a:latin typeface="Be Vietnam Pro"/>
              </a:defRPr>
            </a:pPr>
            <a:r>
              <a:t>Person and hasContribution min 2 Contribution.</a:t>
            </a:r>
          </a:p>
          <a:p>
            <a:pPr>
              <a:lnSpc>
                <a:spcPts val="2304"/>
              </a:lnSpc>
              <a:spcBef>
                <a:spcPts val="0"/>
              </a:spcBef>
              <a:spcAft>
                <a:spcPts val="0"/>
              </a:spcAft>
              <a:defRPr sz="1800" b="0">
                <a:solidFill>
                  <a:srgbClr val="506776"/>
                </a:solidFill>
                <a:latin typeface="Be Vietnam Pro"/>
              </a:defRPr>
            </a:pPr>
            <a:r>
              <a:t>Distinctness needs semantic evidence.</a:t>
            </a:r>
          </a:p>
        </p:txBody>
      </p:sp>
      <p:sp>
        <p:nvSpPr>
          <p:cNvPr id="13" name="Rounded Rectangle 12"/>
          <p:cNvSpPr/>
          <p:nvPr/>
        </p:nvSpPr>
        <p:spPr>
          <a:xfrm>
            <a:off x="731520" y="4590288"/>
            <a:ext cx="6720840" cy="173736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731520" y="4590288"/>
            <a:ext cx="41148" cy="1737360"/>
          </a:xfrm>
          <a:prstGeom prst="rect">
            <a:avLst/>
          </a:prstGeom>
          <a:solidFill>
            <a:srgbClr val="007F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41832" y="4736592"/>
            <a:ext cx="6300216" cy="352552"/>
          </a:xfrm>
          <a:prstGeom prst="rect">
            <a:avLst/>
          </a:prstGeom>
          <a:noFill/>
        </p:spPr>
        <p:txBody>
          <a:bodyPr wrap="none" lIns="0" rIns="0" tIns="0" bIns="0">
            <a:spAutoFit/>
          </a:bodyPr>
          <a:lstStyle/>
          <a:p>
            <a:pPr>
              <a:lnSpc>
                <a:spcPts val="2560"/>
              </a:lnSpc>
              <a:spcBef>
                <a:spcPts val="0"/>
              </a:spcBef>
              <a:spcAft>
                <a:spcPts val="0"/>
              </a:spcAft>
              <a:defRPr sz="2000" b="1">
                <a:solidFill>
                  <a:srgbClr val="007F82"/>
                </a:solidFill>
                <a:latin typeface="Be Vietnam Pro"/>
              </a:defRPr>
            </a:pPr>
            <a:r>
              <a:t>ThreeCreditContributor · 7</a:t>
            </a:r>
          </a:p>
        </p:txBody>
      </p:sp>
      <p:sp>
        <p:nvSpPr>
          <p:cNvPr id="16" name="TextBox 15"/>
          <p:cNvSpPr txBox="1"/>
          <p:nvPr/>
        </p:nvSpPr>
        <p:spPr>
          <a:xfrm>
            <a:off x="941832" y="5180583"/>
            <a:ext cx="6300216" cy="1064768"/>
          </a:xfrm>
          <a:prstGeom prst="rect">
            <a:avLst/>
          </a:prstGeom>
          <a:noFill/>
        </p:spPr>
        <p:txBody>
          <a:bodyPr wrap="none" lIns="0" rIns="0" tIns="0" bIns="0">
            <a:spAutoFit/>
          </a:bodyPr>
          <a:lstStyle/>
          <a:p>
            <a:pPr>
              <a:lnSpc>
                <a:spcPts val="2304"/>
              </a:lnSpc>
              <a:spcBef>
                <a:spcPts val="0"/>
              </a:spcBef>
              <a:spcAft>
                <a:spcPts val="0"/>
              </a:spcAft>
              <a:defRPr sz="1800" b="0">
                <a:solidFill>
                  <a:srgbClr val="506776"/>
                </a:solidFill>
                <a:latin typeface="Be Vietnam Pro"/>
              </a:defRPr>
            </a:pPr>
            <a:r>
              <a:t>Person and hasContribution min 3 Contribution.</a:t>
            </a:r>
          </a:p>
          <a:p>
            <a:pPr>
              <a:lnSpc>
                <a:spcPts val="2304"/>
              </a:lnSpc>
              <a:spcBef>
                <a:spcPts val="0"/>
              </a:spcBef>
              <a:spcAft>
                <a:spcPts val="0"/>
              </a:spcAft>
              <a:defRPr sz="1800" b="0">
                <a:solidFill>
                  <a:srgbClr val="506776"/>
                </a:solidFill>
                <a:latin typeface="Be Vietnam Pro"/>
              </a:defRPr>
            </a:pPr>
            <a:r>
              <a:t>Nolan supplies three different-role witnesses.</a:t>
            </a:r>
          </a:p>
        </p:txBody>
      </p:sp>
      <p:sp>
        <p:nvSpPr>
          <p:cNvPr id="17" name="TextBox 16"/>
          <p:cNvSpPr txBox="1"/>
          <p:nvPr/>
        </p:nvSpPr>
        <p:spPr>
          <a:xfrm>
            <a:off x="914400" y="6592824"/>
            <a:ext cx="6336792" cy="557784"/>
          </a:xfrm>
          <a:prstGeom prst="rect">
            <a:avLst/>
          </a:prstGeom>
          <a:noFill/>
        </p:spPr>
        <p:txBody>
          <a:bodyPr wrap="none" lIns="0" rIns="0" tIns="0" bIns="0">
            <a:spAutoFit/>
          </a:bodyPr>
          <a:lstStyle/>
          <a:p>
            <a:pPr>
              <a:lnSpc>
                <a:spcPts val="2048"/>
              </a:lnSpc>
              <a:spcBef>
                <a:spcPts val="0"/>
              </a:spcBef>
              <a:spcAft>
                <a:spcPts val="0"/>
              </a:spcAft>
              <a:defRPr sz="1600" b="1">
                <a:solidFill>
                  <a:srgbClr val="007F82"/>
                </a:solidFill>
                <a:latin typeface="Be Vietnam Pro"/>
              </a:defRPr>
            </a:pPr>
            <a:r>
              <a:t>Distinct IRIs </a:t>
            </a:r>
            <a:r>
              <a:rPr>
                <a:latin typeface="Arial Unicode MS"/>
              </a:rPr>
              <a:t>≠</a:t>
            </a:r>
            <a:r>
              <a:t> provably different OWL individuals.</a:t>
            </a:r>
          </a:p>
        </p:txBody>
      </p:sp>
      <p:sp>
        <p:nvSpPr>
          <p:cNvPr id="18" name="PHOTO_P07_0"/>
          <p:cNvSpPr/>
          <p:nvPr/>
        </p:nvSpPr>
        <p:spPr>
          <a:xfrm>
            <a:off x="7818120" y="2578608"/>
            <a:ext cx="6080760" cy="4590288"/>
          </a:xfrm>
          <a:prstGeom prst="roundRect">
            <a:avLst/>
          </a:prstGeom>
          <a:solidFill>
            <a:srgbClr val="FFFFFF"/>
          </a:solidFill>
          <a:ln>
            <a:solidFill>
              <a:srgbClr val="007F8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PHOTO_P07_1"/>
          <p:cNvSpPr txBox="1"/>
          <p:nvPr/>
        </p:nvSpPr>
        <p:spPr>
          <a:xfrm>
            <a:off x="8019288" y="2743200"/>
            <a:ext cx="5678424" cy="347472"/>
          </a:xfrm>
          <a:prstGeom prst="rect">
            <a:avLst/>
          </a:prstGeom>
          <a:noFill/>
        </p:spPr>
        <p:txBody>
          <a:bodyPr wrap="none" lIns="0" rIns="0" tIns="0" bIns="0">
            <a:spAutoFit/>
          </a:bodyPr>
          <a:lstStyle/>
          <a:p>
            <a:pPr>
              <a:lnSpc>
                <a:spcPts val="1792"/>
              </a:lnSpc>
              <a:spcBef>
                <a:spcPts val="0"/>
              </a:spcBef>
              <a:spcAft>
                <a:spcPts val="0"/>
              </a:spcAft>
              <a:defRPr sz="1400" b="1">
                <a:solidFill>
                  <a:srgbClr val="007F82"/>
                </a:solidFill>
                <a:latin typeface="Be Vietnam Pro"/>
              </a:defRPr>
            </a:pPr>
            <a:r>
              <a:t>ẢNH PROTÉGÉ CẦN BỔ SUNG · P07</a:t>
            </a:r>
          </a:p>
        </p:txBody>
      </p:sp>
      <p:sp>
        <p:nvSpPr>
          <p:cNvPr id="20" name="PHOTO_P07_2"/>
          <p:cNvSpPr/>
          <p:nvPr/>
        </p:nvSpPr>
        <p:spPr>
          <a:xfrm>
            <a:off x="8019288" y="3310128"/>
            <a:ext cx="5678424" cy="1051560"/>
          </a:xfrm>
          <a:prstGeom prst="roundRect">
            <a:avLst/>
          </a:prstGeom>
          <a:solidFill>
            <a:srgbClr val="E7EF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PHOTO_P07_3"/>
          <p:cNvSpPr txBox="1"/>
          <p:nvPr/>
        </p:nvSpPr>
        <p:spPr>
          <a:xfrm>
            <a:off x="8183880" y="3520439"/>
            <a:ext cx="5349240" cy="731520"/>
          </a:xfrm>
          <a:prstGeom prst="rect">
            <a:avLst/>
          </a:prstGeom>
          <a:noFill/>
        </p:spPr>
        <p:txBody>
          <a:bodyPr wrap="none" lIns="0" rIns="0" tIns="0" bIns="0">
            <a:spAutoFit/>
          </a:bodyPr>
          <a:lstStyle/>
          <a:p>
            <a:pPr>
              <a:lnSpc>
                <a:spcPts val="2816"/>
              </a:lnSpc>
              <a:spcBef>
                <a:spcPts val="0"/>
              </a:spcBef>
              <a:spcAft>
                <a:spcPts val="0"/>
              </a:spcAft>
              <a:defRPr sz="2200" b="1">
                <a:solidFill>
                  <a:srgbClr val="007F82"/>
                </a:solidFill>
                <a:latin typeface="Be Vietnam Pro"/>
              </a:defRPr>
            </a:pPr>
            <a:r>
              <a:t>Cardinality trên Contribution</a:t>
            </a:r>
          </a:p>
        </p:txBody>
      </p:sp>
      <p:sp>
        <p:nvSpPr>
          <p:cNvPr id="22" name="PHOTO_P07_4"/>
          <p:cNvSpPr txBox="1"/>
          <p:nvPr/>
        </p:nvSpPr>
        <p:spPr>
          <a:xfrm>
            <a:off x="8046720" y="4507992"/>
            <a:ext cx="5623560" cy="384048"/>
          </a:xfrm>
          <a:prstGeom prst="rect">
            <a:avLst/>
          </a:prstGeom>
          <a:noFill/>
        </p:spPr>
        <p:txBody>
          <a:bodyPr wrap="none" lIns="0" rIns="0" tIns="0" bIns="0">
            <a:spAutoFit/>
          </a:bodyPr>
          <a:lstStyle/>
          <a:p>
            <a:pPr>
              <a:lnSpc>
                <a:spcPts val="1664"/>
              </a:lnSpc>
              <a:spcBef>
                <a:spcPts val="0"/>
              </a:spcBef>
              <a:spcAft>
                <a:spcPts val="0"/>
              </a:spcAft>
              <a:defRPr sz="1300" b="0">
                <a:solidFill>
                  <a:srgbClr val="506776"/>
                </a:solidFill>
                <a:latin typeface="Be Vietnam Pro"/>
              </a:defRPr>
            </a:pPr>
            <a:r>
              <a:t>P07_three_credit_cardinality.png</a:t>
            </a:r>
          </a:p>
        </p:txBody>
      </p:sp>
      <p:sp>
        <p:nvSpPr>
          <p:cNvPr id="23" name="PHOTO_P07_5"/>
          <p:cNvSpPr txBox="1"/>
          <p:nvPr/>
        </p:nvSpPr>
        <p:spPr>
          <a:xfrm>
            <a:off x="8055864" y="4992624"/>
            <a:ext cx="5605272" cy="491744"/>
          </a:xfrm>
          <a:prstGeom prst="rect">
            <a:avLst/>
          </a:prstGeom>
          <a:noFill/>
        </p:spPr>
        <p:txBody>
          <a:bodyPr wrap="none" lIns="0" rIns="0" tIns="0" bIns="0">
            <a:spAutoFit/>
          </a:bodyPr>
          <a:lstStyle/>
          <a:p>
            <a:pPr>
              <a:lnSpc>
                <a:spcPts val="1792"/>
              </a:lnSpc>
              <a:spcBef>
                <a:spcPts val="0"/>
              </a:spcBef>
              <a:spcAft>
                <a:spcPts val="0"/>
              </a:spcAft>
              <a:defRPr sz="1400" b="0">
                <a:solidFill>
                  <a:srgbClr val="506776"/>
                </a:solidFill>
                <a:latin typeface="Be Vietnam Pro"/>
              </a:defRPr>
            </a:pPr>
            <a:r>
              <a:t>1. Chọn ex:ThreeCreditContributor; hiện min 3 hasContribution</a:t>
            </a:r>
          </a:p>
          <a:p>
            <a:pPr>
              <a:lnSpc>
                <a:spcPts val="1792"/>
              </a:lnSpc>
              <a:spcBef>
                <a:spcPts val="0"/>
              </a:spcBef>
              <a:spcAft>
                <a:spcPts val="0"/>
              </a:spcAft>
              <a:defRPr sz="1400" b="0">
                <a:solidFill>
                  <a:srgbClr val="506776"/>
                </a:solidFill>
                <a:latin typeface="Be Vietnam Pro"/>
              </a:defRPr>
            </a:pPr>
            <a:r>
              <a:t>Contribution.</a:t>
            </a:r>
          </a:p>
        </p:txBody>
      </p:sp>
      <p:sp>
        <p:nvSpPr>
          <p:cNvPr id="24" name="PHOTO_P07_6"/>
          <p:cNvSpPr txBox="1"/>
          <p:nvPr/>
        </p:nvSpPr>
        <p:spPr>
          <a:xfrm>
            <a:off x="8055864" y="5575807"/>
            <a:ext cx="5605272" cy="264160"/>
          </a:xfrm>
          <a:prstGeom prst="rect">
            <a:avLst/>
          </a:prstGeom>
          <a:noFill/>
        </p:spPr>
        <p:txBody>
          <a:bodyPr wrap="none" lIns="0" rIns="0" tIns="0" bIns="0">
            <a:spAutoFit/>
          </a:bodyPr>
          <a:lstStyle/>
          <a:p>
            <a:pPr>
              <a:lnSpc>
                <a:spcPts val="1792"/>
              </a:lnSpc>
              <a:spcBef>
                <a:spcPts val="0"/>
              </a:spcBef>
              <a:spcAft>
                <a:spcPts val="0"/>
              </a:spcAft>
              <a:defRPr sz="1400" b="0">
                <a:solidFill>
                  <a:srgbClr val="506776"/>
                </a:solidFill>
                <a:latin typeface="Be Vietnam Pro"/>
              </a:defRPr>
            </a:pPr>
            <a:r>
              <a:t>2. Chạy HermiT; chọn Nolan ở inferred view.</a:t>
            </a:r>
          </a:p>
        </p:txBody>
      </p:sp>
      <p:sp>
        <p:nvSpPr>
          <p:cNvPr id="25" name="PHOTO_P07_7"/>
          <p:cNvSpPr txBox="1"/>
          <p:nvPr/>
        </p:nvSpPr>
        <p:spPr>
          <a:xfrm>
            <a:off x="8055864" y="5931407"/>
            <a:ext cx="5605272" cy="264160"/>
          </a:xfrm>
          <a:prstGeom prst="rect">
            <a:avLst/>
          </a:prstGeom>
          <a:noFill/>
        </p:spPr>
        <p:txBody>
          <a:bodyPr wrap="none" lIns="0" rIns="0" tIns="0" bIns="0">
            <a:spAutoFit/>
          </a:bodyPr>
          <a:lstStyle/>
          <a:p>
            <a:pPr>
              <a:lnSpc>
                <a:spcPts val="1792"/>
              </a:lnSpc>
              <a:spcBef>
                <a:spcPts val="0"/>
              </a:spcBef>
              <a:spcAft>
                <a:spcPts val="0"/>
              </a:spcAft>
              <a:defRPr sz="1400" b="0">
                <a:solidFill>
                  <a:srgbClr val="506776"/>
                </a:solidFill>
                <a:latin typeface="Be Vietnam Pro"/>
              </a:defRPr>
            </a:pPr>
            <a:r>
              <a:t>3. Chụp thêm Functional hasRole và AllDifferent của bốn role.</a:t>
            </a:r>
          </a:p>
        </p:txBody>
      </p:sp>
      <p:sp>
        <p:nvSpPr>
          <p:cNvPr id="26" name="PHOTO_P07_8"/>
          <p:cNvSpPr txBox="1"/>
          <p:nvPr/>
        </p:nvSpPr>
        <p:spPr>
          <a:xfrm>
            <a:off x="8046720" y="6830568"/>
            <a:ext cx="5623560" cy="283464"/>
          </a:xfrm>
          <a:prstGeom prst="rect">
            <a:avLst/>
          </a:prstGeom>
          <a:noFill/>
        </p:spPr>
        <p:txBody>
          <a:bodyPr wrap="none" lIns="0" rIns="0" tIns="0" bIns="0">
            <a:spAutoFit/>
          </a:bodyPr>
          <a:lstStyle/>
          <a:p>
            <a:pPr>
              <a:lnSpc>
                <a:spcPts val="1408"/>
              </a:lnSpc>
              <a:spcBef>
                <a:spcPts val="0"/>
              </a:spcBef>
              <a:spcAft>
                <a:spcPts val="0"/>
              </a:spcAft>
              <a:defRPr sz="1100" b="0">
                <a:solidFill>
                  <a:srgbClr val="007F82"/>
                </a:solidFill>
                <a:latin typeface="Be Vietnam Pro"/>
              </a:defRPr>
            </a:pPr>
            <a:r>
              <a:t>Thay khung bằng ảnh thật; chi tiết thêm trong Speaker Notes.</a:t>
            </a:r>
          </a:p>
        </p:txBody>
      </p:sp>
      <p:sp>
        <p:nvSpPr>
          <p:cNvPr id="27" name="TextBox 26"/>
          <p:cNvSpPr txBox="1"/>
          <p:nvPr/>
        </p:nvSpPr>
        <p:spPr>
          <a:xfrm>
            <a:off x="777240" y="7242048"/>
            <a:ext cx="13075920" cy="411480"/>
          </a:xfrm>
          <a:prstGeom prst="rect">
            <a:avLst/>
          </a:prstGeom>
          <a:noFill/>
        </p:spPr>
        <p:txBody>
          <a:bodyPr wrap="none" lIns="0" rIns="0" tIns="0" bIns="0">
            <a:spAutoFit/>
          </a:bodyPr>
          <a:lstStyle/>
          <a:p>
            <a:pPr>
              <a:lnSpc>
                <a:spcPts val="1664"/>
              </a:lnSpc>
              <a:spcBef>
                <a:spcPts val="0"/>
              </a:spcBef>
              <a:spcAft>
                <a:spcPts val="0"/>
              </a:spcAft>
              <a:defRPr sz="1300" b="0">
                <a:solidFill>
                  <a:srgbClr val="506776"/>
                </a:solidFill>
                <a:latin typeface="Be Vietnam Pro"/>
              </a:defRPr>
            </a:pPr>
            <a:r>
              <a:t>Negative test: min 2 genres gives 0 DL members; SQL/SPARQL counting is a different claim.</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3F6F7"/>
        </a:solidFill>
        <a:effectLst/>
      </p:bgPr>
    </p:bg>
    <p:spTree>
      <p:nvGrpSpPr>
        <p:cNvPr id="1" name=""/>
        <p:cNvGrpSpPr/>
        <p:nvPr/>
      </p:nvGrpSpPr>
      <p:grpSpPr/>
      <p:sp>
        <p:nvSpPr>
          <p:cNvPr id="2" name="Rectangle 1"/>
          <p:cNvSpPr/>
          <p:nvPr/>
        </p:nvSpPr>
        <p:spPr>
          <a:xfrm>
            <a:off x="0" y="0"/>
            <a:ext cx="118872" cy="8229600"/>
          </a:xfrm>
          <a:prstGeom prst="rect">
            <a:avLst/>
          </a:prstGeom>
          <a:solidFill>
            <a:srgbClr val="007F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1887200" cy="320040"/>
          </a:xfrm>
          <a:prstGeom prst="rect">
            <a:avLst/>
          </a:prstGeom>
          <a:noFill/>
        </p:spPr>
        <p:txBody>
          <a:bodyPr wrap="none" lIns="0" rIns="0" tIns="0" bIns="0">
            <a:spAutoFit/>
          </a:bodyPr>
          <a:lstStyle/>
          <a:p>
            <a:pPr>
              <a:lnSpc>
                <a:spcPts val="1536"/>
              </a:lnSpc>
              <a:spcBef>
                <a:spcPts val="0"/>
              </a:spcBef>
              <a:spcAft>
                <a:spcPts val="0"/>
              </a:spcAft>
              <a:defRPr sz="1200" b="1">
                <a:solidFill>
                  <a:srgbClr val="007F82"/>
                </a:solidFill>
                <a:latin typeface="Be Vietnam Pro"/>
              </a:defRPr>
            </a:pPr>
            <a:r>
              <a:t>MOVIELOD / SEMANTIC WEB / ONTOLOGY 3.0.0</a:t>
            </a:r>
          </a:p>
        </p:txBody>
      </p:sp>
      <p:sp>
        <p:nvSpPr>
          <p:cNvPr id="4" name="TextBox 3"/>
          <p:cNvSpPr txBox="1"/>
          <p:nvPr/>
        </p:nvSpPr>
        <p:spPr>
          <a:xfrm>
            <a:off x="594360" y="868680"/>
            <a:ext cx="13441680" cy="822960"/>
          </a:xfrm>
          <a:prstGeom prst="rect">
            <a:avLst/>
          </a:prstGeom>
          <a:noFill/>
        </p:spPr>
        <p:txBody>
          <a:bodyPr wrap="none" lIns="0" rIns="0" tIns="0" bIns="0">
            <a:spAutoFit/>
          </a:bodyPr>
          <a:lstStyle/>
          <a:p>
            <a:pPr>
              <a:lnSpc>
                <a:spcPts val="4352"/>
              </a:lnSpc>
              <a:spcBef>
                <a:spcPts val="0"/>
              </a:spcBef>
              <a:spcAft>
                <a:spcPts val="0"/>
              </a:spcAft>
              <a:defRPr sz="3400" b="1">
                <a:solidFill>
                  <a:srgbClr val="152B3A"/>
                </a:solidFill>
                <a:latin typeface="Be Vietnam Pro"/>
              </a:defRPr>
            </a:pPr>
            <a:r>
              <a:t>Linked data: identity and publication</a:t>
            </a:r>
          </a:p>
        </p:txBody>
      </p:sp>
      <p:sp>
        <p:nvSpPr>
          <p:cNvPr id="5" name="TextBox 4"/>
          <p:cNvSpPr txBox="1"/>
          <p:nvPr/>
        </p:nvSpPr>
        <p:spPr>
          <a:xfrm>
            <a:off x="612648" y="1719072"/>
            <a:ext cx="13350240" cy="548640"/>
          </a:xfrm>
          <a:prstGeom prst="rect">
            <a:avLst/>
          </a:prstGeom>
          <a:noFill/>
        </p:spPr>
        <p:txBody>
          <a:bodyPr wrap="none" lIns="0" rIns="0" tIns="0" bIns="0">
            <a:spAutoFit/>
          </a:bodyPr>
          <a:lstStyle/>
          <a:p>
            <a:pPr>
              <a:lnSpc>
                <a:spcPts val="2176"/>
              </a:lnSpc>
              <a:spcBef>
                <a:spcPts val="0"/>
              </a:spcBef>
              <a:spcAft>
                <a:spcPts val="0"/>
              </a:spcAft>
              <a:defRPr sz="1700" b="0">
                <a:solidFill>
                  <a:srgbClr val="506776"/>
                </a:solidFill>
                <a:latin typeface="Be Vietnam Pro"/>
              </a:defRPr>
            </a:pPr>
            <a:r>
              <a:t>Canonical identifiers, graph exports and external identity links</a:t>
            </a:r>
          </a:p>
        </p:txBody>
      </p:sp>
      <p:sp>
        <p:nvSpPr>
          <p:cNvPr id="6" name="Rectangle 5"/>
          <p:cNvSpPr/>
          <p:nvPr/>
        </p:nvSpPr>
        <p:spPr>
          <a:xfrm>
            <a:off x="594360" y="7708392"/>
            <a:ext cx="13441680" cy="9144"/>
          </a:xfrm>
          <a:prstGeom prst="rect">
            <a:avLst/>
          </a:prstGeom>
          <a:solidFill>
            <a:srgbClr val="DDE6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94360" y="7845552"/>
            <a:ext cx="11887200" cy="201168"/>
          </a:xfrm>
          <a:prstGeom prst="rect">
            <a:avLst/>
          </a:prstGeom>
          <a:noFill/>
        </p:spPr>
        <p:txBody>
          <a:bodyPr wrap="none" lIns="0" rIns="0" tIns="0" bIns="0">
            <a:spAutoFit/>
          </a:bodyPr>
          <a:lstStyle/>
          <a:p>
            <a:pPr>
              <a:lnSpc>
                <a:spcPts val="1280"/>
              </a:lnSpc>
              <a:spcBef>
                <a:spcPts val="0"/>
              </a:spcBef>
              <a:spcAft>
                <a:spcPts val="0"/>
              </a:spcAft>
              <a:defRPr sz="1000" b="0">
                <a:solidFill>
                  <a:srgbClr val="506776"/>
                </a:solidFill>
                <a:latin typeface="Be Vietnam Pro"/>
              </a:defRPr>
            </a:pPr>
            <a:r>
              <a:t>Data checked: 09 Oct 2026 • Sources: project code and evidence/</a:t>
            </a:r>
          </a:p>
        </p:txBody>
      </p:sp>
      <p:sp>
        <p:nvSpPr>
          <p:cNvPr id="8" name="TextBox 7"/>
          <p:cNvSpPr txBox="1"/>
          <p:nvPr/>
        </p:nvSpPr>
        <p:spPr>
          <a:xfrm>
            <a:off x="13258800" y="7818120"/>
            <a:ext cx="914400" cy="274320"/>
          </a:xfrm>
          <a:prstGeom prst="rect">
            <a:avLst/>
          </a:prstGeom>
          <a:noFill/>
        </p:spPr>
        <p:txBody>
          <a:bodyPr wrap="none" lIns="0" rIns="0" tIns="0" bIns="0">
            <a:spAutoFit/>
          </a:bodyPr>
          <a:lstStyle/>
          <a:p>
            <a:pPr>
              <a:lnSpc>
                <a:spcPts val="1536"/>
              </a:lnSpc>
              <a:spcBef>
                <a:spcPts val="0"/>
              </a:spcBef>
              <a:spcAft>
                <a:spcPts val="0"/>
              </a:spcAft>
              <a:defRPr sz="1200" b="1">
                <a:solidFill>
                  <a:srgbClr val="007F82"/>
                </a:solidFill>
                <a:latin typeface="Be Vietnam Pro"/>
              </a:defRPr>
            </a:pPr>
            <a:r>
              <a:t>11 / 13</a:t>
            </a:r>
          </a:p>
        </p:txBody>
      </p:sp>
      <p:sp>
        <p:nvSpPr>
          <p:cNvPr id="9" name="Rounded Rectangle 8"/>
          <p:cNvSpPr/>
          <p:nvPr/>
        </p:nvSpPr>
        <p:spPr>
          <a:xfrm>
            <a:off x="731520" y="2651760"/>
            <a:ext cx="13304520" cy="621792"/>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41832" y="2770632"/>
            <a:ext cx="1188720" cy="365760"/>
          </a:xfrm>
          <a:prstGeom prst="rect">
            <a:avLst/>
          </a:prstGeom>
          <a:noFill/>
        </p:spPr>
        <p:txBody>
          <a:bodyPr wrap="none" lIns="0" rIns="0" tIns="0" bIns="0">
            <a:spAutoFit/>
          </a:bodyPr>
          <a:lstStyle/>
          <a:p>
            <a:pPr>
              <a:lnSpc>
                <a:spcPts val="2688"/>
              </a:lnSpc>
              <a:spcBef>
                <a:spcPts val="0"/>
              </a:spcBef>
              <a:spcAft>
                <a:spcPts val="0"/>
              </a:spcAft>
              <a:defRPr sz="2100" b="1">
                <a:solidFill>
                  <a:srgbClr val="007F82"/>
                </a:solidFill>
                <a:latin typeface="Be Vietnam Pro"/>
              </a:defRPr>
            </a:pPr>
            <a:r>
              <a:t>1★</a:t>
            </a:r>
          </a:p>
        </p:txBody>
      </p:sp>
      <p:sp>
        <p:nvSpPr>
          <p:cNvPr id="11" name="TextBox 10"/>
          <p:cNvSpPr txBox="1"/>
          <p:nvPr/>
        </p:nvSpPr>
        <p:spPr>
          <a:xfrm>
            <a:off x="2377440" y="2788920"/>
            <a:ext cx="5852160" cy="356616"/>
          </a:xfrm>
          <a:prstGeom prst="rect">
            <a:avLst/>
          </a:prstGeom>
          <a:noFill/>
        </p:spPr>
        <p:txBody>
          <a:bodyPr wrap="none" lIns="0" rIns="0" tIns="0" bIns="0">
            <a:spAutoFit/>
          </a:bodyPr>
          <a:lstStyle/>
          <a:p>
            <a:pPr>
              <a:lnSpc>
                <a:spcPts val="2432"/>
              </a:lnSpc>
              <a:spcBef>
                <a:spcPts val="0"/>
              </a:spcBef>
              <a:spcAft>
                <a:spcPts val="0"/>
              </a:spcAft>
              <a:defRPr sz="1900" b="1">
                <a:solidFill>
                  <a:srgbClr val="152B3A"/>
                </a:solidFill>
                <a:latin typeface="Be Vietnam Pro"/>
              </a:defRPr>
            </a:pPr>
            <a:r>
              <a:t>Open license</a:t>
            </a:r>
          </a:p>
        </p:txBody>
      </p:sp>
      <p:sp>
        <p:nvSpPr>
          <p:cNvPr id="12" name="TextBox 11"/>
          <p:cNvSpPr txBox="1"/>
          <p:nvPr/>
        </p:nvSpPr>
        <p:spPr>
          <a:xfrm>
            <a:off x="8385048" y="2788920"/>
            <a:ext cx="5358384" cy="365760"/>
          </a:xfrm>
          <a:prstGeom prst="rect">
            <a:avLst/>
          </a:prstGeom>
          <a:noFill/>
        </p:spPr>
        <p:txBody>
          <a:bodyPr wrap="none" lIns="0" rIns="0" tIns="0" bIns="0">
            <a:spAutoFit/>
          </a:bodyPr>
          <a:lstStyle/>
          <a:p>
            <a:pPr>
              <a:lnSpc>
                <a:spcPts val="2176"/>
              </a:lnSpc>
              <a:spcBef>
                <a:spcPts val="0"/>
              </a:spcBef>
              <a:spcAft>
                <a:spcPts val="0"/>
              </a:spcAft>
              <a:defRPr sz="1700" b="0">
                <a:solidFill>
                  <a:srgbClr val="506776"/>
                </a:solidFill>
                <a:latin typeface="Be Vietnam Pro"/>
              </a:defRPr>
            </a:pPr>
            <a:r>
              <a:t>CC BY-SA 4.0</a:t>
            </a:r>
          </a:p>
        </p:txBody>
      </p:sp>
      <p:sp>
        <p:nvSpPr>
          <p:cNvPr id="13" name="Rounded Rectangle 12"/>
          <p:cNvSpPr/>
          <p:nvPr/>
        </p:nvSpPr>
        <p:spPr>
          <a:xfrm>
            <a:off x="731520" y="3438144"/>
            <a:ext cx="13304520" cy="621792"/>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41832" y="3557015"/>
            <a:ext cx="1188720" cy="365760"/>
          </a:xfrm>
          <a:prstGeom prst="rect">
            <a:avLst/>
          </a:prstGeom>
          <a:noFill/>
        </p:spPr>
        <p:txBody>
          <a:bodyPr wrap="none" lIns="0" rIns="0" tIns="0" bIns="0">
            <a:spAutoFit/>
          </a:bodyPr>
          <a:lstStyle/>
          <a:p>
            <a:pPr>
              <a:lnSpc>
                <a:spcPts val="2688"/>
              </a:lnSpc>
              <a:spcBef>
                <a:spcPts val="0"/>
              </a:spcBef>
              <a:spcAft>
                <a:spcPts val="0"/>
              </a:spcAft>
              <a:defRPr sz="2100" b="1">
                <a:solidFill>
                  <a:srgbClr val="007F82"/>
                </a:solidFill>
                <a:latin typeface="Be Vietnam Pro"/>
              </a:defRPr>
            </a:pPr>
            <a:r>
              <a:t>2★</a:t>
            </a:r>
          </a:p>
        </p:txBody>
      </p:sp>
      <p:sp>
        <p:nvSpPr>
          <p:cNvPr id="15" name="TextBox 14"/>
          <p:cNvSpPr txBox="1"/>
          <p:nvPr/>
        </p:nvSpPr>
        <p:spPr>
          <a:xfrm>
            <a:off x="2377440" y="3575303"/>
            <a:ext cx="5852160" cy="356616"/>
          </a:xfrm>
          <a:prstGeom prst="rect">
            <a:avLst/>
          </a:prstGeom>
          <a:noFill/>
        </p:spPr>
        <p:txBody>
          <a:bodyPr wrap="none" lIns="0" rIns="0" tIns="0" bIns="0">
            <a:spAutoFit/>
          </a:bodyPr>
          <a:lstStyle/>
          <a:p>
            <a:pPr>
              <a:lnSpc>
                <a:spcPts val="2432"/>
              </a:lnSpc>
              <a:spcBef>
                <a:spcPts val="0"/>
              </a:spcBef>
              <a:spcAft>
                <a:spcPts val="0"/>
              </a:spcAft>
              <a:defRPr sz="1900" b="1">
                <a:solidFill>
                  <a:srgbClr val="152B3A"/>
                </a:solidFill>
                <a:latin typeface="Be Vietnam Pro"/>
              </a:defRPr>
            </a:pPr>
            <a:r>
              <a:t>Structured source descriptions</a:t>
            </a:r>
          </a:p>
        </p:txBody>
      </p:sp>
      <p:sp>
        <p:nvSpPr>
          <p:cNvPr id="16" name="TextBox 15"/>
          <p:cNvSpPr txBox="1"/>
          <p:nvPr/>
        </p:nvSpPr>
        <p:spPr>
          <a:xfrm>
            <a:off x="8385048" y="3575303"/>
            <a:ext cx="5358384" cy="365760"/>
          </a:xfrm>
          <a:prstGeom prst="rect">
            <a:avLst/>
          </a:prstGeom>
          <a:noFill/>
        </p:spPr>
        <p:txBody>
          <a:bodyPr wrap="none" lIns="0" rIns="0" tIns="0" bIns="0">
            <a:spAutoFit/>
          </a:bodyPr>
          <a:lstStyle/>
          <a:p>
            <a:pPr>
              <a:lnSpc>
                <a:spcPts val="2176"/>
              </a:lnSpc>
              <a:spcBef>
                <a:spcPts val="0"/>
              </a:spcBef>
              <a:spcAft>
                <a:spcPts val="0"/>
              </a:spcAft>
              <a:defRPr sz="1700" b="0">
                <a:solidFill>
                  <a:srgbClr val="506776"/>
                </a:solidFill>
                <a:latin typeface="Be Vietnam Pro"/>
              </a:defRPr>
            </a:pPr>
            <a:r>
              <a:t>Claims, identifiers, values</a:t>
            </a:r>
          </a:p>
        </p:txBody>
      </p:sp>
      <p:sp>
        <p:nvSpPr>
          <p:cNvPr id="17" name="Rounded Rectangle 16"/>
          <p:cNvSpPr/>
          <p:nvPr/>
        </p:nvSpPr>
        <p:spPr>
          <a:xfrm>
            <a:off x="731520" y="4224528"/>
            <a:ext cx="13304520" cy="621792"/>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41832" y="4343400"/>
            <a:ext cx="1188720" cy="365760"/>
          </a:xfrm>
          <a:prstGeom prst="rect">
            <a:avLst/>
          </a:prstGeom>
          <a:noFill/>
        </p:spPr>
        <p:txBody>
          <a:bodyPr wrap="none" lIns="0" rIns="0" tIns="0" bIns="0">
            <a:spAutoFit/>
          </a:bodyPr>
          <a:lstStyle/>
          <a:p>
            <a:pPr>
              <a:lnSpc>
                <a:spcPts val="2688"/>
              </a:lnSpc>
              <a:spcBef>
                <a:spcPts val="0"/>
              </a:spcBef>
              <a:spcAft>
                <a:spcPts val="0"/>
              </a:spcAft>
              <a:defRPr sz="2100" b="1">
                <a:solidFill>
                  <a:srgbClr val="007F82"/>
                </a:solidFill>
                <a:latin typeface="Be Vietnam Pro"/>
              </a:defRPr>
            </a:pPr>
            <a:r>
              <a:t>3★</a:t>
            </a:r>
          </a:p>
        </p:txBody>
      </p:sp>
      <p:sp>
        <p:nvSpPr>
          <p:cNvPr id="19" name="TextBox 18"/>
          <p:cNvSpPr txBox="1"/>
          <p:nvPr/>
        </p:nvSpPr>
        <p:spPr>
          <a:xfrm>
            <a:off x="2377440" y="4361688"/>
            <a:ext cx="5852160" cy="356616"/>
          </a:xfrm>
          <a:prstGeom prst="rect">
            <a:avLst/>
          </a:prstGeom>
          <a:noFill/>
        </p:spPr>
        <p:txBody>
          <a:bodyPr wrap="none" lIns="0" rIns="0" tIns="0" bIns="0">
            <a:spAutoFit/>
          </a:bodyPr>
          <a:lstStyle/>
          <a:p>
            <a:pPr>
              <a:lnSpc>
                <a:spcPts val="2432"/>
              </a:lnSpc>
              <a:spcBef>
                <a:spcPts val="0"/>
              </a:spcBef>
              <a:spcAft>
                <a:spcPts val="0"/>
              </a:spcAft>
              <a:defRPr sz="1900" b="1">
                <a:solidFill>
                  <a:srgbClr val="152B3A"/>
                </a:solidFill>
                <a:latin typeface="Be Vietnam Pro"/>
              </a:defRPr>
            </a:pPr>
            <a:r>
              <a:t>Open RDF serializations</a:t>
            </a:r>
          </a:p>
        </p:txBody>
      </p:sp>
      <p:sp>
        <p:nvSpPr>
          <p:cNvPr id="20" name="TextBox 19"/>
          <p:cNvSpPr txBox="1"/>
          <p:nvPr/>
        </p:nvSpPr>
        <p:spPr>
          <a:xfrm>
            <a:off x="8385048" y="4361688"/>
            <a:ext cx="5358384" cy="365760"/>
          </a:xfrm>
          <a:prstGeom prst="rect">
            <a:avLst/>
          </a:prstGeom>
          <a:noFill/>
        </p:spPr>
        <p:txBody>
          <a:bodyPr wrap="none" lIns="0" rIns="0" tIns="0" bIns="0">
            <a:spAutoFit/>
          </a:bodyPr>
          <a:lstStyle/>
          <a:p>
            <a:pPr>
              <a:lnSpc>
                <a:spcPts val="2176"/>
              </a:lnSpc>
              <a:spcBef>
                <a:spcPts val="0"/>
              </a:spcBef>
              <a:spcAft>
                <a:spcPts val="0"/>
              </a:spcAft>
              <a:defRPr sz="1700" b="0">
                <a:solidFill>
                  <a:srgbClr val="506776"/>
                </a:solidFill>
                <a:latin typeface="Be Vietnam Pro"/>
              </a:defRPr>
            </a:pPr>
            <a:r>
              <a:t>RDF/XML, Turtle, JSON-LD</a:t>
            </a:r>
          </a:p>
        </p:txBody>
      </p:sp>
      <p:sp>
        <p:nvSpPr>
          <p:cNvPr id="21" name="Rounded Rectangle 20"/>
          <p:cNvSpPr/>
          <p:nvPr/>
        </p:nvSpPr>
        <p:spPr>
          <a:xfrm>
            <a:off x="731520" y="5010912"/>
            <a:ext cx="13304520" cy="621792"/>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941832" y="5129784"/>
            <a:ext cx="1188720" cy="365760"/>
          </a:xfrm>
          <a:prstGeom prst="rect">
            <a:avLst/>
          </a:prstGeom>
          <a:noFill/>
        </p:spPr>
        <p:txBody>
          <a:bodyPr wrap="none" lIns="0" rIns="0" tIns="0" bIns="0">
            <a:spAutoFit/>
          </a:bodyPr>
          <a:lstStyle/>
          <a:p>
            <a:pPr>
              <a:lnSpc>
                <a:spcPts val="2688"/>
              </a:lnSpc>
              <a:spcBef>
                <a:spcPts val="0"/>
              </a:spcBef>
              <a:spcAft>
                <a:spcPts val="0"/>
              </a:spcAft>
              <a:defRPr sz="2100" b="1">
                <a:solidFill>
                  <a:srgbClr val="007F82"/>
                </a:solidFill>
                <a:latin typeface="Be Vietnam Pro"/>
              </a:defRPr>
            </a:pPr>
            <a:r>
              <a:t>4★</a:t>
            </a:r>
          </a:p>
        </p:txBody>
      </p:sp>
      <p:sp>
        <p:nvSpPr>
          <p:cNvPr id="23" name="TextBox 22"/>
          <p:cNvSpPr txBox="1"/>
          <p:nvPr/>
        </p:nvSpPr>
        <p:spPr>
          <a:xfrm>
            <a:off x="2377440" y="5148072"/>
            <a:ext cx="5852160" cy="356616"/>
          </a:xfrm>
          <a:prstGeom prst="rect">
            <a:avLst/>
          </a:prstGeom>
          <a:noFill/>
        </p:spPr>
        <p:txBody>
          <a:bodyPr wrap="none" lIns="0" rIns="0" tIns="0" bIns="0">
            <a:spAutoFit/>
          </a:bodyPr>
          <a:lstStyle/>
          <a:p>
            <a:pPr>
              <a:lnSpc>
                <a:spcPts val="2432"/>
              </a:lnSpc>
              <a:spcBef>
                <a:spcPts val="0"/>
              </a:spcBef>
              <a:spcAft>
                <a:spcPts val="0"/>
              </a:spcAft>
              <a:defRPr sz="1900" b="1">
                <a:solidFill>
                  <a:srgbClr val="152B3A"/>
                </a:solidFill>
                <a:latin typeface="Be Vietnam Pro"/>
              </a:defRPr>
            </a:pPr>
            <a:r>
              <a:t>HTTP identifiers and RDF</a:t>
            </a:r>
          </a:p>
        </p:txBody>
      </p:sp>
      <p:sp>
        <p:nvSpPr>
          <p:cNvPr id="24" name="TextBox 23"/>
          <p:cNvSpPr txBox="1"/>
          <p:nvPr/>
        </p:nvSpPr>
        <p:spPr>
          <a:xfrm>
            <a:off x="8385048" y="5148072"/>
            <a:ext cx="5358384" cy="365760"/>
          </a:xfrm>
          <a:prstGeom prst="rect">
            <a:avLst/>
          </a:prstGeom>
          <a:noFill/>
        </p:spPr>
        <p:txBody>
          <a:bodyPr wrap="none" lIns="0" rIns="0" tIns="0" bIns="0">
            <a:spAutoFit/>
          </a:bodyPr>
          <a:lstStyle/>
          <a:p>
            <a:pPr>
              <a:lnSpc>
                <a:spcPts val="2176"/>
              </a:lnSpc>
              <a:spcBef>
                <a:spcPts val="0"/>
              </a:spcBef>
              <a:spcAft>
                <a:spcPts val="0"/>
              </a:spcAft>
              <a:defRPr sz="1700" b="0">
                <a:solidFill>
                  <a:srgbClr val="506776"/>
                </a:solidFill>
                <a:latin typeface="Be Vietnam Pro"/>
              </a:defRPr>
            </a:pPr>
            <a:r>
              <a:t>Canonical version 3.0.0</a:t>
            </a:r>
          </a:p>
        </p:txBody>
      </p:sp>
      <p:sp>
        <p:nvSpPr>
          <p:cNvPr id="25" name="Rounded Rectangle 24"/>
          <p:cNvSpPr/>
          <p:nvPr/>
        </p:nvSpPr>
        <p:spPr>
          <a:xfrm>
            <a:off x="731520" y="5797296"/>
            <a:ext cx="13304520" cy="621792"/>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941832" y="5916168"/>
            <a:ext cx="1188720" cy="365760"/>
          </a:xfrm>
          <a:prstGeom prst="rect">
            <a:avLst/>
          </a:prstGeom>
          <a:noFill/>
        </p:spPr>
        <p:txBody>
          <a:bodyPr wrap="none" lIns="0" rIns="0" tIns="0" bIns="0">
            <a:spAutoFit/>
          </a:bodyPr>
          <a:lstStyle/>
          <a:p>
            <a:pPr>
              <a:lnSpc>
                <a:spcPts val="2688"/>
              </a:lnSpc>
              <a:spcBef>
                <a:spcPts val="0"/>
              </a:spcBef>
              <a:spcAft>
                <a:spcPts val="0"/>
              </a:spcAft>
              <a:defRPr sz="2100" b="1">
                <a:solidFill>
                  <a:srgbClr val="007F82"/>
                </a:solidFill>
                <a:latin typeface="Be Vietnam Pro"/>
              </a:defRPr>
            </a:pPr>
            <a:r>
              <a:t>5★</a:t>
            </a:r>
          </a:p>
        </p:txBody>
      </p:sp>
      <p:sp>
        <p:nvSpPr>
          <p:cNvPr id="27" name="TextBox 26"/>
          <p:cNvSpPr txBox="1"/>
          <p:nvPr/>
        </p:nvSpPr>
        <p:spPr>
          <a:xfrm>
            <a:off x="2377440" y="5934456"/>
            <a:ext cx="5852160" cy="356616"/>
          </a:xfrm>
          <a:prstGeom prst="rect">
            <a:avLst/>
          </a:prstGeom>
          <a:noFill/>
        </p:spPr>
        <p:txBody>
          <a:bodyPr wrap="none" lIns="0" rIns="0" tIns="0" bIns="0">
            <a:spAutoFit/>
          </a:bodyPr>
          <a:lstStyle/>
          <a:p>
            <a:pPr>
              <a:lnSpc>
                <a:spcPts val="2432"/>
              </a:lnSpc>
              <a:spcBef>
                <a:spcPts val="0"/>
              </a:spcBef>
              <a:spcAft>
                <a:spcPts val="0"/>
              </a:spcAft>
              <a:defRPr sz="1900" b="1">
                <a:solidFill>
                  <a:srgbClr val="152B3A"/>
                </a:solidFill>
                <a:latin typeface="Be Vietnam Pro"/>
              </a:defRPr>
            </a:pPr>
            <a:r>
              <a:t>External identity links</a:t>
            </a:r>
          </a:p>
        </p:txBody>
      </p:sp>
      <p:sp>
        <p:nvSpPr>
          <p:cNvPr id="28" name="TextBox 27"/>
          <p:cNvSpPr txBox="1"/>
          <p:nvPr/>
        </p:nvSpPr>
        <p:spPr>
          <a:xfrm>
            <a:off x="8385048" y="5934456"/>
            <a:ext cx="5358384" cy="365760"/>
          </a:xfrm>
          <a:prstGeom prst="rect">
            <a:avLst/>
          </a:prstGeom>
          <a:noFill/>
        </p:spPr>
        <p:txBody>
          <a:bodyPr wrap="none" lIns="0" rIns="0" tIns="0" bIns="0">
            <a:spAutoFit/>
          </a:bodyPr>
          <a:lstStyle/>
          <a:p>
            <a:pPr>
              <a:lnSpc>
                <a:spcPts val="2176"/>
              </a:lnSpc>
              <a:spcBef>
                <a:spcPts val="0"/>
              </a:spcBef>
              <a:spcAft>
                <a:spcPts val="0"/>
              </a:spcAft>
              <a:defRPr sz="1700" b="0">
                <a:solidFill>
                  <a:srgbClr val="506776"/>
                </a:solidFill>
                <a:latin typeface="Be Vietnam Pro"/>
              </a:defRPr>
            </a:pPr>
            <a:r>
              <a:t>1,699 Wikidata + 28 DBpedia</a:t>
            </a:r>
          </a:p>
        </p:txBody>
      </p:sp>
      <p:sp>
        <p:nvSpPr>
          <p:cNvPr id="29" name="TextBox 28"/>
          <p:cNvSpPr txBox="1"/>
          <p:nvPr/>
        </p:nvSpPr>
        <p:spPr>
          <a:xfrm>
            <a:off x="777240" y="7242048"/>
            <a:ext cx="13075920" cy="411480"/>
          </a:xfrm>
          <a:prstGeom prst="rect">
            <a:avLst/>
          </a:prstGeom>
          <a:noFill/>
        </p:spPr>
        <p:txBody>
          <a:bodyPr wrap="none" lIns="0" rIns="0" tIns="0" bIns="0">
            <a:spAutoFit/>
          </a:bodyPr>
          <a:lstStyle/>
          <a:p>
            <a:pPr>
              <a:lnSpc>
                <a:spcPts val="1664"/>
              </a:lnSpc>
              <a:spcBef>
                <a:spcPts val="0"/>
              </a:spcBef>
              <a:spcAft>
                <a:spcPts val="0"/>
              </a:spcAft>
              <a:defRPr sz="1300" b="0">
                <a:solidFill>
                  <a:srgbClr val="506776"/>
                </a:solidFill>
                <a:latin typeface="Be Vietnam Pro"/>
              </a:defRPr>
            </a:pPr>
            <a:r>
              <a:t>Public graphs and local canonical exports are checked for semantic equality.</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3F6F7"/>
        </a:solidFill>
        <a:effectLst/>
      </p:bgPr>
    </p:bg>
    <p:spTree>
      <p:nvGrpSpPr>
        <p:cNvPr id="1" name=""/>
        <p:cNvGrpSpPr/>
        <p:nvPr/>
      </p:nvGrpSpPr>
      <p:grpSpPr/>
      <p:sp>
        <p:nvSpPr>
          <p:cNvPr id="2" name="Rectangle 1"/>
          <p:cNvSpPr/>
          <p:nvPr/>
        </p:nvSpPr>
        <p:spPr>
          <a:xfrm>
            <a:off x="0" y="0"/>
            <a:ext cx="118872" cy="8229600"/>
          </a:xfrm>
          <a:prstGeom prst="rect">
            <a:avLst/>
          </a:prstGeom>
          <a:solidFill>
            <a:srgbClr val="007F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1887200" cy="320040"/>
          </a:xfrm>
          <a:prstGeom prst="rect">
            <a:avLst/>
          </a:prstGeom>
          <a:noFill/>
        </p:spPr>
        <p:txBody>
          <a:bodyPr wrap="none" lIns="0" rIns="0" tIns="0" bIns="0">
            <a:spAutoFit/>
          </a:bodyPr>
          <a:lstStyle/>
          <a:p>
            <a:pPr>
              <a:lnSpc>
                <a:spcPts val="1536"/>
              </a:lnSpc>
              <a:spcBef>
                <a:spcPts val="0"/>
              </a:spcBef>
              <a:spcAft>
                <a:spcPts val="0"/>
              </a:spcAft>
              <a:defRPr sz="1200" b="1">
                <a:solidFill>
                  <a:srgbClr val="007F82"/>
                </a:solidFill>
                <a:latin typeface="Be Vietnam Pro"/>
              </a:defRPr>
            </a:pPr>
            <a:r>
              <a:t>MOVIELOD / SEMANTIC WEB / ONTOLOGY 3.0.0</a:t>
            </a:r>
          </a:p>
        </p:txBody>
      </p:sp>
      <p:sp>
        <p:nvSpPr>
          <p:cNvPr id="4" name="TextBox 3"/>
          <p:cNvSpPr txBox="1"/>
          <p:nvPr/>
        </p:nvSpPr>
        <p:spPr>
          <a:xfrm>
            <a:off x="594360" y="868680"/>
            <a:ext cx="13441680" cy="822960"/>
          </a:xfrm>
          <a:prstGeom prst="rect">
            <a:avLst/>
          </a:prstGeom>
          <a:noFill/>
        </p:spPr>
        <p:txBody>
          <a:bodyPr wrap="none" lIns="0" rIns="0" tIns="0" bIns="0">
            <a:spAutoFit/>
          </a:bodyPr>
          <a:lstStyle/>
          <a:p>
            <a:pPr>
              <a:lnSpc>
                <a:spcPts val="4352"/>
              </a:lnSpc>
              <a:spcBef>
                <a:spcPts val="0"/>
              </a:spcBef>
              <a:spcAft>
                <a:spcPts val="0"/>
              </a:spcAft>
              <a:defRPr sz="3400" b="1">
                <a:solidFill>
                  <a:srgbClr val="152B3A"/>
                </a:solidFill>
                <a:latin typeface="Be Vietnam Pro"/>
              </a:defRPr>
            </a:pPr>
            <a:r>
              <a:t>Verification of the final OWL</a:t>
            </a:r>
          </a:p>
        </p:txBody>
      </p:sp>
      <p:sp>
        <p:nvSpPr>
          <p:cNvPr id="5" name="TextBox 4"/>
          <p:cNvSpPr txBox="1"/>
          <p:nvPr/>
        </p:nvSpPr>
        <p:spPr>
          <a:xfrm>
            <a:off x="612648" y="1719072"/>
            <a:ext cx="13350240" cy="548640"/>
          </a:xfrm>
          <a:prstGeom prst="rect">
            <a:avLst/>
          </a:prstGeom>
          <a:noFill/>
        </p:spPr>
        <p:txBody>
          <a:bodyPr wrap="none" lIns="0" rIns="0" tIns="0" bIns="0">
            <a:spAutoFit/>
          </a:bodyPr>
          <a:lstStyle/>
          <a:p>
            <a:pPr>
              <a:lnSpc>
                <a:spcPts val="2176"/>
              </a:lnSpc>
              <a:spcBef>
                <a:spcPts val="0"/>
              </a:spcBef>
              <a:spcAft>
                <a:spcPts val="0"/>
              </a:spcAft>
              <a:defRPr sz="1700" b="0">
                <a:solidFill>
                  <a:srgbClr val="506776"/>
                </a:solidFill>
                <a:latin typeface="Be Vietnam Pro"/>
              </a:defRPr>
            </a:pPr>
            <a:r>
              <a:t>Direct HermiT run; evidence bound to the file hash</a:t>
            </a:r>
          </a:p>
        </p:txBody>
      </p:sp>
      <p:sp>
        <p:nvSpPr>
          <p:cNvPr id="6" name="Rectangle 5"/>
          <p:cNvSpPr/>
          <p:nvPr/>
        </p:nvSpPr>
        <p:spPr>
          <a:xfrm>
            <a:off x="594360" y="7708392"/>
            <a:ext cx="13441680" cy="9144"/>
          </a:xfrm>
          <a:prstGeom prst="rect">
            <a:avLst/>
          </a:prstGeom>
          <a:solidFill>
            <a:srgbClr val="DDE6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94360" y="7845552"/>
            <a:ext cx="11887200" cy="201168"/>
          </a:xfrm>
          <a:prstGeom prst="rect">
            <a:avLst/>
          </a:prstGeom>
          <a:noFill/>
        </p:spPr>
        <p:txBody>
          <a:bodyPr wrap="none" lIns="0" rIns="0" tIns="0" bIns="0">
            <a:spAutoFit/>
          </a:bodyPr>
          <a:lstStyle/>
          <a:p>
            <a:pPr>
              <a:lnSpc>
                <a:spcPts val="1280"/>
              </a:lnSpc>
              <a:spcBef>
                <a:spcPts val="0"/>
              </a:spcBef>
              <a:spcAft>
                <a:spcPts val="0"/>
              </a:spcAft>
              <a:defRPr sz="1000" b="0">
                <a:solidFill>
                  <a:srgbClr val="506776"/>
                </a:solidFill>
                <a:latin typeface="Be Vietnam Pro"/>
              </a:defRPr>
            </a:pPr>
            <a:r>
              <a:t>Data checked: 09 Oct 2026 • Sources: project code and evidence/</a:t>
            </a:r>
          </a:p>
        </p:txBody>
      </p:sp>
      <p:sp>
        <p:nvSpPr>
          <p:cNvPr id="8" name="TextBox 7"/>
          <p:cNvSpPr txBox="1"/>
          <p:nvPr/>
        </p:nvSpPr>
        <p:spPr>
          <a:xfrm>
            <a:off x="13258800" y="7818120"/>
            <a:ext cx="914400" cy="274320"/>
          </a:xfrm>
          <a:prstGeom prst="rect">
            <a:avLst/>
          </a:prstGeom>
          <a:noFill/>
        </p:spPr>
        <p:txBody>
          <a:bodyPr wrap="none" lIns="0" rIns="0" tIns="0" bIns="0">
            <a:spAutoFit/>
          </a:bodyPr>
          <a:lstStyle/>
          <a:p>
            <a:pPr>
              <a:lnSpc>
                <a:spcPts val="1536"/>
              </a:lnSpc>
              <a:spcBef>
                <a:spcPts val="0"/>
              </a:spcBef>
              <a:spcAft>
                <a:spcPts val="0"/>
              </a:spcAft>
              <a:defRPr sz="1200" b="1">
                <a:solidFill>
                  <a:srgbClr val="007F82"/>
                </a:solidFill>
                <a:latin typeface="Be Vietnam Pro"/>
              </a:defRPr>
            </a:pPr>
            <a:r>
              <a:t>12 / 13</a:t>
            </a:r>
          </a:p>
        </p:txBody>
      </p:sp>
      <p:sp>
        <p:nvSpPr>
          <p:cNvPr id="9" name="Rounded Rectangle 8"/>
          <p:cNvSpPr/>
          <p:nvPr/>
        </p:nvSpPr>
        <p:spPr>
          <a:xfrm>
            <a:off x="731520" y="2679192"/>
            <a:ext cx="5943600" cy="859536"/>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32688" y="2825496"/>
            <a:ext cx="1965960" cy="521207"/>
          </a:xfrm>
          <a:prstGeom prst="rect">
            <a:avLst/>
          </a:prstGeom>
          <a:noFill/>
        </p:spPr>
        <p:txBody>
          <a:bodyPr wrap="none" lIns="0" rIns="0" tIns="0" bIns="0">
            <a:spAutoFit/>
          </a:bodyPr>
          <a:lstStyle/>
          <a:p>
            <a:pPr>
              <a:lnSpc>
                <a:spcPts val="3200"/>
              </a:lnSpc>
              <a:spcBef>
                <a:spcPts val="0"/>
              </a:spcBef>
              <a:spcAft>
                <a:spcPts val="0"/>
              </a:spcAft>
              <a:defRPr sz="2500" b="1">
                <a:solidFill>
                  <a:srgbClr val="007F82"/>
                </a:solidFill>
                <a:latin typeface="Be Vietnam Pro"/>
              </a:defRPr>
            </a:pPr>
            <a:r>
              <a:t>PASS</a:t>
            </a:r>
          </a:p>
        </p:txBody>
      </p:sp>
      <p:sp>
        <p:nvSpPr>
          <p:cNvPr id="11" name="TextBox 10"/>
          <p:cNvSpPr txBox="1"/>
          <p:nvPr/>
        </p:nvSpPr>
        <p:spPr>
          <a:xfrm>
            <a:off x="3145536" y="2889504"/>
            <a:ext cx="3218688" cy="475488"/>
          </a:xfrm>
          <a:prstGeom prst="rect">
            <a:avLst/>
          </a:prstGeom>
          <a:noFill/>
        </p:spPr>
        <p:txBody>
          <a:bodyPr wrap="none" lIns="0" rIns="0" tIns="0" bIns="0">
            <a:spAutoFit/>
          </a:bodyPr>
          <a:lstStyle/>
          <a:p>
            <a:pPr>
              <a:lnSpc>
                <a:spcPts val="2176"/>
              </a:lnSpc>
              <a:spcBef>
                <a:spcPts val="0"/>
              </a:spcBef>
              <a:spcAft>
                <a:spcPts val="0"/>
              </a:spcAft>
              <a:defRPr sz="1700" b="0">
                <a:solidFill>
                  <a:srgbClr val="152B3A"/>
                </a:solidFill>
                <a:latin typeface="Be Vietnam Pro"/>
              </a:defRPr>
            </a:pPr>
            <a:r>
              <a:t>HermiT consistency</a:t>
            </a:r>
          </a:p>
        </p:txBody>
      </p:sp>
      <p:sp>
        <p:nvSpPr>
          <p:cNvPr id="12" name="Rounded Rectangle 11"/>
          <p:cNvSpPr/>
          <p:nvPr/>
        </p:nvSpPr>
        <p:spPr>
          <a:xfrm>
            <a:off x="731520" y="3730752"/>
            <a:ext cx="5943600" cy="859536"/>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32688" y="3877056"/>
            <a:ext cx="1965960" cy="521207"/>
          </a:xfrm>
          <a:prstGeom prst="rect">
            <a:avLst/>
          </a:prstGeom>
          <a:noFill/>
        </p:spPr>
        <p:txBody>
          <a:bodyPr wrap="none" lIns="0" rIns="0" tIns="0" bIns="0">
            <a:spAutoFit/>
          </a:bodyPr>
          <a:lstStyle/>
          <a:p>
            <a:pPr>
              <a:lnSpc>
                <a:spcPts val="3200"/>
              </a:lnSpc>
              <a:spcBef>
                <a:spcPts val="0"/>
              </a:spcBef>
              <a:spcAft>
                <a:spcPts val="0"/>
              </a:spcAft>
              <a:defRPr sz="2500" b="1">
                <a:solidFill>
                  <a:srgbClr val="007F82"/>
                </a:solidFill>
                <a:latin typeface="Be Vietnam Pro"/>
              </a:defRPr>
            </a:pPr>
            <a:r>
              <a:t>0</a:t>
            </a:r>
          </a:p>
        </p:txBody>
      </p:sp>
      <p:sp>
        <p:nvSpPr>
          <p:cNvPr id="14" name="TextBox 13"/>
          <p:cNvSpPr txBox="1"/>
          <p:nvPr/>
        </p:nvSpPr>
        <p:spPr>
          <a:xfrm>
            <a:off x="3145536" y="3941064"/>
            <a:ext cx="3218688" cy="475488"/>
          </a:xfrm>
          <a:prstGeom prst="rect">
            <a:avLst/>
          </a:prstGeom>
          <a:noFill/>
        </p:spPr>
        <p:txBody>
          <a:bodyPr wrap="none" lIns="0" rIns="0" tIns="0" bIns="0">
            <a:spAutoFit/>
          </a:bodyPr>
          <a:lstStyle/>
          <a:p>
            <a:pPr>
              <a:lnSpc>
                <a:spcPts val="2176"/>
              </a:lnSpc>
              <a:spcBef>
                <a:spcPts val="0"/>
              </a:spcBef>
              <a:spcAft>
                <a:spcPts val="0"/>
              </a:spcAft>
              <a:defRPr sz="1700" b="0">
                <a:solidFill>
                  <a:srgbClr val="152B3A"/>
                </a:solidFill>
                <a:latin typeface="Be Vietnam Pro"/>
              </a:defRPr>
            </a:pPr>
            <a:r>
              <a:t>unsatisfiable named classes</a:t>
            </a:r>
          </a:p>
        </p:txBody>
      </p:sp>
      <p:sp>
        <p:nvSpPr>
          <p:cNvPr id="15" name="Rounded Rectangle 14"/>
          <p:cNvSpPr/>
          <p:nvPr/>
        </p:nvSpPr>
        <p:spPr>
          <a:xfrm>
            <a:off x="731520" y="4782312"/>
            <a:ext cx="5943600" cy="859536"/>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32688" y="4928616"/>
            <a:ext cx="1965960" cy="521207"/>
          </a:xfrm>
          <a:prstGeom prst="rect">
            <a:avLst/>
          </a:prstGeom>
          <a:noFill/>
        </p:spPr>
        <p:txBody>
          <a:bodyPr wrap="none" lIns="0" rIns="0" tIns="0" bIns="0">
            <a:spAutoFit/>
          </a:bodyPr>
          <a:lstStyle/>
          <a:p>
            <a:pPr>
              <a:lnSpc>
                <a:spcPts val="3200"/>
              </a:lnSpc>
              <a:spcBef>
                <a:spcPts val="0"/>
              </a:spcBef>
              <a:spcAft>
                <a:spcPts val="0"/>
              </a:spcAft>
              <a:defRPr sz="2500" b="1">
                <a:solidFill>
                  <a:srgbClr val="007F82"/>
                </a:solidFill>
                <a:latin typeface="Be Vietnam Pro"/>
              </a:defRPr>
            </a:pPr>
            <a:r>
              <a:t>27</a:t>
            </a:r>
          </a:p>
        </p:txBody>
      </p:sp>
      <p:sp>
        <p:nvSpPr>
          <p:cNvPr id="17" name="TextBox 16"/>
          <p:cNvSpPr txBox="1"/>
          <p:nvPr/>
        </p:nvSpPr>
        <p:spPr>
          <a:xfrm>
            <a:off x="3145536" y="4992624"/>
            <a:ext cx="3218688" cy="475488"/>
          </a:xfrm>
          <a:prstGeom prst="rect">
            <a:avLst/>
          </a:prstGeom>
          <a:noFill/>
        </p:spPr>
        <p:txBody>
          <a:bodyPr wrap="none" lIns="0" rIns="0" tIns="0" bIns="0">
            <a:spAutoFit/>
          </a:bodyPr>
          <a:lstStyle/>
          <a:p>
            <a:pPr>
              <a:lnSpc>
                <a:spcPts val="2176"/>
              </a:lnSpc>
              <a:spcBef>
                <a:spcPts val="0"/>
              </a:spcBef>
              <a:spcAft>
                <a:spcPts val="0"/>
              </a:spcAft>
              <a:defRPr sz="1700" b="0">
                <a:solidFill>
                  <a:srgbClr val="152B3A"/>
                </a:solidFill>
                <a:latin typeface="Be Vietnam Pro"/>
              </a:defRPr>
            </a:pPr>
            <a:r>
              <a:t>design queries executed</a:t>
            </a:r>
          </a:p>
        </p:txBody>
      </p:sp>
      <p:sp>
        <p:nvSpPr>
          <p:cNvPr id="18" name="Rounded Rectangle 17"/>
          <p:cNvSpPr/>
          <p:nvPr/>
        </p:nvSpPr>
        <p:spPr>
          <a:xfrm>
            <a:off x="731520" y="5833872"/>
            <a:ext cx="5943600" cy="859536"/>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32688" y="5980176"/>
            <a:ext cx="1965960" cy="521207"/>
          </a:xfrm>
          <a:prstGeom prst="rect">
            <a:avLst/>
          </a:prstGeom>
          <a:noFill/>
        </p:spPr>
        <p:txBody>
          <a:bodyPr wrap="none" lIns="0" rIns="0" tIns="0" bIns="0">
            <a:spAutoFit/>
          </a:bodyPr>
          <a:lstStyle/>
          <a:p>
            <a:pPr>
              <a:lnSpc>
                <a:spcPts val="3200"/>
              </a:lnSpc>
              <a:spcBef>
                <a:spcPts val="0"/>
              </a:spcBef>
              <a:spcAft>
                <a:spcPts val="0"/>
              </a:spcAft>
              <a:defRPr sz="2500" b="1">
                <a:solidFill>
                  <a:srgbClr val="007F82"/>
                </a:solidFill>
                <a:latin typeface="Be Vietnam Pro"/>
              </a:defRPr>
            </a:pPr>
            <a:r>
              <a:t>965</a:t>
            </a:r>
          </a:p>
        </p:txBody>
      </p:sp>
      <p:sp>
        <p:nvSpPr>
          <p:cNvPr id="20" name="TextBox 19"/>
          <p:cNvSpPr txBox="1"/>
          <p:nvPr/>
        </p:nvSpPr>
        <p:spPr>
          <a:xfrm>
            <a:off x="3145536" y="6044184"/>
            <a:ext cx="3218688" cy="475488"/>
          </a:xfrm>
          <a:prstGeom prst="rect">
            <a:avLst/>
          </a:prstGeom>
          <a:noFill/>
        </p:spPr>
        <p:txBody>
          <a:bodyPr wrap="none" lIns="0" rIns="0" tIns="0" bIns="0">
            <a:spAutoFit/>
          </a:bodyPr>
          <a:lstStyle/>
          <a:p>
            <a:pPr>
              <a:lnSpc>
                <a:spcPts val="2176"/>
              </a:lnSpc>
              <a:spcBef>
                <a:spcPts val="0"/>
              </a:spcBef>
              <a:spcAft>
                <a:spcPts val="0"/>
              </a:spcAft>
              <a:defRPr sz="1700" b="0">
                <a:solidFill>
                  <a:srgbClr val="152B3A"/>
                </a:solidFill>
                <a:latin typeface="Be Vietnam Pro"/>
              </a:defRPr>
            </a:pPr>
            <a:r>
              <a:t>chain pairs verified</a:t>
            </a:r>
          </a:p>
        </p:txBody>
      </p:sp>
      <p:pic>
        <p:nvPicPr>
          <p:cNvPr id="21" name="Picture 20" descr="verification.png"/>
          <p:cNvPicPr>
            <a:picLocks noChangeAspect="1"/>
          </p:cNvPicPr>
          <p:nvPr/>
        </p:nvPicPr>
        <p:blipFill>
          <a:blip r:embed="rId2"/>
          <a:stretch>
            <a:fillRect/>
          </a:stretch>
        </p:blipFill>
        <p:spPr>
          <a:xfrm>
            <a:off x="7077456" y="2912364"/>
            <a:ext cx="6903720" cy="3886200"/>
          </a:xfrm>
          <a:prstGeom prst="rect">
            <a:avLst/>
          </a:prstGeom>
        </p:spPr>
      </p:pic>
      <p:sp>
        <p:nvSpPr>
          <p:cNvPr id="22" name="TextBox 21"/>
          <p:cNvSpPr txBox="1"/>
          <p:nvPr/>
        </p:nvSpPr>
        <p:spPr>
          <a:xfrm>
            <a:off x="777240" y="7242048"/>
            <a:ext cx="13075920" cy="411480"/>
          </a:xfrm>
          <a:prstGeom prst="rect">
            <a:avLst/>
          </a:prstGeom>
          <a:noFill/>
        </p:spPr>
        <p:txBody>
          <a:bodyPr wrap="none" lIns="0" rIns="0" tIns="0" bIns="0">
            <a:spAutoFit/>
          </a:bodyPr>
          <a:lstStyle/>
          <a:p>
            <a:pPr>
              <a:lnSpc>
                <a:spcPts val="1664"/>
              </a:lnSpc>
              <a:spcBef>
                <a:spcPts val="0"/>
              </a:spcBef>
              <a:spcAft>
                <a:spcPts val="0"/>
              </a:spcAft>
              <a:defRPr sz="1300" b="0">
                <a:solidFill>
                  <a:srgbClr val="506776"/>
                </a:solidFill>
                <a:latin typeface="Be Vietnam Pro"/>
              </a:defRPr>
            </a:pPr>
            <a:r>
              <a:t>Canonical OWL verified by HermiT; browser queries use matching source, reasoned and named graphs.</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3F6F7"/>
        </a:solidFill>
        <a:effectLst/>
      </p:bgPr>
    </p:bg>
    <p:spTree>
      <p:nvGrpSpPr>
        <p:cNvPr id="1" name=""/>
        <p:cNvGrpSpPr/>
        <p:nvPr/>
      </p:nvGrpSpPr>
      <p:grpSpPr/>
      <p:sp>
        <p:nvSpPr>
          <p:cNvPr id="2" name="Rectangle 1"/>
          <p:cNvSpPr/>
          <p:nvPr/>
        </p:nvSpPr>
        <p:spPr>
          <a:xfrm>
            <a:off x="0" y="0"/>
            <a:ext cx="118872" cy="8229600"/>
          </a:xfrm>
          <a:prstGeom prst="rect">
            <a:avLst/>
          </a:prstGeom>
          <a:solidFill>
            <a:srgbClr val="007F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1887200" cy="320040"/>
          </a:xfrm>
          <a:prstGeom prst="rect">
            <a:avLst/>
          </a:prstGeom>
          <a:noFill/>
        </p:spPr>
        <p:txBody>
          <a:bodyPr wrap="none" lIns="0" rIns="0" tIns="0" bIns="0">
            <a:spAutoFit/>
          </a:bodyPr>
          <a:lstStyle/>
          <a:p>
            <a:pPr>
              <a:lnSpc>
                <a:spcPts val="1536"/>
              </a:lnSpc>
              <a:spcBef>
                <a:spcPts val="0"/>
              </a:spcBef>
              <a:spcAft>
                <a:spcPts val="0"/>
              </a:spcAft>
              <a:defRPr sz="1200" b="1">
                <a:solidFill>
                  <a:srgbClr val="007F82"/>
                </a:solidFill>
                <a:latin typeface="Be Vietnam Pro"/>
              </a:defRPr>
            </a:pPr>
            <a:r>
              <a:t>MOVIELOD / SEMANTIC WEB / ONTOLOGY 3.0.0</a:t>
            </a:r>
          </a:p>
        </p:txBody>
      </p:sp>
      <p:sp>
        <p:nvSpPr>
          <p:cNvPr id="4" name="TextBox 3"/>
          <p:cNvSpPr txBox="1"/>
          <p:nvPr/>
        </p:nvSpPr>
        <p:spPr>
          <a:xfrm>
            <a:off x="594360" y="868680"/>
            <a:ext cx="13441680" cy="822960"/>
          </a:xfrm>
          <a:prstGeom prst="rect">
            <a:avLst/>
          </a:prstGeom>
          <a:noFill/>
        </p:spPr>
        <p:txBody>
          <a:bodyPr wrap="none" lIns="0" rIns="0" tIns="0" bIns="0">
            <a:spAutoFit/>
          </a:bodyPr>
          <a:lstStyle/>
          <a:p>
            <a:pPr>
              <a:lnSpc>
                <a:spcPts val="4352"/>
              </a:lnSpc>
              <a:spcBef>
                <a:spcPts val="0"/>
              </a:spcBef>
              <a:spcAft>
                <a:spcPts val="0"/>
              </a:spcAft>
              <a:defRPr sz="3400" b="1">
                <a:solidFill>
                  <a:srgbClr val="152B3A"/>
                </a:solidFill>
                <a:latin typeface="Be Vietnam Pro"/>
              </a:defRPr>
            </a:pPr>
            <a:r>
              <a:t>Evidence capture and submission checklist</a:t>
            </a:r>
          </a:p>
        </p:txBody>
      </p:sp>
      <p:sp>
        <p:nvSpPr>
          <p:cNvPr id="5" name="TextBox 4"/>
          <p:cNvSpPr txBox="1"/>
          <p:nvPr/>
        </p:nvSpPr>
        <p:spPr>
          <a:xfrm>
            <a:off x="612648" y="1719072"/>
            <a:ext cx="13350240" cy="548640"/>
          </a:xfrm>
          <a:prstGeom prst="rect">
            <a:avLst/>
          </a:prstGeom>
          <a:noFill/>
        </p:spPr>
        <p:txBody>
          <a:bodyPr wrap="none" lIns="0" rIns="0" tIns="0" bIns="0">
            <a:spAutoFit/>
          </a:bodyPr>
          <a:lstStyle/>
          <a:p>
            <a:pPr>
              <a:lnSpc>
                <a:spcPts val="2176"/>
              </a:lnSpc>
              <a:spcBef>
                <a:spcPts val="0"/>
              </a:spcBef>
              <a:spcAft>
                <a:spcPts val="0"/>
              </a:spcAft>
              <a:defRPr sz="1700" b="0">
                <a:solidFill>
                  <a:srgbClr val="506776"/>
                </a:solidFill>
                <a:latin typeface="Be Vietnam Pro"/>
              </a:defRPr>
            </a:pPr>
            <a:r>
              <a:t>Report: 15 pages · main deck: 24 slides · no MP4 included</a:t>
            </a:r>
          </a:p>
        </p:txBody>
      </p:sp>
      <p:sp>
        <p:nvSpPr>
          <p:cNvPr id="6" name="Rectangle 5"/>
          <p:cNvSpPr/>
          <p:nvPr/>
        </p:nvSpPr>
        <p:spPr>
          <a:xfrm>
            <a:off x="594360" y="7708392"/>
            <a:ext cx="13441680" cy="9144"/>
          </a:xfrm>
          <a:prstGeom prst="rect">
            <a:avLst/>
          </a:prstGeom>
          <a:solidFill>
            <a:srgbClr val="DDE6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94360" y="7845552"/>
            <a:ext cx="11887200" cy="201168"/>
          </a:xfrm>
          <a:prstGeom prst="rect">
            <a:avLst/>
          </a:prstGeom>
          <a:noFill/>
        </p:spPr>
        <p:txBody>
          <a:bodyPr wrap="none" lIns="0" rIns="0" tIns="0" bIns="0">
            <a:spAutoFit/>
          </a:bodyPr>
          <a:lstStyle/>
          <a:p>
            <a:pPr>
              <a:lnSpc>
                <a:spcPts val="1280"/>
              </a:lnSpc>
              <a:spcBef>
                <a:spcPts val="0"/>
              </a:spcBef>
              <a:spcAft>
                <a:spcPts val="0"/>
              </a:spcAft>
              <a:defRPr sz="1000" b="0">
                <a:solidFill>
                  <a:srgbClr val="506776"/>
                </a:solidFill>
                <a:latin typeface="Be Vietnam Pro"/>
              </a:defRPr>
            </a:pPr>
            <a:r>
              <a:t>Data checked: 09 Oct 2026 • Sources: project code and evidence/</a:t>
            </a:r>
          </a:p>
        </p:txBody>
      </p:sp>
      <p:sp>
        <p:nvSpPr>
          <p:cNvPr id="8" name="TextBox 7"/>
          <p:cNvSpPr txBox="1"/>
          <p:nvPr/>
        </p:nvSpPr>
        <p:spPr>
          <a:xfrm>
            <a:off x="13258800" y="7818120"/>
            <a:ext cx="914400" cy="274320"/>
          </a:xfrm>
          <a:prstGeom prst="rect">
            <a:avLst/>
          </a:prstGeom>
          <a:noFill/>
        </p:spPr>
        <p:txBody>
          <a:bodyPr wrap="none" lIns="0" rIns="0" tIns="0" bIns="0">
            <a:spAutoFit/>
          </a:bodyPr>
          <a:lstStyle/>
          <a:p>
            <a:pPr>
              <a:lnSpc>
                <a:spcPts val="1536"/>
              </a:lnSpc>
              <a:spcBef>
                <a:spcPts val="0"/>
              </a:spcBef>
              <a:spcAft>
                <a:spcPts val="0"/>
              </a:spcAft>
              <a:defRPr sz="1200" b="1">
                <a:solidFill>
                  <a:srgbClr val="007F82"/>
                </a:solidFill>
                <a:latin typeface="Be Vietnam Pro"/>
              </a:defRPr>
            </a:pPr>
            <a:r>
              <a:t>13 / 13</a:t>
            </a:r>
          </a:p>
        </p:txBody>
      </p:sp>
      <p:sp>
        <p:nvSpPr>
          <p:cNvPr id="9" name="Rectangle 8"/>
          <p:cNvSpPr/>
          <p:nvPr/>
        </p:nvSpPr>
        <p:spPr>
          <a:xfrm>
            <a:off x="731520" y="2615184"/>
            <a:ext cx="7909560" cy="393192"/>
          </a:xfrm>
          <a:prstGeom prst="rect">
            <a:avLst/>
          </a:prstGeom>
          <a:solidFill>
            <a:srgbClr val="007F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41248" y="2688336"/>
            <a:ext cx="786384" cy="301752"/>
          </a:xfrm>
          <a:prstGeom prst="rect">
            <a:avLst/>
          </a:prstGeom>
          <a:noFill/>
        </p:spPr>
        <p:txBody>
          <a:bodyPr wrap="none" lIns="0" rIns="0" tIns="0" bIns="0">
            <a:spAutoFit/>
          </a:bodyPr>
          <a:lstStyle/>
          <a:p>
            <a:pPr>
              <a:lnSpc>
                <a:spcPts val="1920"/>
              </a:lnSpc>
              <a:spcBef>
                <a:spcPts val="0"/>
              </a:spcBef>
              <a:spcAft>
                <a:spcPts val="0"/>
              </a:spcAft>
              <a:defRPr sz="1500" b="1">
                <a:solidFill>
                  <a:srgbClr val="FFFFFF"/>
                </a:solidFill>
                <a:latin typeface="Be Vietnam Pro"/>
              </a:defRPr>
            </a:pPr>
            <a:r>
              <a:t>Image</a:t>
            </a:r>
          </a:p>
        </p:txBody>
      </p:sp>
      <p:sp>
        <p:nvSpPr>
          <p:cNvPr id="11" name="TextBox 10"/>
          <p:cNvSpPr txBox="1"/>
          <p:nvPr/>
        </p:nvSpPr>
        <p:spPr>
          <a:xfrm>
            <a:off x="1847088" y="2688336"/>
            <a:ext cx="786384" cy="301752"/>
          </a:xfrm>
          <a:prstGeom prst="rect">
            <a:avLst/>
          </a:prstGeom>
          <a:noFill/>
        </p:spPr>
        <p:txBody>
          <a:bodyPr wrap="none" lIns="0" rIns="0" tIns="0" bIns="0">
            <a:spAutoFit/>
          </a:bodyPr>
          <a:lstStyle/>
          <a:p>
            <a:pPr>
              <a:lnSpc>
                <a:spcPts val="1920"/>
              </a:lnSpc>
              <a:spcBef>
                <a:spcPts val="0"/>
              </a:spcBef>
              <a:spcAft>
                <a:spcPts val="0"/>
              </a:spcAft>
              <a:defRPr sz="1500" b="1">
                <a:solidFill>
                  <a:srgbClr val="FFFFFF"/>
                </a:solidFill>
                <a:latin typeface="Be Vietnam Pro"/>
              </a:defRPr>
            </a:pPr>
            <a:r>
              <a:t>Slide</a:t>
            </a:r>
          </a:p>
        </p:txBody>
      </p:sp>
      <p:sp>
        <p:nvSpPr>
          <p:cNvPr id="12" name="TextBox 11"/>
          <p:cNvSpPr txBox="1"/>
          <p:nvPr/>
        </p:nvSpPr>
        <p:spPr>
          <a:xfrm>
            <a:off x="2852928" y="2688336"/>
            <a:ext cx="5678424" cy="301752"/>
          </a:xfrm>
          <a:prstGeom prst="rect">
            <a:avLst/>
          </a:prstGeom>
          <a:noFill/>
        </p:spPr>
        <p:txBody>
          <a:bodyPr wrap="none" lIns="0" rIns="0" tIns="0" bIns="0">
            <a:spAutoFit/>
          </a:bodyPr>
          <a:lstStyle/>
          <a:p>
            <a:pPr>
              <a:lnSpc>
                <a:spcPts val="1920"/>
              </a:lnSpc>
              <a:spcBef>
                <a:spcPts val="0"/>
              </a:spcBef>
              <a:spcAft>
                <a:spcPts val="0"/>
              </a:spcAft>
              <a:defRPr sz="1500" b="1">
                <a:solidFill>
                  <a:srgbClr val="FFFFFF"/>
                </a:solidFill>
                <a:latin typeface="Be Vietnam Pro"/>
              </a:defRPr>
            </a:pPr>
            <a:r>
              <a:t>Evidence to capture</a:t>
            </a:r>
          </a:p>
        </p:txBody>
      </p:sp>
      <p:sp>
        <p:nvSpPr>
          <p:cNvPr id="13" name="Rectangle 12"/>
          <p:cNvSpPr/>
          <p:nvPr/>
        </p:nvSpPr>
        <p:spPr>
          <a:xfrm>
            <a:off x="731520" y="3008376"/>
            <a:ext cx="7909560" cy="36271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41248" y="3067812"/>
            <a:ext cx="786384" cy="243840"/>
          </a:xfrm>
          <a:prstGeom prst="rect">
            <a:avLst/>
          </a:prstGeom>
          <a:noFill/>
        </p:spPr>
        <p:txBody>
          <a:bodyPr wrap="none" lIns="0" rIns="0" tIns="0" bIns="0">
            <a:spAutoFit/>
          </a:bodyPr>
          <a:lstStyle/>
          <a:p>
            <a:pPr>
              <a:lnSpc>
                <a:spcPts val="1920"/>
              </a:lnSpc>
              <a:spcBef>
                <a:spcPts val="0"/>
              </a:spcBef>
              <a:spcAft>
                <a:spcPts val="0"/>
              </a:spcAft>
              <a:defRPr sz="1500" b="0">
                <a:solidFill>
                  <a:srgbClr val="152B3A"/>
                </a:solidFill>
                <a:latin typeface="Be Vietnam Pro"/>
              </a:defRPr>
            </a:pPr>
            <a:r>
              <a:t>P00</a:t>
            </a:r>
          </a:p>
        </p:txBody>
      </p:sp>
      <p:sp>
        <p:nvSpPr>
          <p:cNvPr id="15" name="TextBox 14"/>
          <p:cNvSpPr txBox="1"/>
          <p:nvPr/>
        </p:nvSpPr>
        <p:spPr>
          <a:xfrm>
            <a:off x="1847088" y="3067812"/>
            <a:ext cx="786384" cy="243840"/>
          </a:xfrm>
          <a:prstGeom prst="rect">
            <a:avLst/>
          </a:prstGeom>
          <a:noFill/>
        </p:spPr>
        <p:txBody>
          <a:bodyPr wrap="none" lIns="0" rIns="0" tIns="0" bIns="0">
            <a:spAutoFit/>
          </a:bodyPr>
          <a:lstStyle/>
          <a:p>
            <a:pPr>
              <a:lnSpc>
                <a:spcPts val="1920"/>
              </a:lnSpc>
              <a:spcBef>
                <a:spcPts val="0"/>
              </a:spcBef>
              <a:spcAft>
                <a:spcPts val="0"/>
              </a:spcAft>
              <a:defRPr sz="1500" b="0">
                <a:solidFill>
                  <a:srgbClr val="152B3A"/>
                </a:solidFill>
                <a:latin typeface="Be Vietnam Pro"/>
              </a:defRPr>
            </a:pPr>
            <a:r>
              <a:t>5</a:t>
            </a:r>
          </a:p>
        </p:txBody>
      </p:sp>
      <p:sp>
        <p:nvSpPr>
          <p:cNvPr id="16" name="TextBox 15"/>
          <p:cNvSpPr txBox="1"/>
          <p:nvPr/>
        </p:nvSpPr>
        <p:spPr>
          <a:xfrm>
            <a:off x="2852928" y="3067812"/>
            <a:ext cx="5678424" cy="243840"/>
          </a:xfrm>
          <a:prstGeom prst="rect">
            <a:avLst/>
          </a:prstGeom>
          <a:noFill/>
        </p:spPr>
        <p:txBody>
          <a:bodyPr wrap="none" lIns="0" rIns="0" tIns="0" bIns="0">
            <a:spAutoFit/>
          </a:bodyPr>
          <a:lstStyle/>
          <a:p>
            <a:pPr>
              <a:lnSpc>
                <a:spcPts val="1920"/>
              </a:lnSpc>
              <a:spcBef>
                <a:spcPts val="0"/>
              </a:spcBef>
              <a:spcAft>
                <a:spcPts val="0"/>
              </a:spcAft>
              <a:defRPr sz="1500" b="0">
                <a:solidFill>
                  <a:srgbClr val="152B3A"/>
                </a:solidFill>
                <a:latin typeface="Be Vietnam Pro"/>
              </a:defRPr>
            </a:pPr>
            <a:r>
              <a:t>Ontology 3.0.0 header</a:t>
            </a:r>
          </a:p>
        </p:txBody>
      </p:sp>
      <p:sp>
        <p:nvSpPr>
          <p:cNvPr id="17" name="Rectangle 16"/>
          <p:cNvSpPr/>
          <p:nvPr/>
        </p:nvSpPr>
        <p:spPr>
          <a:xfrm>
            <a:off x="731520" y="3371088"/>
            <a:ext cx="7909560" cy="362712"/>
          </a:xfrm>
          <a:prstGeom prst="rect">
            <a:avLst/>
          </a:prstGeom>
          <a:solidFill>
            <a:srgbClr val="E7EF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41248" y="3430524"/>
            <a:ext cx="786384" cy="243840"/>
          </a:xfrm>
          <a:prstGeom prst="rect">
            <a:avLst/>
          </a:prstGeom>
          <a:noFill/>
        </p:spPr>
        <p:txBody>
          <a:bodyPr wrap="none" lIns="0" rIns="0" tIns="0" bIns="0">
            <a:spAutoFit/>
          </a:bodyPr>
          <a:lstStyle/>
          <a:p>
            <a:pPr>
              <a:lnSpc>
                <a:spcPts val="1920"/>
              </a:lnSpc>
              <a:spcBef>
                <a:spcPts val="0"/>
              </a:spcBef>
              <a:spcAft>
                <a:spcPts val="0"/>
              </a:spcAft>
              <a:defRPr sz="1500" b="0">
                <a:solidFill>
                  <a:srgbClr val="152B3A"/>
                </a:solidFill>
                <a:latin typeface="Be Vietnam Pro"/>
              </a:defRPr>
            </a:pPr>
            <a:r>
              <a:t>P04</a:t>
            </a:r>
          </a:p>
        </p:txBody>
      </p:sp>
      <p:sp>
        <p:nvSpPr>
          <p:cNvPr id="19" name="TextBox 18"/>
          <p:cNvSpPr txBox="1"/>
          <p:nvPr/>
        </p:nvSpPr>
        <p:spPr>
          <a:xfrm>
            <a:off x="1847088" y="3430524"/>
            <a:ext cx="786384" cy="243840"/>
          </a:xfrm>
          <a:prstGeom prst="rect">
            <a:avLst/>
          </a:prstGeom>
          <a:noFill/>
        </p:spPr>
        <p:txBody>
          <a:bodyPr wrap="none" lIns="0" rIns="0" tIns="0" bIns="0">
            <a:spAutoFit/>
          </a:bodyPr>
          <a:lstStyle/>
          <a:p>
            <a:pPr>
              <a:lnSpc>
                <a:spcPts val="1920"/>
              </a:lnSpc>
              <a:spcBef>
                <a:spcPts val="0"/>
              </a:spcBef>
              <a:spcAft>
                <a:spcPts val="0"/>
              </a:spcAft>
              <a:defRPr sz="1500" b="0">
                <a:solidFill>
                  <a:srgbClr val="152B3A"/>
                </a:solidFill>
                <a:latin typeface="Be Vietnam Pro"/>
              </a:defRPr>
            </a:pPr>
            <a:r>
              <a:t>6</a:t>
            </a:r>
          </a:p>
        </p:txBody>
      </p:sp>
      <p:sp>
        <p:nvSpPr>
          <p:cNvPr id="20" name="TextBox 19"/>
          <p:cNvSpPr txBox="1"/>
          <p:nvPr/>
        </p:nvSpPr>
        <p:spPr>
          <a:xfrm>
            <a:off x="2852928" y="3430524"/>
            <a:ext cx="5678424" cy="243840"/>
          </a:xfrm>
          <a:prstGeom prst="rect">
            <a:avLst/>
          </a:prstGeom>
          <a:noFill/>
        </p:spPr>
        <p:txBody>
          <a:bodyPr wrap="none" lIns="0" rIns="0" tIns="0" bIns="0">
            <a:spAutoFit/>
          </a:bodyPr>
          <a:lstStyle/>
          <a:p>
            <a:pPr>
              <a:lnSpc>
                <a:spcPts val="1920"/>
              </a:lnSpc>
              <a:spcBef>
                <a:spcPts val="0"/>
              </a:spcBef>
              <a:spcAft>
                <a:spcPts val="0"/>
              </a:spcAft>
              <a:defRPr sz="1500" b="0">
                <a:solidFill>
                  <a:srgbClr val="152B3A"/>
                </a:solidFill>
                <a:latin typeface="Be Vietnam Pro"/>
              </a:defRPr>
            </a:pPr>
            <a:r>
              <a:t>Contribution restrictions</a:t>
            </a:r>
          </a:p>
        </p:txBody>
      </p:sp>
      <p:sp>
        <p:nvSpPr>
          <p:cNvPr id="21" name="Rectangle 20"/>
          <p:cNvSpPr/>
          <p:nvPr/>
        </p:nvSpPr>
        <p:spPr>
          <a:xfrm>
            <a:off x="731520" y="3733799"/>
            <a:ext cx="7909560" cy="36271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41248" y="3793236"/>
            <a:ext cx="786384" cy="243840"/>
          </a:xfrm>
          <a:prstGeom prst="rect">
            <a:avLst/>
          </a:prstGeom>
          <a:noFill/>
        </p:spPr>
        <p:txBody>
          <a:bodyPr wrap="none" lIns="0" rIns="0" tIns="0" bIns="0">
            <a:spAutoFit/>
          </a:bodyPr>
          <a:lstStyle/>
          <a:p>
            <a:pPr>
              <a:lnSpc>
                <a:spcPts val="1920"/>
              </a:lnSpc>
              <a:spcBef>
                <a:spcPts val="0"/>
              </a:spcBef>
              <a:spcAft>
                <a:spcPts val="0"/>
              </a:spcAft>
              <a:defRPr sz="1500" b="0">
                <a:solidFill>
                  <a:srgbClr val="152B3A"/>
                </a:solidFill>
                <a:latin typeface="Be Vietnam Pro"/>
              </a:defRPr>
            </a:pPr>
            <a:r>
              <a:t>P05</a:t>
            </a:r>
          </a:p>
        </p:txBody>
      </p:sp>
      <p:sp>
        <p:nvSpPr>
          <p:cNvPr id="23" name="TextBox 22"/>
          <p:cNvSpPr txBox="1"/>
          <p:nvPr/>
        </p:nvSpPr>
        <p:spPr>
          <a:xfrm>
            <a:off x="1847088" y="3793236"/>
            <a:ext cx="786384" cy="243840"/>
          </a:xfrm>
          <a:prstGeom prst="rect">
            <a:avLst/>
          </a:prstGeom>
          <a:noFill/>
        </p:spPr>
        <p:txBody>
          <a:bodyPr wrap="none" lIns="0" rIns="0" tIns="0" bIns="0">
            <a:spAutoFit/>
          </a:bodyPr>
          <a:lstStyle/>
          <a:p>
            <a:pPr>
              <a:lnSpc>
                <a:spcPts val="1920"/>
              </a:lnSpc>
              <a:spcBef>
                <a:spcPts val="0"/>
              </a:spcBef>
              <a:spcAft>
                <a:spcPts val="0"/>
              </a:spcAft>
              <a:defRPr sz="1500" b="0">
                <a:solidFill>
                  <a:srgbClr val="152B3A"/>
                </a:solidFill>
                <a:latin typeface="Be Vietnam Pro"/>
              </a:defRPr>
            </a:pPr>
            <a:r>
              <a:t>7</a:t>
            </a:r>
          </a:p>
        </p:txBody>
      </p:sp>
      <p:sp>
        <p:nvSpPr>
          <p:cNvPr id="24" name="TextBox 23"/>
          <p:cNvSpPr txBox="1"/>
          <p:nvPr/>
        </p:nvSpPr>
        <p:spPr>
          <a:xfrm>
            <a:off x="2852928" y="3793236"/>
            <a:ext cx="5678424" cy="243840"/>
          </a:xfrm>
          <a:prstGeom prst="rect">
            <a:avLst/>
          </a:prstGeom>
          <a:noFill/>
        </p:spPr>
        <p:txBody>
          <a:bodyPr wrap="none" lIns="0" rIns="0" tIns="0" bIns="0">
            <a:spAutoFit/>
          </a:bodyPr>
          <a:lstStyle/>
          <a:p>
            <a:pPr>
              <a:lnSpc>
                <a:spcPts val="1920"/>
              </a:lnSpc>
              <a:spcBef>
                <a:spcPts val="0"/>
              </a:spcBef>
              <a:spcAft>
                <a:spcPts val="0"/>
              </a:spcAft>
              <a:defRPr sz="1500" b="0">
                <a:solidFill>
                  <a:srgbClr val="152B3A"/>
                </a:solidFill>
                <a:latin typeface="Be Vietnam Pro"/>
              </a:defRPr>
            </a:pPr>
            <a:r>
              <a:t>Inverse and functional properties</a:t>
            </a:r>
          </a:p>
        </p:txBody>
      </p:sp>
      <p:sp>
        <p:nvSpPr>
          <p:cNvPr id="25" name="Rectangle 24"/>
          <p:cNvSpPr/>
          <p:nvPr/>
        </p:nvSpPr>
        <p:spPr>
          <a:xfrm>
            <a:off x="731520" y="4096511"/>
            <a:ext cx="7909560" cy="362712"/>
          </a:xfrm>
          <a:prstGeom prst="rect">
            <a:avLst/>
          </a:prstGeom>
          <a:solidFill>
            <a:srgbClr val="E7EF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41248" y="4155948"/>
            <a:ext cx="786384" cy="243840"/>
          </a:xfrm>
          <a:prstGeom prst="rect">
            <a:avLst/>
          </a:prstGeom>
          <a:noFill/>
        </p:spPr>
        <p:txBody>
          <a:bodyPr wrap="none" lIns="0" rIns="0" tIns="0" bIns="0">
            <a:spAutoFit/>
          </a:bodyPr>
          <a:lstStyle/>
          <a:p>
            <a:pPr>
              <a:lnSpc>
                <a:spcPts val="1920"/>
              </a:lnSpc>
              <a:spcBef>
                <a:spcPts val="0"/>
              </a:spcBef>
              <a:spcAft>
                <a:spcPts val="0"/>
              </a:spcAft>
              <a:defRPr sz="1500" b="0">
                <a:solidFill>
                  <a:srgbClr val="152B3A"/>
                </a:solidFill>
                <a:latin typeface="Be Vietnam Pro"/>
              </a:defRPr>
            </a:pPr>
            <a:r>
              <a:t>P06</a:t>
            </a:r>
          </a:p>
        </p:txBody>
      </p:sp>
      <p:sp>
        <p:nvSpPr>
          <p:cNvPr id="27" name="TextBox 26"/>
          <p:cNvSpPr txBox="1"/>
          <p:nvPr/>
        </p:nvSpPr>
        <p:spPr>
          <a:xfrm>
            <a:off x="1847088" y="4155948"/>
            <a:ext cx="786384" cy="243840"/>
          </a:xfrm>
          <a:prstGeom prst="rect">
            <a:avLst/>
          </a:prstGeom>
          <a:noFill/>
        </p:spPr>
        <p:txBody>
          <a:bodyPr wrap="none" lIns="0" rIns="0" tIns="0" bIns="0">
            <a:spAutoFit/>
          </a:bodyPr>
          <a:lstStyle/>
          <a:p>
            <a:pPr>
              <a:lnSpc>
                <a:spcPts val="1920"/>
              </a:lnSpc>
              <a:spcBef>
                <a:spcPts val="0"/>
              </a:spcBef>
              <a:spcAft>
                <a:spcPts val="0"/>
              </a:spcAft>
              <a:defRPr sz="1500" b="0">
                <a:solidFill>
                  <a:srgbClr val="152B3A"/>
                </a:solidFill>
                <a:latin typeface="Be Vietnam Pro"/>
              </a:defRPr>
            </a:pPr>
            <a:r>
              <a:t>9</a:t>
            </a:r>
          </a:p>
        </p:txBody>
      </p:sp>
      <p:sp>
        <p:nvSpPr>
          <p:cNvPr id="28" name="TextBox 27"/>
          <p:cNvSpPr txBox="1"/>
          <p:nvPr/>
        </p:nvSpPr>
        <p:spPr>
          <a:xfrm>
            <a:off x="2852928" y="4155948"/>
            <a:ext cx="5678424" cy="243840"/>
          </a:xfrm>
          <a:prstGeom prst="rect">
            <a:avLst/>
          </a:prstGeom>
          <a:noFill/>
        </p:spPr>
        <p:txBody>
          <a:bodyPr wrap="none" lIns="0" rIns="0" tIns="0" bIns="0">
            <a:spAutoFit/>
          </a:bodyPr>
          <a:lstStyle/>
          <a:p>
            <a:pPr>
              <a:lnSpc>
                <a:spcPts val="1920"/>
              </a:lnSpc>
              <a:spcBef>
                <a:spcPts val="0"/>
              </a:spcBef>
              <a:spcAft>
                <a:spcPts val="0"/>
              </a:spcAft>
              <a:defRPr sz="1500" b="0">
                <a:solidFill>
                  <a:srgbClr val="152B3A"/>
                </a:solidFill>
                <a:latin typeface="Be Vietnam Pro"/>
              </a:defRPr>
            </a:pPr>
            <a:r>
              <a:t>Filmmaker equivalent class</a:t>
            </a:r>
          </a:p>
        </p:txBody>
      </p:sp>
      <p:sp>
        <p:nvSpPr>
          <p:cNvPr id="29" name="Rectangle 28"/>
          <p:cNvSpPr/>
          <p:nvPr/>
        </p:nvSpPr>
        <p:spPr>
          <a:xfrm>
            <a:off x="731520" y="4459223"/>
            <a:ext cx="7909560" cy="36271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841248" y="4518660"/>
            <a:ext cx="786384" cy="243840"/>
          </a:xfrm>
          <a:prstGeom prst="rect">
            <a:avLst/>
          </a:prstGeom>
          <a:noFill/>
        </p:spPr>
        <p:txBody>
          <a:bodyPr wrap="none" lIns="0" rIns="0" tIns="0" bIns="0">
            <a:spAutoFit/>
          </a:bodyPr>
          <a:lstStyle/>
          <a:p>
            <a:pPr>
              <a:lnSpc>
                <a:spcPts val="1920"/>
              </a:lnSpc>
              <a:spcBef>
                <a:spcPts val="0"/>
              </a:spcBef>
              <a:spcAft>
                <a:spcPts val="0"/>
              </a:spcAft>
              <a:defRPr sz="1500" b="0">
                <a:solidFill>
                  <a:srgbClr val="152B3A"/>
                </a:solidFill>
                <a:latin typeface="Be Vietnam Pro"/>
              </a:defRPr>
            </a:pPr>
            <a:r>
              <a:t>P07</a:t>
            </a:r>
          </a:p>
        </p:txBody>
      </p:sp>
      <p:sp>
        <p:nvSpPr>
          <p:cNvPr id="31" name="TextBox 30"/>
          <p:cNvSpPr txBox="1"/>
          <p:nvPr/>
        </p:nvSpPr>
        <p:spPr>
          <a:xfrm>
            <a:off x="1847088" y="4518660"/>
            <a:ext cx="786384" cy="243840"/>
          </a:xfrm>
          <a:prstGeom prst="rect">
            <a:avLst/>
          </a:prstGeom>
          <a:noFill/>
        </p:spPr>
        <p:txBody>
          <a:bodyPr wrap="none" lIns="0" rIns="0" tIns="0" bIns="0">
            <a:spAutoFit/>
          </a:bodyPr>
          <a:lstStyle/>
          <a:p>
            <a:pPr>
              <a:lnSpc>
                <a:spcPts val="1920"/>
              </a:lnSpc>
              <a:spcBef>
                <a:spcPts val="0"/>
              </a:spcBef>
              <a:spcAft>
                <a:spcPts val="0"/>
              </a:spcAft>
              <a:defRPr sz="1500" b="0">
                <a:solidFill>
                  <a:srgbClr val="152B3A"/>
                </a:solidFill>
                <a:latin typeface="Be Vietnam Pro"/>
              </a:defRPr>
            </a:pPr>
            <a:r>
              <a:t>10</a:t>
            </a:r>
          </a:p>
        </p:txBody>
      </p:sp>
      <p:sp>
        <p:nvSpPr>
          <p:cNvPr id="32" name="TextBox 31"/>
          <p:cNvSpPr txBox="1"/>
          <p:nvPr/>
        </p:nvSpPr>
        <p:spPr>
          <a:xfrm>
            <a:off x="2852928" y="4518660"/>
            <a:ext cx="5678424" cy="243840"/>
          </a:xfrm>
          <a:prstGeom prst="rect">
            <a:avLst/>
          </a:prstGeom>
          <a:noFill/>
        </p:spPr>
        <p:txBody>
          <a:bodyPr wrap="none" lIns="0" rIns="0" tIns="0" bIns="0">
            <a:spAutoFit/>
          </a:bodyPr>
          <a:lstStyle/>
          <a:p>
            <a:pPr>
              <a:lnSpc>
                <a:spcPts val="1920"/>
              </a:lnSpc>
              <a:spcBef>
                <a:spcPts val="0"/>
              </a:spcBef>
              <a:spcAft>
                <a:spcPts val="0"/>
              </a:spcAft>
              <a:defRPr sz="1500" b="0">
                <a:solidFill>
                  <a:srgbClr val="152B3A"/>
                </a:solidFill>
                <a:latin typeface="Be Vietnam Pro"/>
              </a:defRPr>
            </a:pPr>
            <a:r>
              <a:t>Three-credit cardinality</a:t>
            </a:r>
          </a:p>
        </p:txBody>
      </p:sp>
      <p:sp>
        <p:nvSpPr>
          <p:cNvPr id="33" name="Rounded Rectangle 32"/>
          <p:cNvSpPr/>
          <p:nvPr/>
        </p:nvSpPr>
        <p:spPr>
          <a:xfrm>
            <a:off x="8915400" y="2679192"/>
            <a:ext cx="4965192" cy="448056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8915400" y="2679192"/>
            <a:ext cx="41148" cy="4480560"/>
          </a:xfrm>
          <a:prstGeom prst="rect">
            <a:avLst/>
          </a:prstGeom>
          <a:solidFill>
            <a:srgbClr val="007F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9125712" y="2825496"/>
            <a:ext cx="4544568" cy="352552"/>
          </a:xfrm>
          <a:prstGeom prst="rect">
            <a:avLst/>
          </a:prstGeom>
          <a:noFill/>
        </p:spPr>
        <p:txBody>
          <a:bodyPr wrap="none" lIns="0" rIns="0" tIns="0" bIns="0">
            <a:spAutoFit/>
          </a:bodyPr>
          <a:lstStyle/>
          <a:p>
            <a:pPr>
              <a:lnSpc>
                <a:spcPts val="2560"/>
              </a:lnSpc>
              <a:spcBef>
                <a:spcPts val="0"/>
              </a:spcBef>
              <a:spcAft>
                <a:spcPts val="0"/>
              </a:spcAft>
              <a:defRPr sz="2000" b="1">
                <a:solidFill>
                  <a:srgbClr val="007F82"/>
                </a:solidFill>
                <a:latin typeface="Be Vietnam Pro"/>
              </a:defRPr>
            </a:pPr>
            <a:r>
              <a:t>Before submission</a:t>
            </a:r>
          </a:p>
        </p:txBody>
      </p:sp>
      <p:sp>
        <p:nvSpPr>
          <p:cNvPr id="36" name="TextBox 35"/>
          <p:cNvSpPr txBox="1"/>
          <p:nvPr/>
        </p:nvSpPr>
        <p:spPr>
          <a:xfrm>
            <a:off x="9125712" y="3269488"/>
            <a:ext cx="4544568" cy="3807968"/>
          </a:xfrm>
          <a:prstGeom prst="rect">
            <a:avLst/>
          </a:prstGeom>
          <a:noFill/>
        </p:spPr>
        <p:txBody>
          <a:bodyPr wrap="none" lIns="0" rIns="0" tIns="0" bIns="0">
            <a:spAutoFit/>
          </a:bodyPr>
          <a:lstStyle/>
          <a:p>
            <a:pPr>
              <a:lnSpc>
                <a:spcPts val="2304"/>
              </a:lnSpc>
              <a:spcBef>
                <a:spcPts val="0"/>
              </a:spcBef>
              <a:spcAft>
                <a:spcPts val="0"/>
              </a:spcAft>
              <a:defRPr sz="1800" b="0">
                <a:solidFill>
                  <a:srgbClr val="506776"/>
                </a:solidFill>
                <a:latin typeface="Be Vietnam Pro"/>
              </a:defRPr>
            </a:pPr>
            <a:r>
              <a:t>1. Verify ontology version 3.0.0.</a:t>
            </a:r>
          </a:p>
          <a:p>
            <a:pPr>
              <a:lnSpc>
                <a:spcPts val="2304"/>
              </a:lnSpc>
              <a:spcBef>
                <a:spcPts val="0"/>
              </a:spcBef>
              <a:spcAft>
                <a:spcPts val="0"/>
              </a:spcAft>
              <a:defRPr sz="1800" b="0">
                <a:solidFill>
                  <a:srgbClr val="506776"/>
                </a:solidFill>
                <a:latin typeface="Be Vietnam Pro"/>
              </a:defRPr>
            </a:pPr>
          </a:p>
          <a:p>
            <a:pPr>
              <a:lnSpc>
                <a:spcPts val="2304"/>
              </a:lnSpc>
              <a:spcBef>
                <a:spcPts val="0"/>
              </a:spcBef>
              <a:spcAft>
                <a:spcPts val="0"/>
              </a:spcAft>
              <a:defRPr sz="1800" b="0">
                <a:solidFill>
                  <a:srgbClr val="506776"/>
                </a:solidFill>
                <a:latin typeface="Be Vietnam Pro"/>
              </a:defRPr>
            </a:pPr>
            <a:r>
              <a:t>2. Insert the requested genuine</a:t>
            </a:r>
          </a:p>
          <a:p>
            <a:pPr>
              <a:lnSpc>
                <a:spcPts val="2304"/>
              </a:lnSpc>
              <a:spcBef>
                <a:spcPts val="0"/>
              </a:spcBef>
              <a:spcAft>
                <a:spcPts val="0"/>
              </a:spcAft>
              <a:defRPr sz="1800" b="0">
                <a:solidFill>
                  <a:srgbClr val="506776"/>
                </a:solidFill>
                <a:latin typeface="Be Vietnam Pro"/>
              </a:defRPr>
            </a:pPr>
            <a:r>
              <a:t>screenshots.</a:t>
            </a:r>
          </a:p>
          <a:p>
            <a:pPr>
              <a:lnSpc>
                <a:spcPts val="2304"/>
              </a:lnSpc>
              <a:spcBef>
                <a:spcPts val="0"/>
              </a:spcBef>
              <a:spcAft>
                <a:spcPts val="0"/>
              </a:spcAft>
              <a:defRPr sz="1800" b="0">
                <a:solidFill>
                  <a:srgbClr val="506776"/>
                </a:solidFill>
                <a:latin typeface="Be Vietnam Pro"/>
              </a:defRPr>
            </a:pPr>
          </a:p>
          <a:p>
            <a:pPr>
              <a:lnSpc>
                <a:spcPts val="2304"/>
              </a:lnSpc>
              <a:spcBef>
                <a:spcPts val="0"/>
              </a:spcBef>
              <a:spcAft>
                <a:spcPts val="0"/>
              </a:spcAft>
              <a:defRPr sz="1800" b="0">
                <a:solidFill>
                  <a:srgbClr val="506776"/>
                </a:solidFill>
                <a:latin typeface="Be Vietnam Pro"/>
              </a:defRPr>
            </a:pPr>
            <a:r>
              <a:t>3. Save them in evidence/protege/ for</a:t>
            </a:r>
          </a:p>
          <a:p>
            <a:pPr>
              <a:lnSpc>
                <a:spcPts val="2304"/>
              </a:lnSpc>
              <a:spcBef>
                <a:spcPts val="0"/>
              </a:spcBef>
              <a:spcAft>
                <a:spcPts val="0"/>
              </a:spcAft>
              <a:defRPr sz="1800" b="0">
                <a:solidFill>
                  <a:srgbClr val="506776"/>
                </a:solidFill>
                <a:latin typeface="Be Vietnam Pro"/>
              </a:defRPr>
            </a:pPr>
            <a:r>
              <a:t>automatic replacement.</a:t>
            </a:r>
          </a:p>
          <a:p>
            <a:pPr>
              <a:lnSpc>
                <a:spcPts val="2304"/>
              </a:lnSpc>
              <a:spcBef>
                <a:spcPts val="0"/>
              </a:spcBef>
              <a:spcAft>
                <a:spcPts val="0"/>
              </a:spcAft>
              <a:defRPr sz="1800" b="0">
                <a:solidFill>
                  <a:srgbClr val="506776"/>
                </a:solidFill>
                <a:latin typeface="Be Vietnam Pro"/>
              </a:defRPr>
            </a:pPr>
          </a:p>
          <a:p>
            <a:pPr>
              <a:lnSpc>
                <a:spcPts val="2304"/>
              </a:lnSpc>
              <a:spcBef>
                <a:spcPts val="0"/>
              </a:spcBef>
              <a:spcAft>
                <a:spcPts val="0"/>
              </a:spcAft>
              <a:defRPr sz="1800" b="0">
                <a:solidFill>
                  <a:srgbClr val="506776"/>
                </a:solidFill>
                <a:latin typeface="Be Vietnam Pro"/>
              </a:defRPr>
            </a:pPr>
            <a:r>
              <a:t>4. Rehearse the script and demonstrate</a:t>
            </a:r>
          </a:p>
          <a:p>
            <a:pPr>
              <a:lnSpc>
                <a:spcPts val="2304"/>
              </a:lnSpc>
              <a:spcBef>
                <a:spcPts val="0"/>
              </a:spcBef>
              <a:spcAft>
                <a:spcPts val="0"/>
              </a:spcAft>
              <a:defRPr sz="1800" b="0">
                <a:solidFill>
                  <a:srgbClr val="506776"/>
                </a:solidFill>
                <a:latin typeface="Be Vietnam Pro"/>
              </a:defRPr>
            </a:pPr>
            <a:r>
              <a:t>the current query modes.</a:t>
            </a:r>
          </a:p>
        </p:txBody>
      </p:sp>
      <p:sp>
        <p:nvSpPr>
          <p:cNvPr id="37" name="TextBox 36"/>
          <p:cNvSpPr txBox="1"/>
          <p:nvPr/>
        </p:nvSpPr>
        <p:spPr>
          <a:xfrm>
            <a:off x="777240" y="7242048"/>
            <a:ext cx="13075920" cy="411480"/>
          </a:xfrm>
          <a:prstGeom prst="rect">
            <a:avLst/>
          </a:prstGeom>
          <a:noFill/>
        </p:spPr>
        <p:txBody>
          <a:bodyPr wrap="none" lIns="0" rIns="0" tIns="0" bIns="0">
            <a:spAutoFit/>
          </a:bodyPr>
          <a:lstStyle/>
          <a:p>
            <a:pPr>
              <a:lnSpc>
                <a:spcPts val="1664"/>
              </a:lnSpc>
              <a:spcBef>
                <a:spcPts val="0"/>
              </a:spcBef>
              <a:spcAft>
                <a:spcPts val="0"/>
              </a:spcAft>
              <a:defRPr sz="1300" b="0">
                <a:solidFill>
                  <a:srgbClr val="506776"/>
                </a:solidFill>
                <a:latin typeface="Be Vietnam Pro"/>
              </a:defRPr>
            </a:pPr>
            <a:r>
              <a:t>Use the canonical OWL for Protégé evidence; source facts and inferred knowledge have separate scopes.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